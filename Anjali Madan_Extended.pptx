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svg" ContentType="image/svg+xml"/>
  <Override PartName="/ppt/media/image11.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71" r:id="rId31"/>
    <p:sldId id="270" r:id="rId30"/>
    <p:sldId id="269" r:id="rId29"/>
    <p:sldId id="273" r:id="rId33"/>
    <p:sldId id="265" r:id="rId15"/>
    <p:sldId id="266" r:id="rId16"/>
    <p:sldId id="272" r:id="rId32"/>
    <p:sldId id="267" r:id="rId17"/>
    <p:sldId id="268" r:id="rId18"/>
  </p:sldIdLst>
  <p:sldSz cx="18288000" cy="10287000"/>
  <p:notesSz cx="6858000" cy="9144000"/>
  <p:embeddedFontLst>
    <p:embeddedFont>
      <p:font typeface="Telegraf Bold" charset="1" panose="00000800000000000000"/>
      <p:regular r:id="rId19"/>
    </p:embeddedFont>
    <p:embeddedFont>
      <p:font typeface="Open Sans" charset="1" panose="00000000000000000000"/>
      <p:regular r:id="rId20"/>
    </p:embeddedFont>
    <p:embeddedFont>
      <p:font typeface="Telegraf" charset="1" panose="00000500000000000000"/>
      <p:regular r:id="rId21"/>
    </p:embeddedFont>
    <p:embeddedFont>
      <p:font typeface="Open Sauce Bold" charset="1" panose="00000800000000000000"/>
      <p:regular r:id="rId22"/>
    </p:embeddedFont>
    <p:embeddedFont>
      <p:font typeface="League Spartan" charset="1" panose="00000800000000000000"/>
      <p:regular r:id="rId23"/>
    </p:embeddedFont>
    <p:embeddedFont>
      <p:font typeface="Open Sauce" charset="1" panose="00000500000000000000"/>
      <p:regular r:id="rId24"/>
    </p:embeddedFont>
    <p:embeddedFont>
      <p:font typeface="Montserrat" charset="1" panose="00000500000000000000"/>
      <p:regular r:id="rId25"/>
    </p:embeddedFont>
    <p:embeddedFont>
      <p:font typeface="Open Sans Bold" charset="1" panose="00000000000000000000"/>
      <p:regular r:id="rId26"/>
    </p:embeddedFont>
    <p:embeddedFont>
      <p:font typeface="Futura Bold" charset="1" panose="020B0702020204020203"/>
      <p:regular r:id="rId27"/>
    </p:embeddedFont>
    <p:embeddedFont>
      <p:font typeface="TT Hoves Bold" charset="1" panose="020000030200000600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font" Target="fonts/font28.fntdata"/><Relationship Id="rId29" Type="http://schemas.openxmlformats.org/officeDocument/2006/relationships/slide" Target="slides/slide12.xml"/><Relationship Id="rId30" Type="http://schemas.openxmlformats.org/officeDocument/2006/relationships/slide" Target="slides/slide11.xml"/><Relationship Id="rId31" Type="http://schemas.openxmlformats.org/officeDocument/2006/relationships/slide" Target="slides/slide10.xml"/><Relationship Id="rId32" Type="http://schemas.openxmlformats.org/officeDocument/2006/relationships/slide" Target="slides/slide16.xml"/><Relationship Id="rId33"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000000"/>
                </a:solidFill>
                <a:latin typeface="Open Sans Bold"/>
              </a:rPr>
              <a:t>Story quality (mean Likert, 1–5)</a:t>
            </a:r>
          </a:p>
        </c:rich>
      </c:tx>
      <c:layout/>
      <c:overlay val="0"/>
    </c:title>
    <c:autoTitleDeleted val="0"/>
    <c:plotArea>
      <c:barChart>
        <c:barDir val="col"/>
        <c:grouping val="clustered"/>
        <c:ser>
          <c:idx val="0"/>
          <c:order val="0"/>
          <c:tx>
            <c:strRef>
              <c:f>Sheet1!$B$1</c:f>
              <c:strCache>
                <c:ptCount val="1"/>
                <c:pt idx="0">
                  <c:v>Mean Likert score</c:v>
                </c:pt>
              </c:strCache>
            </c:strRef>
          </c:tx>
          <c:spPr>
            <a:solidFill>
              <a:srgbClr val="7D4C84"/>
            </a:solidFill>
          </c:spPr>
          <c:dPt>
            <c:idx val="0"/>
            <c:spPr>
              <a:solidFill>
                <a:srgbClr val="7D4C84"/>
              </a:solidFill>
            </c:spPr>
          </c:dPt>
          <c:dPt>
            <c:idx val="1"/>
            <c:spPr>
              <a:solidFill>
                <a:srgbClr val="8E699B"/>
              </a:solidFill>
            </c:spPr>
          </c:dPt>
          <c:dPt>
            <c:idx val="2"/>
            <c:spPr>
              <a:solidFill>
                <a:srgbClr val="9F8AB0"/>
              </a:solidFill>
            </c:spPr>
          </c:dPt>
          <c:dPt>
            <c:idx val="3"/>
            <c:spPr>
              <a:solidFill>
                <a:srgbClr val="627BA7"/>
              </a:solidFill>
            </c:spPr>
          </c:dPt>
          <c:cat>
            <c:strRef>
              <c:f>Sheet1!$A$2:$A$5</c:f>
              <c:strCache>
                <c:ptCount val="4"/>
                <c:pt idx="0">
                  <c:v>Coherence</c:v>
                </c:pt>
                <c:pt idx="1">
                  <c:v>Creativity</c:v>
                </c:pt>
                <c:pt idx="2">
                  <c:v>Engagement</c:v>
                </c:pt>
                <c:pt idx="3">
                  <c:v>Consistency</c:v>
                </c:pt>
              </c:strCache>
            </c:strRef>
          </c:cat>
          <c:val>
            <c:numRef>
              <c:f>Sheet1!$B$2:$B$5</c:f>
              <c:numCache>
                <c:formatCode>General</c:formatCode>
                <c:ptCount val="4"/>
                <c:pt idx="0">
                  <c:v>4.05</c:v>
                </c:pt>
                <c:pt idx="1">
                  <c:v>4.12</c:v>
                </c:pt>
                <c:pt idx="2">
                  <c:v>4.35</c:v>
                </c:pt>
                <c:pt idx="3">
                  <c:v>3.75</c:v>
                </c:pt>
              </c:numCache>
            </c:numRef>
          </c:val>
        </c:ser>
        <c:dLbls>
          <c:numFmt formatCode="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5.0"/>
          <c:min val="0.0"/>
        </c:scaling>
        <c:delete val="0"/>
        <c:axPos val="l"/>
        <c:majorGridlines>
          <c:spPr>
            <a:ln>
              <a:solidFill>
                <a:srgbClr val="E3DDE6"/>
              </a:solidFill>
            </a:ln>
          </c:spPr>
        </c:majorGridlines>
        <c:majorTickMark val="out"/>
        <c:minorTickMark val="none"/>
        <c:tickLblPos val="nextTo"/>
        <c:spPr>
          <a:ln>
            <a:noFill/>
          </a:ln>
        </c:spPr>
        <c:txPr>
          <a:bodyPr/>
          <a:lstStyle/>
          <a:p>
            <a:pPr>
              <a:defRPr sz="1100"/>
            </a:pPr>
          </a:p>
        </c:txPr>
        <c:crossAx val="-2068027336"/>
        <c:crosses val="autoZero"/>
        <c:majorUnit val="1.0"/>
      </c:valAx>
    </c:plotArea>
    <c:dispBlanksAs val="gap"/>
  </c:chart>
  <c:txPr>
    <a:bodyPr/>
    <a:lstStyle/>
    <a:p>
      <a:pPr>
        <a:defRPr sz="1200">
          <a:solidFill>
            <a:srgbClr val="545454"/>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000000"/>
                </a:solidFill>
                <a:latin typeface="Open Sans Bold"/>
              </a:rPr>
              <a:t>Latency by LLM provider (seconds)</a:t>
            </a:r>
          </a:p>
        </c:rich>
      </c:tx>
      <c:layout/>
      <c:overlay val="0"/>
    </c:title>
    <c:autoTitleDeleted val="0"/>
    <c:plotArea>
      <c:barChart>
        <c:barDir val="col"/>
        <c:grouping val="clustered"/>
        <c:ser>
          <c:idx val="0"/>
          <c:order val="0"/>
          <c:tx>
            <c:strRef>
              <c:f>Sheet1!$B$1</c:f>
              <c:strCache>
                <c:ptCount val="1"/>
                <c:pt idx="0">
                  <c:v>First segment</c:v>
                </c:pt>
              </c:strCache>
            </c:strRef>
          </c:tx>
          <c:spPr>
            <a:solidFill>
              <a:srgbClr val="7D4C84"/>
            </a:solidFill>
          </c:spPr>
          <c:cat>
            <c:strRef>
              <c:f>Sheet1!$A$2:$A$6</c:f>
              <c:strCache>
                <c:ptCount val="5"/>
                <c:pt idx="0">
                  <c:v>Ollama</c:v>
                </c:pt>
                <c:pt idx="1">
                  <c:v>Groq 8B</c:v>
                </c:pt>
                <c:pt idx="2">
                  <c:v>Groq 70B</c:v>
                </c:pt>
                <c:pt idx="3">
                  <c:v>HF Mistral</c:v>
                </c:pt>
                <c:pt idx="4">
                  <c:v>OpenAI 3.5</c:v>
                </c:pt>
              </c:strCache>
            </c:strRef>
          </c:cat>
          <c:val>
            <c:numRef>
              <c:f>Sheet1!$B$2:$B$6</c:f>
              <c:numCache>
                <c:formatCode>General</c:formatCode>
                <c:ptCount val="5"/>
                <c:pt idx="0">
                  <c:v>12.4</c:v>
                </c:pt>
                <c:pt idx="1">
                  <c:v>1.8</c:v>
                </c:pt>
                <c:pt idx="2">
                  <c:v>3.2</c:v>
                </c:pt>
                <c:pt idx="3">
                  <c:v>8.5</c:v>
                </c:pt>
                <c:pt idx="4">
                  <c:v>2.6</c:v>
                </c:pt>
              </c:numCache>
            </c:numRef>
          </c:val>
        </c:ser>
        <c:ser>
          <c:idx val="1"/>
          <c:order val="1"/>
          <c:tx>
            <c:strRef>
              <c:f>Sheet1!$C$1</c:f>
              <c:strCache>
                <c:ptCount val="1"/>
                <c:pt idx="0">
                  <c:v>Continuation</c:v>
                </c:pt>
              </c:strCache>
            </c:strRef>
          </c:tx>
          <c:spPr>
            <a:solidFill>
              <a:srgbClr val="627BA7"/>
            </a:solidFill>
          </c:spPr>
          <c:cat>
            <c:strRef>
              <c:f>Sheet1!$A$2:$A$6</c:f>
              <c:strCache>
                <c:ptCount val="5"/>
                <c:pt idx="0">
                  <c:v>Ollama</c:v>
                </c:pt>
                <c:pt idx="1">
                  <c:v>Groq 8B</c:v>
                </c:pt>
                <c:pt idx="2">
                  <c:v>Groq 70B</c:v>
                </c:pt>
                <c:pt idx="3">
                  <c:v>HF Mistral</c:v>
                </c:pt>
                <c:pt idx="4">
                  <c:v>OpenAI 3.5</c:v>
                </c:pt>
              </c:strCache>
            </c:strRef>
          </c:cat>
          <c:val>
            <c:numRef>
              <c:f>Sheet1!$C$2:$C$6</c:f>
              <c:numCache>
                <c:formatCode>General</c:formatCode>
                <c:ptCount val="5"/>
                <c:pt idx="0">
                  <c:v>8.1</c:v>
                </c:pt>
                <c:pt idx="1">
                  <c:v>1.2</c:v>
                </c:pt>
                <c:pt idx="2">
                  <c:v>2.1</c:v>
                </c:pt>
                <c:pt idx="3">
                  <c:v>6.3</c:v>
                </c:pt>
                <c:pt idx="4">
                  <c:v>1.9</c:v>
                </c:pt>
              </c:numCache>
            </c:numRef>
          </c:val>
        </c:ser>
        <c:dLbls>
          <c:numFmt formatCode="0.0#" sourceLinked="0"/>
          <c:txPr>
            <a:bodyPr/>
            <a:lstStyle/>
            <a:p>
              <a:pPr>
                <a:defRPr sz="1200">
                  <a:solidFill>
                    <a:srgbClr val="00000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14.0"/>
          <c:min val="0.0"/>
        </c:scaling>
        <c:delete val="0"/>
        <c:axPos val="l"/>
        <c:majorGridlines>
          <c:spPr>
            <a:ln>
              <a:solidFill>
                <a:srgbClr val="E3DDE6"/>
              </a:solidFill>
            </a:ln>
          </c:spPr>
        </c:majorGridlines>
        <c:majorTickMark val="out"/>
        <c:minorTickMark val="none"/>
        <c:tickLblPos val="nextTo"/>
        <c:spPr>
          <a:ln>
            <a:noFill/>
          </a:ln>
        </c:spPr>
        <c:txPr>
          <a:bodyPr/>
          <a:lstStyle/>
          <a:p>
            <a:pPr>
              <a:defRPr sz="1100"/>
            </a:pPr>
          </a:p>
        </c:txPr>
        <c:crossAx val="-2068027336"/>
        <c:crosses val="autoZero"/>
        <c:majorUnit val="2.0"/>
      </c:valAx>
    </c:plotArea>
    <c:legend>
      <c:legendPos val="t"/>
      <c:overlay val="0"/>
      <c:txPr>
        <a:bodyPr/>
        <a:lstStyle/>
        <a:p>
          <a:pPr>
            <a:defRPr sz="1200"/>
          </a:pPr>
        </a:p>
      </c:txPr>
    </c:legend>
    <c:dispBlanksAs val="gap"/>
  </c:chart>
  <c:txPr>
    <a:bodyPr/>
    <a:lstStyle/>
    <a:p>
      <a:pPr>
        <a:defRPr sz="1200">
          <a:solidFill>
            <a:srgbClr val="545454"/>
          </a:solidFill>
          <a:latin typeface="Open San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svg"/><Relationship Id="rId10" Type="http://schemas.openxmlformats.org/officeDocument/2006/relationships/image" Target="../media/image11.sv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15.png"/><Relationship Id="rId15" Type="http://schemas.openxmlformats.org/officeDocument/2006/relationships/image" Target="../media/image16.svg"/><Relationship Id="rId16" Type="http://schemas.openxmlformats.org/officeDocument/2006/relationships/image" Target="../media/image17.png"/><Relationship Id="rId17" Type="http://schemas.openxmlformats.org/officeDocument/2006/relationships/image" Target="../media/image18.svg"/><Relationship Id="rId18" Type="http://schemas.openxmlformats.org/officeDocument/2006/relationships/image" Target="../media/image19.png"/><Relationship Id="rId19" Type="http://schemas.openxmlformats.org/officeDocument/2006/relationships/image" Target="../media/image20.svg"/><Relationship Id="rId20" Type="http://schemas.openxmlformats.org/officeDocument/2006/relationships/image" Target="../media/image21.png"/><Relationship Id="rId21" Type="http://schemas.openxmlformats.org/officeDocument/2006/relationships/image" Target="../media/image22.svg"/><Relationship Id="rId22" Type="http://schemas.openxmlformats.org/officeDocument/2006/relationships/image" Target="../media/image23.png"/><Relationship Id="rId23" Type="http://schemas.openxmlformats.org/officeDocument/2006/relationships/image" Target="../media/image24.svg"/><Relationship Id="rId24" Type="http://schemas.openxmlformats.org/officeDocument/2006/relationships/image" Target="../media/image25.png"/><Relationship Id="rId25" Type="http://schemas.openxmlformats.org/officeDocument/2006/relationships/image" Target="../media/image26.svg"/><Relationship Id="rId26" Type="http://schemas.openxmlformats.org/officeDocument/2006/relationships/image" Target="../media/image27.png"/><Relationship Id="rId27" Type="http://schemas.openxmlformats.org/officeDocument/2006/relationships/image" Target="../media/image2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eg"/><Relationship Id="rId3" Type="http://schemas.openxmlformats.org/officeDocument/2006/relationships/image" Target="../media/image30.png"/><Relationship Id="rId4" Type="http://schemas.openxmlformats.org/officeDocument/2006/relationships/image" Target="../media/image31.svg"/><Relationship Id="rId5" Type="http://schemas.openxmlformats.org/officeDocument/2006/relationships/image" Target="../media/image32.png"/><Relationship Id="rId6" Type="http://schemas.openxmlformats.org/officeDocument/2006/relationships/image" Target="../media/image33.svg"/><Relationship Id="rId7" Type="http://schemas.openxmlformats.org/officeDocument/2006/relationships/image" Target="../media/image2.png"/><Relationship Id="rId8"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2.png"/><Relationship Id="rId6"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34.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35.png"/><Relationship Id="rId10" Type="http://schemas.openxmlformats.org/officeDocument/2006/relationships/image" Target="../media/image36.svg"/><Relationship Id="rId11" Type="http://schemas.openxmlformats.org/officeDocument/2006/relationships/image" Target="../media/image37.png"/><Relationship Id="rId12" Type="http://schemas.openxmlformats.org/officeDocument/2006/relationships/image" Target="../media/image38.svg"/><Relationship Id="rId13" Type="http://schemas.openxmlformats.org/officeDocument/2006/relationships/image" Target="../media/image39.png"/><Relationship Id="rId14" Type="http://schemas.openxmlformats.org/officeDocument/2006/relationships/image" Target="../media/image40.svg"/><Relationship Id="rId15" Type="http://schemas.openxmlformats.org/officeDocument/2006/relationships/image" Target="../media/image6.png"/><Relationship Id="rId16" Type="http://schemas.openxmlformats.org/officeDocument/2006/relationships/image" Target="../media/image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eg"/><Relationship Id="rId3" Type="http://schemas.openxmlformats.org/officeDocument/2006/relationships/image" Target="../media/image30.png"/><Relationship Id="rId4" Type="http://schemas.openxmlformats.org/officeDocument/2006/relationships/image" Target="../media/image31.svg"/><Relationship Id="rId5" Type="http://schemas.openxmlformats.org/officeDocument/2006/relationships/image" Target="../media/image2.png"/><Relationship Id="rId6" Type="http://schemas.openxmlformats.org/officeDocument/2006/relationships/image" Target="../media/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9.png"/><Relationship Id="rId8" Type="http://schemas.openxmlformats.org/officeDocument/2006/relationships/image" Target="../media/image50.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image" Target="../media/image53.png"/><Relationship Id="rId12" Type="http://schemas.openxmlformats.org/officeDocument/2006/relationships/image" Target="../media/image54.svg"/><Relationship Id="rId13" Type="http://schemas.openxmlformats.org/officeDocument/2006/relationships/image" Target="../media/image55.png"/><Relationship Id="rId14" Type="http://schemas.openxmlformats.org/officeDocument/2006/relationships/image" Target="../media/image56.svg"/><Relationship Id="rId15" Type="http://schemas.openxmlformats.org/officeDocument/2006/relationships/image" Target="../media/image57.png"/><Relationship Id="rId16" Type="http://schemas.openxmlformats.org/officeDocument/2006/relationships/image" Target="../media/image58.svg"/><Relationship Id="rId17" Type="http://schemas.openxmlformats.org/officeDocument/2006/relationships/image" Target="../media/image6.png"/><Relationship Id="rId18"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 Id="rId17"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 Id="rId17" Type="http://schemas.openxmlformats.org/officeDocument/2006/relationships/image" Target="../media/image71.png"/><Relationship Id="rId18" Type="http://schemas.openxmlformats.org/officeDocument/2006/relationships/image" Target="../media/image72.png"/><Relationship Id="rId19" Type="http://schemas.openxmlformats.org/officeDocument/2006/relationships/image" Target="../media/image7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 Id="rId17" Type="http://schemas.openxmlformats.org/officeDocument/2006/relationships/chart" Target="../charts/chart1.xml"/><Relationship Id="rId18"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59.png"/><Relationship Id="rId4" Type="http://schemas.openxmlformats.org/officeDocument/2006/relationships/image" Target="../media/image60.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3.png"/><Relationship Id="rId8" Type="http://schemas.openxmlformats.org/officeDocument/2006/relationships/image" Target="../media/image64.svg"/><Relationship Id="rId9" Type="http://schemas.openxmlformats.org/officeDocument/2006/relationships/image" Target="../media/image65.png"/><Relationship Id="rId10" Type="http://schemas.openxmlformats.org/officeDocument/2006/relationships/image" Target="../media/image66.svg"/><Relationship Id="rId11" Type="http://schemas.openxmlformats.org/officeDocument/2006/relationships/image" Target="../media/image2.png"/><Relationship Id="rId12" Type="http://schemas.openxmlformats.org/officeDocument/2006/relationships/image" Target="../media/image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eg"/><Relationship Id="rId3" Type="http://schemas.openxmlformats.org/officeDocument/2006/relationships/image" Target="../media/image30.png"/><Relationship Id="rId4" Type="http://schemas.openxmlformats.org/officeDocument/2006/relationships/image" Target="../media/image31.svg"/><Relationship Id="rId5" Type="http://schemas.openxmlformats.org/officeDocument/2006/relationships/image" Target="../media/image2.png"/><Relationship Id="rId6" Type="http://schemas.openxmlformats.org/officeDocument/2006/relationships/image" Target="../media/image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 Id="rId15" Type="http://schemas.openxmlformats.org/officeDocument/2006/relationships/image" Target="../media/image6.png"/><Relationship Id="rId16" Type="http://schemas.openxmlformats.org/officeDocument/2006/relationships/image" Target="../media/image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291842"/>
            <a:ext cx="18288000" cy="2730287"/>
            <a:chOff x="0" y="0"/>
            <a:chExt cx="4816593" cy="719088"/>
          </a:xfrm>
        </p:grpSpPr>
        <p:sp>
          <p:nvSpPr>
            <p:cNvPr name="Freeform 4" id="4"/>
            <p:cNvSpPr/>
            <p:nvPr/>
          </p:nvSpPr>
          <p:spPr>
            <a:xfrm flipH="false" flipV="false" rot="0">
              <a:off x="0" y="0"/>
              <a:ext cx="4816592" cy="719088"/>
            </a:xfrm>
            <a:custGeom>
              <a:avLst/>
              <a:gdLst/>
              <a:ahLst/>
              <a:cxnLst/>
              <a:rect r="r" b="b" t="t" l="l"/>
              <a:pathLst>
                <a:path h="719088" w="4816592">
                  <a:moveTo>
                    <a:pt x="0" y="0"/>
                  </a:moveTo>
                  <a:lnTo>
                    <a:pt x="4816592" y="0"/>
                  </a:lnTo>
                  <a:lnTo>
                    <a:pt x="4816592" y="719088"/>
                  </a:lnTo>
                  <a:lnTo>
                    <a:pt x="0" y="719088"/>
                  </a:lnTo>
                  <a:close/>
                </a:path>
              </a:pathLst>
            </a:custGeom>
            <a:solidFill>
              <a:srgbClr val="7D4C84"/>
            </a:solidFill>
          </p:spPr>
        </p:sp>
        <p:sp>
          <p:nvSpPr>
            <p:cNvPr name="TextBox 5" id="5"/>
            <p:cNvSpPr txBox="true"/>
            <p:nvPr/>
          </p:nvSpPr>
          <p:spPr>
            <a:xfrm>
              <a:off x="0" y="-38100"/>
              <a:ext cx="4816593" cy="75718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true" rot="2846557">
            <a:off x="7799548" y="1043587"/>
            <a:ext cx="22501888" cy="7453751"/>
          </a:xfrm>
          <a:custGeom>
            <a:avLst/>
            <a:gdLst/>
            <a:ahLst/>
            <a:cxnLst/>
            <a:rect r="r" b="b" t="t" l="l"/>
            <a:pathLst>
              <a:path h="7453751" w="22501888">
                <a:moveTo>
                  <a:pt x="0" y="7453751"/>
                </a:moveTo>
                <a:lnTo>
                  <a:pt x="22501889" y="7453751"/>
                </a:lnTo>
                <a:lnTo>
                  <a:pt x="22501889" y="0"/>
                </a:lnTo>
                <a:lnTo>
                  <a:pt x="0" y="0"/>
                </a:lnTo>
                <a:lnTo>
                  <a:pt x="0" y="745375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0" y="6893932"/>
            <a:ext cx="18288000" cy="3393068"/>
            <a:chOff x="0" y="0"/>
            <a:chExt cx="4816593" cy="893648"/>
          </a:xfrm>
        </p:grpSpPr>
        <p:sp>
          <p:nvSpPr>
            <p:cNvPr name="Freeform 8" id="8"/>
            <p:cNvSpPr/>
            <p:nvPr/>
          </p:nvSpPr>
          <p:spPr>
            <a:xfrm flipH="false" flipV="false" rot="0">
              <a:off x="0" y="0"/>
              <a:ext cx="4816592" cy="893648"/>
            </a:xfrm>
            <a:custGeom>
              <a:avLst/>
              <a:gdLst/>
              <a:ahLst/>
              <a:cxnLst/>
              <a:rect r="r" b="b" t="t" l="l"/>
              <a:pathLst>
                <a:path h="893648" w="4816592">
                  <a:moveTo>
                    <a:pt x="0" y="0"/>
                  </a:moveTo>
                  <a:lnTo>
                    <a:pt x="4816592" y="0"/>
                  </a:lnTo>
                  <a:lnTo>
                    <a:pt x="4816592" y="893648"/>
                  </a:lnTo>
                  <a:lnTo>
                    <a:pt x="0" y="893648"/>
                  </a:lnTo>
                  <a:close/>
                </a:path>
              </a:pathLst>
            </a:custGeom>
            <a:solidFill>
              <a:srgbClr val="7D4C84"/>
            </a:solidFill>
          </p:spPr>
        </p:sp>
        <p:sp>
          <p:nvSpPr>
            <p:cNvPr name="TextBox 9" id="9"/>
            <p:cNvSpPr txBox="true"/>
            <p:nvPr/>
          </p:nvSpPr>
          <p:spPr>
            <a:xfrm>
              <a:off x="0" y="-38100"/>
              <a:ext cx="4816593" cy="931748"/>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3164270"/>
            <a:ext cx="14782172" cy="1670953"/>
          </a:xfrm>
          <a:prstGeom prst="rect">
            <a:avLst/>
          </a:prstGeom>
        </p:spPr>
        <p:txBody>
          <a:bodyPr anchor="t" rtlCol="false" tIns="0" lIns="0" bIns="0" rIns="0">
            <a:spAutoFit/>
          </a:bodyPr>
          <a:lstStyle/>
          <a:p>
            <a:pPr algn="l">
              <a:lnSpc>
                <a:spcPts val="6223"/>
              </a:lnSpc>
            </a:pPr>
            <a:r>
              <a:rPr lang="en-US" sz="5658" b="true">
                <a:solidFill>
                  <a:srgbClr val="121113"/>
                </a:solidFill>
                <a:latin typeface="Telegraf Bold"/>
                <a:ea typeface="Telegraf Bold"/>
                <a:cs typeface="Telegraf Bold"/>
                <a:sym typeface="Telegraf Bold"/>
              </a:rPr>
              <a:t>Question Answer Based Interactive Storytelling Using Generative AI</a:t>
            </a:r>
          </a:p>
        </p:txBody>
      </p:sp>
      <p:sp>
        <p:nvSpPr>
          <p:cNvPr name="TextBox 11" id="11"/>
          <p:cNvSpPr txBox="true"/>
          <p:nvPr/>
        </p:nvSpPr>
        <p:spPr>
          <a:xfrm rot="0">
            <a:off x="1028700" y="4816963"/>
            <a:ext cx="10811024" cy="481330"/>
          </a:xfrm>
          <a:prstGeom prst="rect">
            <a:avLst/>
          </a:prstGeom>
        </p:spPr>
        <p:txBody>
          <a:bodyPr anchor="t" rtlCol="false" tIns="0" lIns="0" bIns="0" rIns="0">
            <a:spAutoFit/>
          </a:bodyPr>
          <a:lstStyle/>
          <a:p>
            <a:pPr algn="l">
              <a:lnSpc>
                <a:spcPts val="3919"/>
              </a:lnSpc>
            </a:pPr>
            <a:r>
              <a:rPr lang="en-US" sz="2799">
                <a:solidFill>
                  <a:srgbClr val="303030"/>
                </a:solidFill>
                <a:latin typeface="Open Sans"/>
                <a:ea typeface="Open Sans"/>
                <a:cs typeface="Open Sans"/>
                <a:sym typeface="Open Sans"/>
              </a:rPr>
              <a:t>Generating meaningful narratives through structured Q&amp;A inputs</a:t>
            </a:r>
          </a:p>
        </p:txBody>
      </p:sp>
      <p:sp>
        <p:nvSpPr>
          <p:cNvPr name="TextBox 12" id="12"/>
          <p:cNvSpPr txBox="true"/>
          <p:nvPr/>
        </p:nvSpPr>
        <p:spPr>
          <a:xfrm rot="0">
            <a:off x="10909616" y="8802714"/>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Guided by: Dr.Vidyullata Devmane</a:t>
            </a:r>
          </a:p>
        </p:txBody>
      </p:sp>
      <p:sp>
        <p:nvSpPr>
          <p:cNvPr name="TextBox 13" id="13"/>
          <p:cNvSpPr txBox="true"/>
          <p:nvPr/>
        </p:nvSpPr>
        <p:spPr>
          <a:xfrm rot="0">
            <a:off x="10909616" y="7172761"/>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Number: 124MTCM1008</a:t>
            </a:r>
          </a:p>
        </p:txBody>
      </p:sp>
      <p:sp>
        <p:nvSpPr>
          <p:cNvPr name="TextBox 14" id="14"/>
          <p:cNvSpPr txBox="true"/>
          <p:nvPr/>
        </p:nvSpPr>
        <p:spPr>
          <a:xfrm rot="0">
            <a:off x="10897059" y="8005864"/>
            <a:ext cx="4344851"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Semister</a:t>
            </a:r>
            <a:r>
              <a:rPr lang="en-US" sz="2399">
                <a:solidFill>
                  <a:srgbClr val="FFFFFF"/>
                </a:solidFill>
                <a:latin typeface="Telegraf"/>
                <a:ea typeface="Telegraf"/>
                <a:cs typeface="Telegraf"/>
                <a:sym typeface="Telegraf"/>
              </a:rPr>
              <a:t> : III</a:t>
            </a:r>
          </a:p>
        </p:txBody>
      </p:sp>
      <p:grpSp>
        <p:nvGrpSpPr>
          <p:cNvPr name="Group 15" id="15"/>
          <p:cNvGrpSpPr/>
          <p:nvPr/>
        </p:nvGrpSpPr>
        <p:grpSpPr>
          <a:xfrm rot="0">
            <a:off x="1603024" y="8577830"/>
            <a:ext cx="4641477" cy="1015029"/>
            <a:chOff x="0" y="0"/>
            <a:chExt cx="1222447" cy="267333"/>
          </a:xfrm>
        </p:grpSpPr>
        <p:sp>
          <p:nvSpPr>
            <p:cNvPr name="Freeform 16" id="16"/>
            <p:cNvSpPr/>
            <p:nvPr/>
          </p:nvSpPr>
          <p:spPr>
            <a:xfrm flipH="false" flipV="false" rot="0">
              <a:off x="0" y="0"/>
              <a:ext cx="1222447" cy="267333"/>
            </a:xfrm>
            <a:custGeom>
              <a:avLst/>
              <a:gdLst/>
              <a:ahLst/>
              <a:cxnLst/>
              <a:rect r="r" b="b" t="t" l="l"/>
              <a:pathLst>
                <a:path h="267333" w="1222447">
                  <a:moveTo>
                    <a:pt x="133666" y="0"/>
                  </a:moveTo>
                  <a:lnTo>
                    <a:pt x="1088780" y="0"/>
                  </a:lnTo>
                  <a:cubicBezTo>
                    <a:pt x="1124231" y="0"/>
                    <a:pt x="1158229" y="14083"/>
                    <a:pt x="1183297" y="39150"/>
                  </a:cubicBezTo>
                  <a:cubicBezTo>
                    <a:pt x="1208364" y="64217"/>
                    <a:pt x="1222447" y="98216"/>
                    <a:pt x="1222447" y="133666"/>
                  </a:cubicBezTo>
                  <a:lnTo>
                    <a:pt x="1222447" y="133666"/>
                  </a:lnTo>
                  <a:cubicBezTo>
                    <a:pt x="1222447" y="169117"/>
                    <a:pt x="1208364" y="203115"/>
                    <a:pt x="1183297" y="228183"/>
                  </a:cubicBezTo>
                  <a:cubicBezTo>
                    <a:pt x="1158229" y="253250"/>
                    <a:pt x="1124231" y="267333"/>
                    <a:pt x="1088780" y="267333"/>
                  </a:cubicBezTo>
                  <a:lnTo>
                    <a:pt x="133666" y="267333"/>
                  </a:lnTo>
                  <a:cubicBezTo>
                    <a:pt x="98216" y="267333"/>
                    <a:pt x="64217" y="253250"/>
                    <a:pt x="39150" y="228183"/>
                  </a:cubicBezTo>
                  <a:cubicBezTo>
                    <a:pt x="14083" y="203115"/>
                    <a:pt x="0" y="169117"/>
                    <a:pt x="0" y="133666"/>
                  </a:cubicBezTo>
                  <a:lnTo>
                    <a:pt x="0" y="133666"/>
                  </a:lnTo>
                  <a:cubicBezTo>
                    <a:pt x="0" y="98216"/>
                    <a:pt x="14083" y="64217"/>
                    <a:pt x="39150" y="39150"/>
                  </a:cubicBezTo>
                  <a:cubicBezTo>
                    <a:pt x="64217" y="14083"/>
                    <a:pt x="98216" y="0"/>
                    <a:pt x="133666" y="0"/>
                  </a:cubicBezTo>
                  <a:close/>
                </a:path>
              </a:pathLst>
            </a:custGeom>
            <a:solidFill>
              <a:srgbClr val="F2F1FB"/>
            </a:solidFill>
            <a:ln w="19050" cap="rnd">
              <a:solidFill>
                <a:srgbClr val="EFEFEF"/>
              </a:solidFill>
              <a:prstDash val="solid"/>
              <a:round/>
            </a:ln>
          </p:spPr>
        </p:sp>
        <p:sp>
          <p:nvSpPr>
            <p:cNvPr name="TextBox 17" id="17"/>
            <p:cNvSpPr txBox="true"/>
            <p:nvPr/>
          </p:nvSpPr>
          <p:spPr>
            <a:xfrm>
              <a:off x="0" y="-66675"/>
              <a:ext cx="1222447" cy="334008"/>
            </a:xfrm>
            <a:prstGeom prst="rect">
              <a:avLst/>
            </a:prstGeom>
          </p:spPr>
          <p:txBody>
            <a:bodyPr anchor="ctr" rtlCol="false" tIns="50800" lIns="50800" bIns="50800" rIns="50800"/>
            <a:lstStyle/>
            <a:p>
              <a:pPr algn="ctr">
                <a:lnSpc>
                  <a:spcPts val="4059"/>
                </a:lnSpc>
              </a:pPr>
              <a:r>
                <a:rPr lang="en-US" b="true" sz="2899">
                  <a:solidFill>
                    <a:srgbClr val="464646"/>
                  </a:solidFill>
                  <a:latin typeface="Open Sauce Bold"/>
                  <a:ea typeface="Open Sauce Bold"/>
                  <a:cs typeface="Open Sauce Bold"/>
                  <a:sym typeface="Open Sauce Bold"/>
                </a:rPr>
                <a:t>Anjali Madan Jha</a:t>
              </a:r>
            </a:p>
          </p:txBody>
        </p:sp>
      </p:grpSp>
      <p:sp>
        <p:nvSpPr>
          <p:cNvPr name="AutoShape 18" id="18"/>
          <p:cNvSpPr/>
          <p:nvPr/>
        </p:nvSpPr>
        <p:spPr>
          <a:xfrm>
            <a:off x="10897059" y="9364840"/>
            <a:ext cx="6727117" cy="0"/>
          </a:xfrm>
          <a:prstGeom prst="line">
            <a:avLst/>
          </a:prstGeom>
          <a:ln cap="flat" w="19050">
            <a:solidFill>
              <a:srgbClr val="FFFFFF"/>
            </a:solidFill>
            <a:prstDash val="solid"/>
            <a:headEnd type="none" len="sm" w="sm"/>
            <a:tailEnd type="none" len="sm" w="sm"/>
          </a:ln>
        </p:spPr>
      </p:sp>
      <p:sp>
        <p:nvSpPr>
          <p:cNvPr name="AutoShape 19" id="19"/>
          <p:cNvSpPr/>
          <p:nvPr/>
        </p:nvSpPr>
        <p:spPr>
          <a:xfrm>
            <a:off x="10897059" y="7734887"/>
            <a:ext cx="6727117" cy="0"/>
          </a:xfrm>
          <a:prstGeom prst="line">
            <a:avLst/>
          </a:prstGeom>
          <a:ln cap="flat" w="19050">
            <a:solidFill>
              <a:srgbClr val="FFFFFF"/>
            </a:solidFill>
            <a:prstDash val="solid"/>
            <a:headEnd type="none" len="sm" w="sm"/>
            <a:tailEnd type="none" len="sm" w="sm"/>
          </a:ln>
        </p:spPr>
      </p:sp>
      <p:sp>
        <p:nvSpPr>
          <p:cNvPr name="AutoShape 20" id="20"/>
          <p:cNvSpPr/>
          <p:nvPr/>
        </p:nvSpPr>
        <p:spPr>
          <a:xfrm>
            <a:off x="10897059" y="8577830"/>
            <a:ext cx="6727117" cy="0"/>
          </a:xfrm>
          <a:prstGeom prst="line">
            <a:avLst/>
          </a:prstGeom>
          <a:ln cap="flat" w="19050">
            <a:solidFill>
              <a:srgbClr val="FFFFFF"/>
            </a:solidFill>
            <a:prstDash val="solid"/>
            <a:headEnd type="none" len="sm" w="sm"/>
            <a:tailEnd type="none" len="sm" w="sm"/>
          </a:ln>
        </p:spPr>
      </p:sp>
      <p:sp>
        <p:nvSpPr>
          <p:cNvPr name="Freeform 21" id="21"/>
          <p:cNvSpPr/>
          <p:nvPr/>
        </p:nvSpPr>
        <p:spPr>
          <a:xfrm flipH="false" flipV="false" rot="0">
            <a:off x="4158333" y="41609"/>
            <a:ext cx="10440475" cy="1312603"/>
          </a:xfrm>
          <a:custGeom>
            <a:avLst/>
            <a:gdLst/>
            <a:ahLst/>
            <a:cxnLst/>
            <a:rect r="r" b="b" t="t" l="l"/>
            <a:pathLst>
              <a:path h="1312603" w="10440475">
                <a:moveTo>
                  <a:pt x="0" y="0"/>
                </a:moveTo>
                <a:lnTo>
                  <a:pt x="10440475" y="0"/>
                </a:lnTo>
                <a:lnTo>
                  <a:pt x="10440475" y="1312603"/>
                </a:lnTo>
                <a:lnTo>
                  <a:pt x="0" y="1312603"/>
                </a:lnTo>
                <a:lnTo>
                  <a:pt x="0" y="0"/>
                </a:lnTo>
                <a:close/>
              </a:path>
            </a:pathLst>
          </a:custGeom>
          <a:blipFill>
            <a:blip r:embed="rId5"/>
            <a:stretch>
              <a:fillRect l="0" t="0" r="0" b="-347745"/>
            </a:stretch>
          </a:blipFill>
        </p:spPr>
      </p:sp>
      <p:sp>
        <p:nvSpPr>
          <p:cNvPr name="TextBox 22" id="22"/>
          <p:cNvSpPr txBox="true"/>
          <p:nvPr/>
        </p:nvSpPr>
        <p:spPr>
          <a:xfrm rot="0">
            <a:off x="5866163" y="1868562"/>
            <a:ext cx="6555673" cy="981384"/>
          </a:xfrm>
          <a:prstGeom prst="rect">
            <a:avLst/>
          </a:prstGeom>
        </p:spPr>
        <p:txBody>
          <a:bodyPr anchor="t" rtlCol="false" tIns="0" lIns="0" bIns="0" rIns="0">
            <a:spAutoFit/>
          </a:bodyPr>
          <a:lstStyle/>
          <a:p>
            <a:pPr algn="ctr">
              <a:lnSpc>
                <a:spcPts val="8122"/>
              </a:lnSpc>
            </a:pPr>
            <a:r>
              <a:rPr lang="en-US" b="true" sz="5801">
                <a:solidFill>
                  <a:srgbClr val="000000"/>
                </a:solidFill>
                <a:latin typeface="League Spartan"/>
                <a:ea typeface="League Spartan"/>
                <a:cs typeface="League Spartan"/>
                <a:sym typeface="League Spartan"/>
              </a:rPr>
              <a:t>DISSERTATION - 1</a:t>
            </a:r>
          </a:p>
        </p:txBody>
      </p:sp>
      <p:sp>
        <p:nvSpPr>
          <p:cNvPr name="TextBox 23" id="23"/>
          <p:cNvSpPr txBox="true"/>
          <p:nvPr/>
        </p:nvSpPr>
        <p:spPr>
          <a:xfrm rot="0">
            <a:off x="592403" y="7541318"/>
            <a:ext cx="6662720" cy="719815"/>
          </a:xfrm>
          <a:prstGeom prst="rect">
            <a:avLst/>
          </a:prstGeom>
        </p:spPr>
        <p:txBody>
          <a:bodyPr anchor="t" rtlCol="false" tIns="0" lIns="0" bIns="0" rIns="0">
            <a:spAutoFit/>
          </a:bodyPr>
          <a:lstStyle/>
          <a:p>
            <a:pPr algn="ctr">
              <a:lnSpc>
                <a:spcPts val="6029"/>
              </a:lnSpc>
            </a:pPr>
            <a:r>
              <a:rPr lang="en-US" sz="4306">
                <a:solidFill>
                  <a:srgbClr val="FFFFFF"/>
                </a:solidFill>
                <a:latin typeface="Open Sauce"/>
                <a:ea typeface="Open Sauce"/>
                <a:cs typeface="Open Sauce"/>
                <a:sym typeface="Open Sauce"/>
              </a:rPr>
              <a:t>M-Tech Final year project</a:t>
            </a:r>
          </a:p>
        </p:txBody>
      </p:sp>
      <p:sp>
        <p:nvSpPr>
          <p:cNvPr name="TextBox 24" id="24"/>
          <p:cNvSpPr txBox="true"/>
          <p:nvPr/>
        </p:nvSpPr>
        <p:spPr>
          <a:xfrm rot="0">
            <a:off x="10909616" y="9593440"/>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Comp</a:t>
            </a:r>
            <a:r>
              <a:rPr lang="en-US" sz="2399">
                <a:solidFill>
                  <a:srgbClr val="FFFFFF"/>
                </a:solidFill>
                <a:latin typeface="Telegraf"/>
                <a:ea typeface="Telegraf"/>
                <a:cs typeface="Telegraf"/>
                <a:sym typeface="Telegraf"/>
              </a:rPr>
              <a:t>uter Engineering</a:t>
            </a:r>
          </a:p>
        </p:txBody>
      </p:sp>
      <p:sp>
        <p:nvSpPr>
          <p:cNvPr name="AutoShape 25" id="25"/>
          <p:cNvSpPr/>
          <p:nvPr/>
        </p:nvSpPr>
        <p:spPr>
          <a:xfrm>
            <a:off x="10897059" y="10155565"/>
            <a:ext cx="6727117"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647215">
            <a:off x="14588952" y="-3063623"/>
            <a:ext cx="6705817" cy="5750238"/>
          </a:xfrm>
          <a:custGeom>
            <a:avLst/>
            <a:gdLst/>
            <a:ahLst/>
            <a:cxnLst/>
            <a:rect r="r" b="b" t="t" l="l"/>
            <a:pathLst>
              <a:path h="5750238" w="6705817">
                <a:moveTo>
                  <a:pt x="0" y="0"/>
                </a:moveTo>
                <a:lnTo>
                  <a:pt x="6705817" y="0"/>
                </a:lnTo>
                <a:lnTo>
                  <a:pt x="6705817" y="5750239"/>
                </a:lnTo>
                <a:lnTo>
                  <a:pt x="0" y="5750239"/>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2846557">
            <a:off x="-4552767" y="3701086"/>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226709" y="3383948"/>
            <a:ext cx="7092081" cy="1118597"/>
            <a:chOff x="0" y="0"/>
            <a:chExt cx="1867873" cy="294610"/>
          </a:xfrm>
        </p:grpSpPr>
        <p:sp>
          <p:nvSpPr>
            <p:cNvPr name="Freeform 6" id="6"/>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7" id="7"/>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969210" y="3349326"/>
            <a:ext cx="7092081" cy="1118597"/>
            <a:chOff x="0" y="0"/>
            <a:chExt cx="1867873" cy="294610"/>
          </a:xfrm>
        </p:grpSpPr>
        <p:sp>
          <p:nvSpPr>
            <p:cNvPr name="Freeform 9" id="9"/>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0" id="10"/>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226709" y="6582854"/>
            <a:ext cx="7092081" cy="1118597"/>
            <a:chOff x="0" y="0"/>
            <a:chExt cx="1867873" cy="294610"/>
          </a:xfrm>
        </p:grpSpPr>
        <p:sp>
          <p:nvSpPr>
            <p:cNvPr name="Freeform 12" id="12"/>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3" id="13"/>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9969210" y="6543655"/>
            <a:ext cx="7092081" cy="1118597"/>
            <a:chOff x="0" y="0"/>
            <a:chExt cx="1867873" cy="294610"/>
          </a:xfrm>
        </p:grpSpPr>
        <p:sp>
          <p:nvSpPr>
            <p:cNvPr name="Freeform 15" id="15"/>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6" id="16"/>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1226709" y="4962228"/>
            <a:ext cx="7092081" cy="1118597"/>
            <a:chOff x="0" y="0"/>
            <a:chExt cx="1867873" cy="294610"/>
          </a:xfrm>
        </p:grpSpPr>
        <p:sp>
          <p:nvSpPr>
            <p:cNvPr name="Freeform 18" id="18"/>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9" id="19"/>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sp>
        <p:nvSpPr>
          <p:cNvPr name="Freeform 20" id="20"/>
          <p:cNvSpPr/>
          <p:nvPr/>
        </p:nvSpPr>
        <p:spPr>
          <a:xfrm flipH="false" flipV="false" rot="0">
            <a:off x="7053736" y="451894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21" id="21"/>
          <p:cNvGrpSpPr/>
          <p:nvPr/>
        </p:nvGrpSpPr>
        <p:grpSpPr>
          <a:xfrm rot="0">
            <a:off x="9969210" y="4945959"/>
            <a:ext cx="7092081" cy="1118597"/>
            <a:chOff x="0" y="0"/>
            <a:chExt cx="1867873" cy="294610"/>
          </a:xfrm>
        </p:grpSpPr>
        <p:sp>
          <p:nvSpPr>
            <p:cNvPr name="Freeform 22" id="22"/>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3" id="23"/>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226709" y="8146666"/>
            <a:ext cx="7092081" cy="1118597"/>
            <a:chOff x="0" y="0"/>
            <a:chExt cx="1867873" cy="294610"/>
          </a:xfrm>
        </p:grpSpPr>
        <p:sp>
          <p:nvSpPr>
            <p:cNvPr name="Freeform 25" id="25"/>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6" id="26"/>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9969210" y="8143964"/>
            <a:ext cx="7092081" cy="1118597"/>
            <a:chOff x="0" y="0"/>
            <a:chExt cx="1867873" cy="294610"/>
          </a:xfrm>
        </p:grpSpPr>
        <p:sp>
          <p:nvSpPr>
            <p:cNvPr name="Freeform 28" id="28"/>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9" id="29"/>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sp>
        <p:nvSpPr>
          <p:cNvPr name="Freeform 30" id="30"/>
          <p:cNvSpPr/>
          <p:nvPr/>
        </p:nvSpPr>
        <p:spPr>
          <a:xfrm flipH="false" flipV="false" rot="0">
            <a:off x="7053736" y="2965649"/>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31" id="31"/>
          <p:cNvGrpSpPr/>
          <p:nvPr/>
        </p:nvGrpSpPr>
        <p:grpSpPr>
          <a:xfrm rot="0">
            <a:off x="7368628" y="3143342"/>
            <a:ext cx="1530564" cy="153056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34" id="34"/>
          <p:cNvGrpSpPr/>
          <p:nvPr/>
        </p:nvGrpSpPr>
        <p:grpSpPr>
          <a:xfrm rot="0">
            <a:off x="7368628" y="4740432"/>
            <a:ext cx="1530564" cy="153056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7" id="37"/>
          <p:cNvSpPr/>
          <p:nvPr/>
        </p:nvSpPr>
        <p:spPr>
          <a:xfrm flipH="false" flipV="false" rot="0">
            <a:off x="7053736" y="6161245"/>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38" id="38"/>
          <p:cNvGrpSpPr/>
          <p:nvPr/>
        </p:nvGrpSpPr>
        <p:grpSpPr>
          <a:xfrm rot="0">
            <a:off x="7368628" y="6337672"/>
            <a:ext cx="1530564" cy="153056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41" id="41"/>
          <p:cNvSpPr/>
          <p:nvPr/>
        </p:nvSpPr>
        <p:spPr>
          <a:xfrm flipH="false" flipV="false" rot="0">
            <a:off x="7053736" y="7796701"/>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42" id="42"/>
          <p:cNvGrpSpPr/>
          <p:nvPr/>
        </p:nvGrpSpPr>
        <p:grpSpPr>
          <a:xfrm rot="0">
            <a:off x="7368628" y="7937980"/>
            <a:ext cx="1530564" cy="1530564"/>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45" id="45"/>
          <p:cNvSpPr/>
          <p:nvPr/>
        </p:nvSpPr>
        <p:spPr>
          <a:xfrm flipH="false" flipV="false" rot="0">
            <a:off x="9185459" y="2965649"/>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6" id="46"/>
          <p:cNvSpPr/>
          <p:nvPr/>
        </p:nvSpPr>
        <p:spPr>
          <a:xfrm flipH="false" flipV="false" rot="0">
            <a:off x="9185459" y="4569026"/>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7" id="47"/>
          <p:cNvSpPr/>
          <p:nvPr/>
        </p:nvSpPr>
        <p:spPr>
          <a:xfrm flipH="false" flipV="false" rot="0">
            <a:off x="9185459" y="6116448"/>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8" id="48"/>
          <p:cNvSpPr/>
          <p:nvPr/>
        </p:nvSpPr>
        <p:spPr>
          <a:xfrm flipH="false" flipV="false" rot="0">
            <a:off x="9185459" y="7830136"/>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49" id="49"/>
          <p:cNvGrpSpPr/>
          <p:nvPr/>
        </p:nvGrpSpPr>
        <p:grpSpPr>
          <a:xfrm rot="0">
            <a:off x="9283669" y="3143342"/>
            <a:ext cx="1530564" cy="1530564"/>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2" id="52"/>
          <p:cNvGrpSpPr/>
          <p:nvPr/>
        </p:nvGrpSpPr>
        <p:grpSpPr>
          <a:xfrm rot="0">
            <a:off x="9283669" y="4740432"/>
            <a:ext cx="1530564" cy="1530564"/>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5" id="55"/>
          <p:cNvGrpSpPr/>
          <p:nvPr/>
        </p:nvGrpSpPr>
        <p:grpSpPr>
          <a:xfrm rot="0">
            <a:off x="9283669" y="6337672"/>
            <a:ext cx="1530564" cy="1530564"/>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8" id="58"/>
          <p:cNvGrpSpPr/>
          <p:nvPr/>
        </p:nvGrpSpPr>
        <p:grpSpPr>
          <a:xfrm rot="0">
            <a:off x="9283669" y="7937980"/>
            <a:ext cx="1530564" cy="1530564"/>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60" id="6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61" id="61"/>
          <p:cNvSpPr/>
          <p:nvPr/>
        </p:nvSpPr>
        <p:spPr>
          <a:xfrm flipH="false" flipV="false" rot="0">
            <a:off x="9705659" y="3590822"/>
            <a:ext cx="704850" cy="704850"/>
          </a:xfrm>
          <a:custGeom>
            <a:avLst/>
            <a:gdLst/>
            <a:ahLst/>
            <a:cxnLst/>
            <a:rect r="r" b="b" t="t" l="l"/>
            <a:pathLst>
              <a:path h="704850" w="704850">
                <a:moveTo>
                  <a:pt x="0" y="0"/>
                </a:moveTo>
                <a:lnTo>
                  <a:pt x="704850" y="0"/>
                </a:lnTo>
                <a:lnTo>
                  <a:pt x="704850" y="704850"/>
                </a:lnTo>
                <a:lnTo>
                  <a:pt x="0" y="7048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2" id="62"/>
          <p:cNvSpPr/>
          <p:nvPr/>
        </p:nvSpPr>
        <p:spPr>
          <a:xfrm flipH="false" flipV="false" rot="0">
            <a:off x="9724709" y="5110033"/>
            <a:ext cx="666750" cy="741864"/>
          </a:xfrm>
          <a:custGeom>
            <a:avLst/>
            <a:gdLst/>
            <a:ahLst/>
            <a:cxnLst/>
            <a:rect r="r" b="b" t="t" l="l"/>
            <a:pathLst>
              <a:path h="741864" w="666750">
                <a:moveTo>
                  <a:pt x="0" y="0"/>
                </a:moveTo>
                <a:lnTo>
                  <a:pt x="666750" y="0"/>
                </a:lnTo>
                <a:lnTo>
                  <a:pt x="666750" y="741864"/>
                </a:lnTo>
                <a:lnTo>
                  <a:pt x="0" y="7418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3" id="63"/>
          <p:cNvSpPr/>
          <p:nvPr/>
        </p:nvSpPr>
        <p:spPr>
          <a:xfrm flipH="false" flipV="false" rot="0">
            <a:off x="9734626" y="6790164"/>
            <a:ext cx="628650" cy="628650"/>
          </a:xfrm>
          <a:custGeom>
            <a:avLst/>
            <a:gdLst/>
            <a:ahLst/>
            <a:cxnLst/>
            <a:rect r="r" b="b" t="t" l="l"/>
            <a:pathLst>
              <a:path h="628650" w="628650">
                <a:moveTo>
                  <a:pt x="0" y="0"/>
                </a:moveTo>
                <a:lnTo>
                  <a:pt x="628650" y="0"/>
                </a:lnTo>
                <a:lnTo>
                  <a:pt x="628650" y="628650"/>
                </a:lnTo>
                <a:lnTo>
                  <a:pt x="0" y="628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4" id="64"/>
          <p:cNvSpPr/>
          <p:nvPr/>
        </p:nvSpPr>
        <p:spPr>
          <a:xfrm flipH="false" flipV="false" rot="0">
            <a:off x="9724709" y="8449261"/>
            <a:ext cx="666750" cy="666750"/>
          </a:xfrm>
          <a:custGeom>
            <a:avLst/>
            <a:gdLst/>
            <a:ahLst/>
            <a:cxnLst/>
            <a:rect r="r" b="b" t="t" l="l"/>
            <a:pathLst>
              <a:path h="666750" w="666750">
                <a:moveTo>
                  <a:pt x="0" y="0"/>
                </a:moveTo>
                <a:lnTo>
                  <a:pt x="666750" y="0"/>
                </a:lnTo>
                <a:lnTo>
                  <a:pt x="666750" y="666750"/>
                </a:lnTo>
                <a:lnTo>
                  <a:pt x="0" y="6667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5" id="65"/>
          <p:cNvSpPr/>
          <p:nvPr/>
        </p:nvSpPr>
        <p:spPr>
          <a:xfrm flipH="false" flipV="false" rot="0">
            <a:off x="7781485" y="3556199"/>
            <a:ext cx="704850" cy="704850"/>
          </a:xfrm>
          <a:custGeom>
            <a:avLst/>
            <a:gdLst/>
            <a:ahLst/>
            <a:cxnLst/>
            <a:rect r="r" b="b" t="t" l="l"/>
            <a:pathLst>
              <a:path h="704850" w="704850">
                <a:moveTo>
                  <a:pt x="0" y="0"/>
                </a:moveTo>
                <a:lnTo>
                  <a:pt x="704850" y="0"/>
                </a:lnTo>
                <a:lnTo>
                  <a:pt x="704850" y="704850"/>
                </a:lnTo>
                <a:lnTo>
                  <a:pt x="0" y="7048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6" id="66"/>
          <p:cNvSpPr/>
          <p:nvPr/>
        </p:nvSpPr>
        <p:spPr>
          <a:xfrm flipH="false" flipV="false" rot="0">
            <a:off x="7781485" y="5153025"/>
            <a:ext cx="704850" cy="680180"/>
          </a:xfrm>
          <a:custGeom>
            <a:avLst/>
            <a:gdLst/>
            <a:ahLst/>
            <a:cxnLst/>
            <a:rect r="r" b="b" t="t" l="l"/>
            <a:pathLst>
              <a:path h="680180" w="704850">
                <a:moveTo>
                  <a:pt x="0" y="0"/>
                </a:moveTo>
                <a:lnTo>
                  <a:pt x="704850" y="0"/>
                </a:lnTo>
                <a:lnTo>
                  <a:pt x="704850" y="680180"/>
                </a:lnTo>
                <a:lnTo>
                  <a:pt x="0" y="68018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67" id="67"/>
          <p:cNvSpPr/>
          <p:nvPr/>
        </p:nvSpPr>
        <p:spPr>
          <a:xfrm flipH="false" flipV="false" rot="0">
            <a:off x="7810060" y="8349105"/>
            <a:ext cx="647700" cy="713719"/>
          </a:xfrm>
          <a:custGeom>
            <a:avLst/>
            <a:gdLst/>
            <a:ahLst/>
            <a:cxnLst/>
            <a:rect r="r" b="b" t="t" l="l"/>
            <a:pathLst>
              <a:path h="713719" w="647700">
                <a:moveTo>
                  <a:pt x="0" y="0"/>
                </a:moveTo>
                <a:lnTo>
                  <a:pt x="647700" y="0"/>
                </a:lnTo>
                <a:lnTo>
                  <a:pt x="647700" y="713719"/>
                </a:lnTo>
                <a:lnTo>
                  <a:pt x="0" y="71371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68" id="68"/>
          <p:cNvSpPr/>
          <p:nvPr/>
        </p:nvSpPr>
        <p:spPr>
          <a:xfrm flipH="false" flipV="false" rot="0">
            <a:off x="7737909" y="6745713"/>
            <a:ext cx="792002" cy="646472"/>
          </a:xfrm>
          <a:custGeom>
            <a:avLst/>
            <a:gdLst/>
            <a:ahLst/>
            <a:cxnLst/>
            <a:rect r="r" b="b" t="t" l="l"/>
            <a:pathLst>
              <a:path h="646472" w="792002">
                <a:moveTo>
                  <a:pt x="0" y="0"/>
                </a:moveTo>
                <a:lnTo>
                  <a:pt x="792002" y="0"/>
                </a:lnTo>
                <a:lnTo>
                  <a:pt x="792002" y="646471"/>
                </a:lnTo>
                <a:lnTo>
                  <a:pt x="0" y="64647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69" id="69"/>
          <p:cNvSpPr txBox="true"/>
          <p:nvPr/>
        </p:nvSpPr>
        <p:spPr>
          <a:xfrm rot="0">
            <a:off x="4321138" y="1019175"/>
            <a:ext cx="9645724" cy="830580"/>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Project Overview</a:t>
            </a:r>
          </a:p>
        </p:txBody>
      </p:sp>
      <p:sp>
        <p:nvSpPr>
          <p:cNvPr name="TextBox 70" id="70"/>
          <p:cNvSpPr txBox="true"/>
          <p:nvPr/>
        </p:nvSpPr>
        <p:spPr>
          <a:xfrm rot="0">
            <a:off x="1588386" y="3731116"/>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Introduction</a:t>
            </a:r>
          </a:p>
        </p:txBody>
      </p:sp>
      <p:sp>
        <p:nvSpPr>
          <p:cNvPr name="TextBox 71" id="71"/>
          <p:cNvSpPr txBox="true"/>
          <p:nvPr/>
        </p:nvSpPr>
        <p:spPr>
          <a:xfrm rot="0">
            <a:off x="6639557" y="3731116"/>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01</a:t>
            </a:r>
          </a:p>
        </p:txBody>
      </p:sp>
      <p:sp>
        <p:nvSpPr>
          <p:cNvPr name="TextBox 72" id="72"/>
          <p:cNvSpPr txBox="true"/>
          <p:nvPr/>
        </p:nvSpPr>
        <p:spPr>
          <a:xfrm rot="0">
            <a:off x="1588386" y="3731116"/>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Introduction</a:t>
            </a:r>
          </a:p>
        </p:txBody>
      </p:sp>
      <p:sp>
        <p:nvSpPr>
          <p:cNvPr name="TextBox 73" id="73"/>
          <p:cNvSpPr txBox="true"/>
          <p:nvPr/>
        </p:nvSpPr>
        <p:spPr>
          <a:xfrm rot="0">
            <a:off x="1588386" y="5274129"/>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Literature Review</a:t>
            </a:r>
          </a:p>
        </p:txBody>
      </p:sp>
      <p:sp>
        <p:nvSpPr>
          <p:cNvPr name="TextBox 74" id="74"/>
          <p:cNvSpPr txBox="true"/>
          <p:nvPr/>
        </p:nvSpPr>
        <p:spPr>
          <a:xfrm rot="0">
            <a:off x="6639557" y="3731116"/>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01</a:t>
            </a:r>
          </a:p>
        </p:txBody>
      </p:sp>
      <p:sp>
        <p:nvSpPr>
          <p:cNvPr name="TextBox 75" id="75"/>
          <p:cNvSpPr txBox="true"/>
          <p:nvPr/>
        </p:nvSpPr>
        <p:spPr>
          <a:xfrm rot="0">
            <a:off x="6639557" y="5274129"/>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02</a:t>
            </a:r>
          </a:p>
        </p:txBody>
      </p:sp>
      <p:sp>
        <p:nvSpPr>
          <p:cNvPr name="TextBox 76" id="76"/>
          <p:cNvSpPr txBox="true"/>
          <p:nvPr/>
        </p:nvSpPr>
        <p:spPr>
          <a:xfrm rot="0">
            <a:off x="1588386" y="6862112"/>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 ⁠Research Gaps</a:t>
            </a:r>
          </a:p>
        </p:txBody>
      </p:sp>
      <p:sp>
        <p:nvSpPr>
          <p:cNvPr name="TextBox 77" id="77"/>
          <p:cNvSpPr txBox="true"/>
          <p:nvPr/>
        </p:nvSpPr>
        <p:spPr>
          <a:xfrm rot="0">
            <a:off x="6639557" y="6862112"/>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03</a:t>
            </a:r>
          </a:p>
        </p:txBody>
      </p:sp>
      <p:sp>
        <p:nvSpPr>
          <p:cNvPr name="TextBox 78" id="78"/>
          <p:cNvSpPr txBox="true"/>
          <p:nvPr/>
        </p:nvSpPr>
        <p:spPr>
          <a:xfrm rot="0">
            <a:off x="1588386" y="8504395"/>
            <a:ext cx="4699829" cy="770488"/>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Problem Statement</a:t>
            </a:r>
          </a:p>
          <a:p>
            <a:pPr algn="l">
              <a:lnSpc>
                <a:spcPts val="3166"/>
              </a:lnSpc>
            </a:pPr>
          </a:p>
        </p:txBody>
      </p:sp>
      <p:sp>
        <p:nvSpPr>
          <p:cNvPr name="TextBox 79" id="79"/>
          <p:cNvSpPr txBox="true"/>
          <p:nvPr/>
        </p:nvSpPr>
        <p:spPr>
          <a:xfrm rot="0">
            <a:off x="6639557" y="8504395"/>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04</a:t>
            </a:r>
          </a:p>
        </p:txBody>
      </p:sp>
      <p:sp>
        <p:nvSpPr>
          <p:cNvPr name="TextBox 80" id="80"/>
          <p:cNvSpPr txBox="true"/>
          <p:nvPr/>
        </p:nvSpPr>
        <p:spPr>
          <a:xfrm rot="0">
            <a:off x="11039696" y="3731116"/>
            <a:ext cx="4684652" cy="76812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Research Objectives</a:t>
            </a:r>
          </a:p>
          <a:p>
            <a:pPr algn="l">
              <a:lnSpc>
                <a:spcPts val="3155"/>
              </a:lnSpc>
            </a:pPr>
          </a:p>
        </p:txBody>
      </p:sp>
      <p:sp>
        <p:nvSpPr>
          <p:cNvPr name="TextBox 81" id="81"/>
          <p:cNvSpPr txBox="true"/>
          <p:nvPr/>
        </p:nvSpPr>
        <p:spPr>
          <a:xfrm rot="0">
            <a:off x="11039696" y="5265148"/>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 ⁠Proposed Solution</a:t>
            </a:r>
          </a:p>
        </p:txBody>
      </p:sp>
      <p:sp>
        <p:nvSpPr>
          <p:cNvPr name="TextBox 82" id="82"/>
          <p:cNvSpPr txBox="true"/>
          <p:nvPr/>
        </p:nvSpPr>
        <p:spPr>
          <a:xfrm rot="0">
            <a:off x="16074556" y="3731116"/>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05</a:t>
            </a:r>
          </a:p>
        </p:txBody>
      </p:sp>
      <p:sp>
        <p:nvSpPr>
          <p:cNvPr name="TextBox 83" id="83"/>
          <p:cNvSpPr txBox="true"/>
          <p:nvPr/>
        </p:nvSpPr>
        <p:spPr>
          <a:xfrm rot="0">
            <a:off x="16074556" y="5265148"/>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06</a:t>
            </a:r>
          </a:p>
        </p:txBody>
      </p:sp>
      <p:sp>
        <p:nvSpPr>
          <p:cNvPr name="TextBox 84" id="84"/>
          <p:cNvSpPr txBox="true"/>
          <p:nvPr/>
        </p:nvSpPr>
        <p:spPr>
          <a:xfrm rot="0">
            <a:off x="11039696" y="6907454"/>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Methodology</a:t>
            </a:r>
          </a:p>
        </p:txBody>
      </p:sp>
      <p:sp>
        <p:nvSpPr>
          <p:cNvPr name="TextBox 85" id="85"/>
          <p:cNvSpPr txBox="true"/>
          <p:nvPr/>
        </p:nvSpPr>
        <p:spPr>
          <a:xfrm rot="0">
            <a:off x="16074556" y="6907454"/>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07</a:t>
            </a:r>
          </a:p>
        </p:txBody>
      </p:sp>
      <p:sp>
        <p:nvSpPr>
          <p:cNvPr name="TextBox 86" id="86"/>
          <p:cNvSpPr txBox="true"/>
          <p:nvPr/>
        </p:nvSpPr>
        <p:spPr>
          <a:xfrm rot="0">
            <a:off x="11039696" y="8496971"/>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Thank You</a:t>
            </a:r>
          </a:p>
        </p:txBody>
      </p:sp>
      <p:sp>
        <p:nvSpPr>
          <p:cNvPr name="TextBox 87" id="87"/>
          <p:cNvSpPr txBox="true"/>
          <p:nvPr/>
        </p:nvSpPr>
        <p:spPr>
          <a:xfrm rot="0">
            <a:off x="16074556" y="8496971"/>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true" flipV="true" rot="0">
            <a:off x="1028700" y="1028700"/>
            <a:ext cx="759822" cy="750151"/>
          </a:xfrm>
          <a:custGeom>
            <a:avLst/>
            <a:gdLst/>
            <a:ahLst/>
            <a:cxnLst/>
            <a:rect r="r" b="b" t="t" l="l"/>
            <a:pathLst>
              <a:path h="750151" w="759822">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08611" y="6083237"/>
            <a:ext cx="9979930" cy="2042153"/>
          </a:xfrm>
          <a:prstGeom prst="rect">
            <a:avLst/>
          </a:prstGeom>
        </p:spPr>
        <p:txBody>
          <a:bodyPr anchor="t" rtlCol="false" tIns="0" lIns="0" bIns="0" rIns="0">
            <a:spAutoFit/>
          </a:bodyPr>
          <a:lstStyle/>
          <a:p>
            <a:pPr algn="l">
              <a:lnSpc>
                <a:spcPts val="15703"/>
              </a:lnSpc>
              <a:spcBef>
                <a:spcPct val="0"/>
              </a:spcBef>
            </a:pPr>
            <a:r>
              <a:rPr lang="en-US" b="true" sz="11216">
                <a:solidFill>
                  <a:srgbClr val="7D4C84"/>
                </a:solidFill>
                <a:latin typeface="Telegraf Bold"/>
                <a:ea typeface="Telegraf Bold"/>
                <a:cs typeface="Telegraf Bold"/>
                <a:sym typeface="Telegraf Bold"/>
              </a:rPr>
              <a:t>introduction</a:t>
            </a:r>
          </a:p>
        </p:txBody>
      </p:sp>
      <p:sp>
        <p:nvSpPr>
          <p:cNvPr name="TextBox 5" id="5"/>
          <p:cNvSpPr txBox="true"/>
          <p:nvPr/>
        </p:nvSpPr>
        <p:spPr>
          <a:xfrm rot="0">
            <a:off x="11388541" y="1890021"/>
            <a:ext cx="5870759" cy="3026410"/>
          </a:xfrm>
          <a:prstGeom prst="rect">
            <a:avLst/>
          </a:prstGeom>
        </p:spPr>
        <p:txBody>
          <a:bodyPr anchor="t" rtlCol="false" tIns="0" lIns="0" bIns="0" rIns="0">
            <a:spAutoFit/>
          </a:bodyPr>
          <a:lstStyle/>
          <a:p>
            <a:pPr algn="just">
              <a:lnSpc>
                <a:spcPts val="2239"/>
              </a:lnSpc>
              <a:spcBef>
                <a:spcPct val="0"/>
              </a:spcBef>
            </a:pPr>
            <a:r>
              <a:rPr lang="en-US" sz="1599">
                <a:solidFill>
                  <a:srgbClr val="4D4B66"/>
                </a:solidFill>
                <a:latin typeface="Montserrat"/>
                <a:ea typeface="Montserrat"/>
                <a:cs typeface="Montserrat"/>
                <a:sym typeface="Montserrat"/>
              </a:rPr>
              <a:t>Question–answer–based story generation is an emerging field in Generative AI that focuses on transforming user-driven inputs into coherent, contextually rich narratives. With advancements in Large Language Models (LLMs), machines can now understand natural language queries, capture user intent, and generate personalized stories that feel meaningful and human-like. This project explores how LLMs can be leveraged to build an automated system that converts structured or unstructured questions and answers into creative, dynamic stories.</a:t>
            </a:r>
          </a:p>
        </p:txBody>
      </p:sp>
      <p:sp>
        <p:nvSpPr>
          <p:cNvPr name="TextBox 6" id="6"/>
          <p:cNvSpPr txBox="true"/>
          <p:nvPr/>
        </p:nvSpPr>
        <p:spPr>
          <a:xfrm rot="0">
            <a:off x="1954638" y="5755113"/>
            <a:ext cx="7569755" cy="3503187"/>
          </a:xfrm>
          <a:prstGeom prst="rect">
            <a:avLst/>
          </a:prstGeom>
        </p:spPr>
        <p:txBody>
          <a:bodyPr anchor="t" rtlCol="false" tIns="0" lIns="0" bIns="0" rIns="0">
            <a:spAutoFit/>
          </a:bodyPr>
          <a:lstStyle/>
          <a:p>
            <a:pPr algn="ctr">
              <a:lnSpc>
                <a:spcPts val="12612"/>
              </a:lnSpc>
            </a:pPr>
            <a:r>
              <a:rPr lang="en-US" sz="14497" spc="2319">
                <a:solidFill>
                  <a:srgbClr val="041226">
                    <a:alpha val="4706"/>
                  </a:srgbClr>
                </a:solidFill>
                <a:latin typeface="Telegraf"/>
                <a:ea typeface="Telegraf"/>
                <a:cs typeface="Telegraf"/>
                <a:sym typeface="Telegraf"/>
              </a:rPr>
              <a:t>introduction</a:t>
            </a:r>
          </a:p>
        </p:txBody>
      </p:sp>
      <p:sp>
        <p:nvSpPr>
          <p:cNvPr name="TextBox 7" id="7"/>
          <p:cNvSpPr txBox="true"/>
          <p:nvPr/>
        </p:nvSpPr>
        <p:spPr>
          <a:xfrm rot="0">
            <a:off x="11388541" y="5114925"/>
            <a:ext cx="5870759" cy="2750185"/>
          </a:xfrm>
          <a:prstGeom prst="rect">
            <a:avLst/>
          </a:prstGeom>
        </p:spPr>
        <p:txBody>
          <a:bodyPr anchor="t" rtlCol="false" tIns="0" lIns="0" bIns="0" rIns="0">
            <a:spAutoFit/>
          </a:bodyPr>
          <a:lstStyle/>
          <a:p>
            <a:pPr algn="just">
              <a:lnSpc>
                <a:spcPts val="2239"/>
              </a:lnSpc>
              <a:spcBef>
                <a:spcPct val="0"/>
              </a:spcBef>
            </a:pPr>
            <a:r>
              <a:rPr lang="en-US" sz="1599">
                <a:solidFill>
                  <a:srgbClr val="4D4B66"/>
                </a:solidFill>
                <a:latin typeface="Montserrat"/>
                <a:ea typeface="Montserrat"/>
                <a:cs typeface="Montserrat"/>
                <a:sym typeface="Montserrat"/>
              </a:rPr>
              <a:t>The growing demand for interactive storytelling in education, entertainment, gaming, and digital content has highlighted the need for intelligent systems that adapt to user inputs. By integrating LLMs with a guided question–answer framework, this project aims to enhance user engagement and ensure story coherence, creativity, and relevance. The objective is to design a robust, scalable model capable of generating high-quality narratives based on user-provided responses.</a:t>
            </a:r>
          </a:p>
          <a:p>
            <a:pPr algn="just">
              <a:lnSpc>
                <a:spcPts val="2239"/>
              </a:lnSpc>
              <a:spcBef>
                <a:spcPct val="0"/>
              </a:spcBef>
            </a:pPr>
          </a:p>
        </p:txBody>
      </p:sp>
      <p:sp>
        <p:nvSpPr>
          <p:cNvPr name="Freeform 8" id="8"/>
          <p:cNvSpPr/>
          <p:nvPr/>
        </p:nvSpPr>
        <p:spPr>
          <a:xfrm flipH="false" flipV="false" rot="0">
            <a:off x="16887790" y="8891519"/>
            <a:ext cx="371510" cy="366781"/>
          </a:xfrm>
          <a:custGeom>
            <a:avLst/>
            <a:gdLst/>
            <a:ahLst/>
            <a:cxnLst/>
            <a:rect r="r" b="b" t="t" l="l"/>
            <a:pathLst>
              <a:path h="366781" w="371510">
                <a:moveTo>
                  <a:pt x="0" y="0"/>
                </a:moveTo>
                <a:lnTo>
                  <a:pt x="371510" y="0"/>
                </a:lnTo>
                <a:lnTo>
                  <a:pt x="371510" y="366781"/>
                </a:lnTo>
                <a:lnTo>
                  <a:pt x="0" y="3667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true" rot="2846557">
            <a:off x="-9064097" y="2619033"/>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7">
              <a:alphaModFix amt="10999"/>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076710">
            <a:off x="-4711515" y="6767622"/>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graphicFrame>
        <p:nvGraphicFramePr>
          <p:cNvPr name="Table 4" id="4"/>
          <p:cNvGraphicFramePr>
            <a:graphicFrameLocks noGrp="true"/>
          </p:cNvGraphicFramePr>
          <p:nvPr/>
        </p:nvGraphicFramePr>
        <p:xfrm>
          <a:off x="617504" y="1068224"/>
          <a:ext cx="17232157" cy="8951662"/>
        </p:xfrm>
        <a:graphic>
          <a:graphicData uri="http://schemas.openxmlformats.org/drawingml/2006/table">
            <a:tbl>
              <a:tblPr/>
              <a:tblGrid>
                <a:gridCol w="1365226"/>
                <a:gridCol w="1580177"/>
                <a:gridCol w="2340052"/>
                <a:gridCol w="1916918"/>
                <a:gridCol w="1964539"/>
                <a:gridCol w="2482263"/>
                <a:gridCol w="1860994"/>
                <a:gridCol w="1860994"/>
                <a:gridCol w="1860994"/>
              </a:tblGrid>
              <a:tr h="1699261">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Sr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7D4C84"/>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Year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8E699B"/>
                    </a:solidFill>
                  </a:tcPr>
                </a:tc>
                <a:tc>
                  <a:txBody>
                    <a:bodyPr anchor="t" rtlCol="false"/>
                    <a:lstStyle/>
                    <a:p>
                      <a:pPr algn="ctr">
                        <a:lnSpc>
                          <a:spcPts val="1680"/>
                        </a:lnSpc>
                        <a:defRPr/>
                      </a:pPr>
                      <a:r>
                        <a:rPr lang="en-US" b="true" sz="1200">
                          <a:solidFill>
                            <a:srgbClr val="121113"/>
                          </a:solidFill>
                          <a:latin typeface="Telegraf Bold"/>
                          <a:ea typeface="Telegraf Bold"/>
                          <a:cs typeface="Telegraf Bold"/>
                          <a:sym typeface="Telegraf Bold"/>
                        </a:rPr>
                        <a:t>Authors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Title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Venue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Idea Summary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100"/>
                        </a:lnSpc>
                        <a:defRPr/>
                      </a:pPr>
                      <a:r>
                        <a:rPr lang="en-US" b="true" sz="1500">
                          <a:solidFill>
                            <a:srgbClr val="121113"/>
                          </a:solidFill>
                          <a:latin typeface="Telegraf Bold"/>
                          <a:ea typeface="Telegraf Bold"/>
                          <a:cs typeface="Telegraf Bold"/>
                          <a:sym typeface="Telegraf Bold"/>
                        </a:rPr>
                        <a:t>Method / Tech Used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Research Gap (for your Q&amp;A story project)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Link</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r>
              <a:tr h="1641490">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R. Farrell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LLMs as Narrative Planning Search Guides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Uses LLMs to guide the creation of coherent textual narrative sequences.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GPT-based heuristic search</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Q&amp;A interaction, no personalized story shaping.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PDF: https://cs.uky.edu/~sgware/reading/papers/farrell2024large.pdf</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649519">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Y. Huang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Guided Story Generation with External Knowledge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Generates text stories using structured knowledge graphs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GPT-2/3 + knowledge integration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Doesn’t take Q&amp;A input; limited personalization.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https://ieeexplore.ieee.org/document/10090973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699">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 Tambwekar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Controllable Neural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Controls style, theme, and emotion in generated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Reinforced LSTM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Not interactive; lacks user-driven Q&amp;A shaping.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https://ieeexplore.ieee.org/document/10021351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402728">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K. Li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Plot-Guided Story Generation via Prompting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Uses prompts and templates to steer LLM story outputs.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Prompt engineering for GPT-3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dynamic question-answering component.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https://ieeexplore.ieee.org/document/10289342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3966">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S. Ammanabrolu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Hierarchical Neural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Generates multi-paragraph stories with plot control.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Hierarchical Transformer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interactive Q&amp;A branching.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https://ieeexplore.ieee.org/document/9783130</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1028700" y="357087"/>
            <a:ext cx="9645724" cy="830580"/>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Literature Review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076710">
            <a:off x="-4711515" y="6767622"/>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3254307">
            <a:off x="6814779" y="2113655"/>
            <a:ext cx="18293405" cy="6059690"/>
          </a:xfrm>
          <a:custGeom>
            <a:avLst/>
            <a:gdLst/>
            <a:ahLst/>
            <a:cxnLst/>
            <a:rect r="r" b="b" t="t" l="l"/>
            <a:pathLst>
              <a:path h="6059690" w="18293405">
                <a:moveTo>
                  <a:pt x="0" y="6059690"/>
                </a:moveTo>
                <a:lnTo>
                  <a:pt x="18293405" y="6059690"/>
                </a:lnTo>
                <a:lnTo>
                  <a:pt x="18293405" y="0"/>
                </a:lnTo>
                <a:lnTo>
                  <a:pt x="0" y="0"/>
                </a:lnTo>
                <a:lnTo>
                  <a:pt x="0" y="6059690"/>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graphicFrame>
        <p:nvGraphicFramePr>
          <p:cNvPr name="Table 5" id="5"/>
          <p:cNvGraphicFramePr>
            <a:graphicFrameLocks noGrp="true"/>
          </p:cNvGraphicFramePr>
          <p:nvPr/>
        </p:nvGraphicFramePr>
        <p:xfrm>
          <a:off x="312880" y="1187667"/>
          <a:ext cx="17481862" cy="8936288"/>
        </p:xfrm>
        <a:graphic>
          <a:graphicData uri="http://schemas.openxmlformats.org/drawingml/2006/table">
            <a:tbl>
              <a:tblPr/>
              <a:tblGrid>
                <a:gridCol w="1105784"/>
                <a:gridCol w="1522097"/>
                <a:gridCol w="2193247"/>
                <a:gridCol w="2532709"/>
                <a:gridCol w="1998007"/>
                <a:gridCol w="2549957"/>
                <a:gridCol w="1687536"/>
                <a:gridCol w="2032504"/>
                <a:gridCol w="1860020"/>
              </a:tblGrid>
              <a:tr h="1699391">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Sr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7D4C84"/>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Year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8E699B"/>
                    </a:solidFill>
                  </a:tcPr>
                </a:tc>
                <a:tc>
                  <a:txBody>
                    <a:bodyPr anchor="t" rtlCol="false"/>
                    <a:lstStyle/>
                    <a:p>
                      <a:pPr algn="just">
                        <a:lnSpc>
                          <a:spcPts val="1680"/>
                        </a:lnSpc>
                        <a:defRPr/>
                      </a:pPr>
                      <a:r>
                        <a:rPr lang="en-US" sz="1200" b="true">
                          <a:solidFill>
                            <a:srgbClr val="FFFFFF"/>
                          </a:solidFill>
                          <a:latin typeface="Telegraf Bold"/>
                          <a:ea typeface="Telegraf Bold"/>
                          <a:cs typeface="Telegraf Bold"/>
                          <a:sym typeface="Telegraf Bold"/>
                        </a:rPr>
                        <a:t>Authors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Title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Venue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Idea Summary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100"/>
                        </a:lnSpc>
                        <a:defRPr/>
                      </a:pPr>
                      <a:r>
                        <a:rPr lang="en-US" sz="1500" b="true">
                          <a:solidFill>
                            <a:srgbClr val="FFFFFF"/>
                          </a:solidFill>
                          <a:latin typeface="Telegraf Bold"/>
                          <a:ea typeface="Telegraf Bold"/>
                          <a:cs typeface="Telegraf Bold"/>
                          <a:sym typeface="Telegraf Bold"/>
                        </a:rPr>
                        <a:t>Method / Tech Used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Research Gap (for your Q&amp;A story project)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Link</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r>
              <a:tr h="163358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6</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M. Mao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Character-centric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Focuses on character consistency in long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Transformer decoder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 mechanism for user-driven Q&amp;A personalization.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https://ieeexplore.ieee.org/document/9712325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649645">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R. Zhang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Prompt-Driven Narrative Generation Using LLMs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Improves coherence by structuring user prompts → controlled text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Instruction-tuned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 Q&amp;A pipeline; only single-shot prompts.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https://ieeexplore.ieee.org/document/10527305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80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8</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M. Peng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Interactive Story Generation with Dialogue Inputs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Text story generation using dialogue turns (closest to Q&amp;A).</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BART / GPT dialogue → story converter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Does not explicitly structure Q&amp;A → story pipeline.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https://ieeexplore.ieee.org/document/10045611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80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9</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J. Li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Long-Form Story Generation with Discourse Planning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Ensures story coherence using discourse-aware planning.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Discourse Planner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Still not user-personalized; no Q&amp;A involvement.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https://ieeexplore.ieee.org/document/9724244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4055">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10</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 Wu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Evaluation of AI-Generated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Analyzes story quality generated by LLMs.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LLM-based story metrics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Not a generation model but useful for evaluation.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https://ieeexplore.ieee.org/document/10453284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sp>
        <p:nvSpPr>
          <p:cNvPr name="TextBox 6" id="6"/>
          <p:cNvSpPr txBox="true"/>
          <p:nvPr/>
        </p:nvSpPr>
        <p:spPr>
          <a:xfrm rot="0">
            <a:off x="1028700" y="357087"/>
            <a:ext cx="9645724" cy="830580"/>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Literature Review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846557">
            <a:off x="-3940634" y="3356107"/>
            <a:ext cx="16432550" cy="5443282"/>
          </a:xfrm>
          <a:custGeom>
            <a:avLst/>
            <a:gdLst/>
            <a:ahLst/>
            <a:cxnLst/>
            <a:rect r="r" b="b" t="t" l="l"/>
            <a:pathLst>
              <a:path h="5443282" w="16432550">
                <a:moveTo>
                  <a:pt x="0" y="0"/>
                </a:moveTo>
                <a:lnTo>
                  <a:pt x="16432550" y="0"/>
                </a:lnTo>
                <a:lnTo>
                  <a:pt x="16432550" y="5443282"/>
                </a:lnTo>
                <a:lnTo>
                  <a:pt x="0" y="5443282"/>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4133764"/>
            <a:ext cx="3799029" cy="4772111"/>
            <a:chOff x="0" y="0"/>
            <a:chExt cx="1000567" cy="1256852"/>
          </a:xfrm>
        </p:grpSpPr>
        <p:sp>
          <p:nvSpPr>
            <p:cNvPr name="Freeform 5" id="5"/>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6" id="6"/>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5174784" y="4133764"/>
            <a:ext cx="3799029" cy="4772111"/>
            <a:chOff x="0" y="0"/>
            <a:chExt cx="1000567" cy="1256852"/>
          </a:xfrm>
        </p:grpSpPr>
        <p:sp>
          <p:nvSpPr>
            <p:cNvPr name="Freeform 8" id="8"/>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9" id="9"/>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9317528" y="4133764"/>
            <a:ext cx="3799029" cy="4772111"/>
            <a:chOff x="0" y="0"/>
            <a:chExt cx="1000567" cy="1256852"/>
          </a:xfrm>
        </p:grpSpPr>
        <p:sp>
          <p:nvSpPr>
            <p:cNvPr name="Freeform 11" id="11"/>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12" id="12"/>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3460271" y="4133764"/>
            <a:ext cx="3799029" cy="4772111"/>
            <a:chOff x="0" y="0"/>
            <a:chExt cx="1000567" cy="1256852"/>
          </a:xfrm>
        </p:grpSpPr>
        <p:sp>
          <p:nvSpPr>
            <p:cNvPr name="Freeform 14" id="14"/>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15" id="15"/>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1642339"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5786753"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000015" y="3205564"/>
            <a:ext cx="1856399" cy="185639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8F8F5"/>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6146099" y="3205564"/>
            <a:ext cx="1856399" cy="185639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52400" cap="sq">
              <a:solidFill>
                <a:srgbClr val="F8F8F5"/>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9931167"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25" id="25"/>
          <p:cNvGrpSpPr/>
          <p:nvPr/>
        </p:nvGrpSpPr>
        <p:grpSpPr>
          <a:xfrm rot="0">
            <a:off x="10288263" y="3205564"/>
            <a:ext cx="1856399" cy="185639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52400" cap="sq">
              <a:solidFill>
                <a:srgbClr val="F8F8F5"/>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8" id="28"/>
          <p:cNvSpPr/>
          <p:nvPr/>
        </p:nvSpPr>
        <p:spPr>
          <a:xfrm flipH="false" flipV="false" rot="0">
            <a:off x="14075581"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14431007" y="3205564"/>
            <a:ext cx="1856399" cy="185639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8F8F5"/>
              </a:solidFill>
              <a:prstDash val="solid"/>
              <a:miter/>
            </a:ln>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2" id="32"/>
          <p:cNvSpPr/>
          <p:nvPr/>
        </p:nvSpPr>
        <p:spPr>
          <a:xfrm flipH="false" flipV="false" rot="0">
            <a:off x="2499589" y="3783899"/>
            <a:ext cx="857250" cy="699730"/>
          </a:xfrm>
          <a:custGeom>
            <a:avLst/>
            <a:gdLst/>
            <a:ahLst/>
            <a:cxnLst/>
            <a:rect r="r" b="b" t="t" l="l"/>
            <a:pathLst>
              <a:path h="699730" w="857250">
                <a:moveTo>
                  <a:pt x="0" y="0"/>
                </a:moveTo>
                <a:lnTo>
                  <a:pt x="857250" y="0"/>
                </a:lnTo>
                <a:lnTo>
                  <a:pt x="857250" y="699730"/>
                </a:lnTo>
                <a:lnTo>
                  <a:pt x="0" y="6997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6644003" y="3703444"/>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4" id="34"/>
          <p:cNvSpPr/>
          <p:nvPr/>
        </p:nvSpPr>
        <p:spPr>
          <a:xfrm flipH="false" flipV="false" rot="0">
            <a:off x="10787838" y="3741037"/>
            <a:ext cx="857250" cy="785455"/>
          </a:xfrm>
          <a:custGeom>
            <a:avLst/>
            <a:gdLst/>
            <a:ahLst/>
            <a:cxnLst/>
            <a:rect r="r" b="b" t="t" l="l"/>
            <a:pathLst>
              <a:path h="785455" w="857250">
                <a:moveTo>
                  <a:pt x="0" y="0"/>
                </a:moveTo>
                <a:lnTo>
                  <a:pt x="857250" y="0"/>
                </a:lnTo>
                <a:lnTo>
                  <a:pt x="857250" y="785455"/>
                </a:lnTo>
                <a:lnTo>
                  <a:pt x="0" y="78545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5" id="35"/>
          <p:cNvSpPr/>
          <p:nvPr/>
        </p:nvSpPr>
        <p:spPr>
          <a:xfrm flipH="false" flipV="false" rot="0">
            <a:off x="14978206" y="3804497"/>
            <a:ext cx="762000" cy="702945"/>
          </a:xfrm>
          <a:custGeom>
            <a:avLst/>
            <a:gdLst/>
            <a:ahLst/>
            <a:cxnLst/>
            <a:rect r="r" b="b" t="t" l="l"/>
            <a:pathLst>
              <a:path h="702945" w="762000">
                <a:moveTo>
                  <a:pt x="0" y="0"/>
                </a:moveTo>
                <a:lnTo>
                  <a:pt x="762000" y="0"/>
                </a:lnTo>
                <a:lnTo>
                  <a:pt x="762000" y="702945"/>
                </a:lnTo>
                <a:lnTo>
                  <a:pt x="0" y="7029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6" id="36"/>
          <p:cNvSpPr/>
          <p:nvPr/>
        </p:nvSpPr>
        <p:spPr>
          <a:xfrm flipH="false" flipV="false" rot="0">
            <a:off x="15359206" y="-1747910"/>
            <a:ext cx="6705817" cy="5750238"/>
          </a:xfrm>
          <a:custGeom>
            <a:avLst/>
            <a:gdLst/>
            <a:ahLst/>
            <a:cxnLst/>
            <a:rect r="r" b="b" t="t" l="l"/>
            <a:pathLst>
              <a:path h="5750238" w="6705817">
                <a:moveTo>
                  <a:pt x="0" y="0"/>
                </a:moveTo>
                <a:lnTo>
                  <a:pt x="6705818" y="0"/>
                </a:lnTo>
                <a:lnTo>
                  <a:pt x="6705818" y="5750239"/>
                </a:lnTo>
                <a:lnTo>
                  <a:pt x="0" y="5750239"/>
                </a:lnTo>
                <a:lnTo>
                  <a:pt x="0" y="0"/>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name="TextBox 37" id="37"/>
          <p:cNvSpPr txBox="true"/>
          <p:nvPr/>
        </p:nvSpPr>
        <p:spPr>
          <a:xfrm rot="0">
            <a:off x="4321138" y="1117684"/>
            <a:ext cx="9645724" cy="1583055"/>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Research Gap</a:t>
            </a:r>
          </a:p>
          <a:p>
            <a:pPr algn="ctr">
              <a:lnSpc>
                <a:spcPts val="5940"/>
              </a:lnSpc>
            </a:pPr>
          </a:p>
        </p:txBody>
      </p:sp>
      <p:sp>
        <p:nvSpPr>
          <p:cNvPr name="TextBox 38" id="38"/>
          <p:cNvSpPr txBox="true"/>
          <p:nvPr/>
        </p:nvSpPr>
        <p:spPr>
          <a:xfrm rot="0">
            <a:off x="1304744" y="6305713"/>
            <a:ext cx="3246941" cy="1840502"/>
          </a:xfrm>
          <a:prstGeom prst="rect">
            <a:avLst/>
          </a:prstGeom>
        </p:spPr>
        <p:txBody>
          <a:bodyPr anchor="t" rtlCol="false" tIns="0" lIns="0" bIns="0" rIns="0">
            <a:spAutoFit/>
          </a:bodyPr>
          <a:lstStyle/>
          <a:p>
            <a:pPr algn="ctr">
              <a:lnSpc>
                <a:spcPts val="2976"/>
              </a:lnSpc>
            </a:pPr>
            <a:r>
              <a:rPr lang="en-US" sz="2126">
                <a:solidFill>
                  <a:srgbClr val="545454"/>
                </a:solidFill>
                <a:latin typeface="Open Sans"/>
                <a:ea typeface="Open Sans"/>
                <a:cs typeface="Open Sans"/>
                <a:sym typeface="Open Sans"/>
              </a:rPr>
              <a:t>Current story-generation models cannot convert user Q&amp;A inputs into highly personalized narrative elements.</a:t>
            </a:r>
          </a:p>
        </p:txBody>
      </p:sp>
      <p:sp>
        <p:nvSpPr>
          <p:cNvPr name="TextBox 39" id="39"/>
          <p:cNvSpPr txBox="true"/>
          <p:nvPr/>
        </p:nvSpPr>
        <p:spPr>
          <a:xfrm rot="0">
            <a:off x="5574239" y="6305713"/>
            <a:ext cx="3028914" cy="1833889"/>
          </a:xfrm>
          <a:prstGeom prst="rect">
            <a:avLst/>
          </a:prstGeom>
        </p:spPr>
        <p:txBody>
          <a:bodyPr anchor="t" rtlCol="false" tIns="0" lIns="0" bIns="0" rIns="0">
            <a:spAutoFit/>
          </a:bodyPr>
          <a:lstStyle/>
          <a:p>
            <a:pPr algn="ctr">
              <a:lnSpc>
                <a:spcPts val="2965"/>
              </a:lnSpc>
            </a:pPr>
            <a:r>
              <a:rPr lang="en-US" sz="2118">
                <a:solidFill>
                  <a:srgbClr val="545454"/>
                </a:solidFill>
                <a:latin typeface="Open Sans"/>
                <a:ea typeface="Open Sans"/>
                <a:cs typeface="Open Sans"/>
                <a:sym typeface="Open Sans"/>
              </a:rPr>
              <a:t>LLMs struggle to maintain consistent plot, characters, and themes across multi-step Q&amp;A interactions.</a:t>
            </a:r>
          </a:p>
        </p:txBody>
      </p:sp>
      <p:sp>
        <p:nvSpPr>
          <p:cNvPr name="TextBox 40" id="40"/>
          <p:cNvSpPr txBox="true"/>
          <p:nvPr/>
        </p:nvSpPr>
        <p:spPr>
          <a:xfrm rot="0">
            <a:off x="9718653" y="6305713"/>
            <a:ext cx="3025301" cy="1670061"/>
          </a:xfrm>
          <a:prstGeom prst="rect">
            <a:avLst/>
          </a:prstGeom>
        </p:spPr>
        <p:txBody>
          <a:bodyPr anchor="t" rtlCol="false" tIns="0" lIns="0" bIns="0" rIns="0">
            <a:spAutoFit/>
          </a:bodyPr>
          <a:lstStyle/>
          <a:p>
            <a:pPr algn="ctr">
              <a:lnSpc>
                <a:spcPts val="2695"/>
              </a:lnSpc>
            </a:pPr>
            <a:r>
              <a:rPr lang="en-US" sz="1925">
                <a:solidFill>
                  <a:srgbClr val="545454"/>
                </a:solidFill>
                <a:latin typeface="Open Sans"/>
                <a:ea typeface="Open Sans"/>
                <a:cs typeface="Open Sans"/>
                <a:sym typeface="Open Sans"/>
              </a:rPr>
              <a:t>Existing systems lack mechanisms for users to control story flow, genre, or structure through guided questions.</a:t>
            </a:r>
          </a:p>
        </p:txBody>
      </p:sp>
      <p:sp>
        <p:nvSpPr>
          <p:cNvPr name="TextBox 41" id="41"/>
          <p:cNvSpPr txBox="true"/>
          <p:nvPr/>
        </p:nvSpPr>
        <p:spPr>
          <a:xfrm rot="0">
            <a:off x="13655477" y="6296188"/>
            <a:ext cx="3411958" cy="1713059"/>
          </a:xfrm>
          <a:prstGeom prst="rect">
            <a:avLst/>
          </a:prstGeom>
        </p:spPr>
        <p:txBody>
          <a:bodyPr anchor="t" rtlCol="false" tIns="0" lIns="0" bIns="0" rIns="0">
            <a:spAutoFit/>
          </a:bodyPr>
          <a:lstStyle/>
          <a:p>
            <a:pPr algn="ctr">
              <a:lnSpc>
                <a:spcPts val="2704"/>
              </a:lnSpc>
            </a:pPr>
            <a:r>
              <a:rPr lang="en-US" sz="1931">
                <a:solidFill>
                  <a:srgbClr val="545454"/>
                </a:solidFill>
                <a:latin typeface="Open Sans"/>
                <a:ea typeface="Open Sans"/>
                <a:cs typeface="Open Sans"/>
                <a:sym typeface="Open Sans"/>
              </a:rPr>
              <a:t>There is no standard framework to evaluate Q&amp;A-based interactive stories for quality, relevance, and engagement.</a:t>
            </a:r>
          </a:p>
        </p:txBody>
      </p:sp>
      <p:sp>
        <p:nvSpPr>
          <p:cNvPr name="TextBox 42" id="42"/>
          <p:cNvSpPr txBox="true"/>
          <p:nvPr/>
        </p:nvSpPr>
        <p:spPr>
          <a:xfrm rot="0">
            <a:off x="1251145" y="5563398"/>
            <a:ext cx="3354139" cy="514350"/>
          </a:xfrm>
          <a:prstGeom prst="rect">
            <a:avLst/>
          </a:prstGeom>
        </p:spPr>
        <p:txBody>
          <a:bodyPr anchor="t" rtlCol="false" tIns="0" lIns="0" bIns="0" rIns="0">
            <a:spAutoFit/>
          </a:bodyPr>
          <a:lstStyle/>
          <a:p>
            <a:pPr algn="ctr">
              <a:lnSpc>
                <a:spcPts val="4079"/>
              </a:lnSpc>
            </a:pPr>
            <a:r>
              <a:rPr lang="en-US" sz="3399" b="true">
                <a:solidFill>
                  <a:srgbClr val="7D4C84"/>
                </a:solidFill>
                <a:latin typeface="Open Sans Bold"/>
                <a:ea typeface="Open Sans Bold"/>
                <a:cs typeface="Open Sans Bold"/>
                <a:sym typeface="Open Sans Bold"/>
              </a:rPr>
              <a:t>Personalization</a:t>
            </a:r>
          </a:p>
        </p:txBody>
      </p:sp>
      <p:sp>
        <p:nvSpPr>
          <p:cNvPr name="TextBox 43" id="43"/>
          <p:cNvSpPr txBox="true"/>
          <p:nvPr/>
        </p:nvSpPr>
        <p:spPr>
          <a:xfrm rot="0">
            <a:off x="5925908" y="5563398"/>
            <a:ext cx="2293441" cy="514350"/>
          </a:xfrm>
          <a:prstGeom prst="rect">
            <a:avLst/>
          </a:prstGeom>
        </p:spPr>
        <p:txBody>
          <a:bodyPr anchor="t" rtlCol="false" tIns="0" lIns="0" bIns="0" rIns="0">
            <a:spAutoFit/>
          </a:bodyPr>
          <a:lstStyle/>
          <a:p>
            <a:pPr algn="ctr">
              <a:lnSpc>
                <a:spcPts val="4079"/>
              </a:lnSpc>
            </a:pPr>
            <a:r>
              <a:rPr lang="en-US" sz="3399" b="true">
                <a:solidFill>
                  <a:srgbClr val="8E699B"/>
                </a:solidFill>
                <a:latin typeface="Open Sans Bold"/>
                <a:ea typeface="Open Sans Bold"/>
                <a:cs typeface="Open Sans Bold"/>
                <a:sym typeface="Open Sans Bold"/>
              </a:rPr>
              <a:t>Coherence</a:t>
            </a:r>
          </a:p>
        </p:txBody>
      </p:sp>
      <p:sp>
        <p:nvSpPr>
          <p:cNvPr name="TextBox 44" id="44"/>
          <p:cNvSpPr txBox="true"/>
          <p:nvPr/>
        </p:nvSpPr>
        <p:spPr>
          <a:xfrm rot="0">
            <a:off x="10412626" y="5563398"/>
            <a:ext cx="1608832" cy="514350"/>
          </a:xfrm>
          <a:prstGeom prst="rect">
            <a:avLst/>
          </a:prstGeom>
        </p:spPr>
        <p:txBody>
          <a:bodyPr anchor="t" rtlCol="false" tIns="0" lIns="0" bIns="0" rIns="0">
            <a:spAutoFit/>
          </a:bodyPr>
          <a:lstStyle/>
          <a:p>
            <a:pPr algn="ctr">
              <a:lnSpc>
                <a:spcPts val="4079"/>
              </a:lnSpc>
            </a:pPr>
            <a:r>
              <a:rPr lang="en-US" sz="3399" b="true">
                <a:solidFill>
                  <a:srgbClr val="9F8AB0"/>
                </a:solidFill>
                <a:latin typeface="Open Sans Bold"/>
                <a:ea typeface="Open Sans Bold"/>
                <a:cs typeface="Open Sans Bold"/>
                <a:sym typeface="Open Sans Bold"/>
              </a:rPr>
              <a:t>Control</a:t>
            </a:r>
          </a:p>
        </p:txBody>
      </p:sp>
      <p:sp>
        <p:nvSpPr>
          <p:cNvPr name="TextBox 45" id="45"/>
          <p:cNvSpPr txBox="true"/>
          <p:nvPr/>
        </p:nvSpPr>
        <p:spPr>
          <a:xfrm rot="0">
            <a:off x="13611528" y="5563398"/>
            <a:ext cx="3552618" cy="514350"/>
          </a:xfrm>
          <a:prstGeom prst="rect">
            <a:avLst/>
          </a:prstGeom>
        </p:spPr>
        <p:txBody>
          <a:bodyPr anchor="t" rtlCol="false" tIns="0" lIns="0" bIns="0" rIns="0">
            <a:spAutoFit/>
          </a:bodyPr>
          <a:lstStyle/>
          <a:p>
            <a:pPr algn="ctr">
              <a:lnSpc>
                <a:spcPts val="4079"/>
              </a:lnSpc>
            </a:pPr>
            <a:r>
              <a:rPr lang="en-US" sz="3399" b="true">
                <a:solidFill>
                  <a:srgbClr val="627BA7"/>
                </a:solidFill>
                <a:latin typeface="Open Sans Bold"/>
                <a:ea typeface="Open Sans Bold"/>
                <a:cs typeface="Open Sans Bold"/>
                <a:sym typeface="Open Sans Bold"/>
              </a:rPr>
              <a:t>Evaluation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010234" y="653892"/>
            <a:ext cx="7638987" cy="3610050"/>
          </a:xfrm>
          <a:prstGeom prst="rect">
            <a:avLst/>
          </a:prstGeom>
        </p:spPr>
        <p:txBody>
          <a:bodyPr anchor="t" rtlCol="false" tIns="0" lIns="0" bIns="0" rIns="0">
            <a:spAutoFit/>
          </a:bodyPr>
          <a:lstStyle/>
          <a:p>
            <a:pPr algn="l">
              <a:lnSpc>
                <a:spcPts val="13065"/>
              </a:lnSpc>
            </a:pPr>
            <a:r>
              <a:rPr lang="en-US" b="true" sz="12325" spc="98">
                <a:solidFill>
                  <a:srgbClr val="7D4C84"/>
                </a:solidFill>
                <a:latin typeface="Futura Bold"/>
                <a:ea typeface="Futura Bold"/>
                <a:cs typeface="Futura Bold"/>
                <a:sym typeface="Futura Bold"/>
              </a:rPr>
              <a:t>problem statement</a:t>
            </a:r>
          </a:p>
        </p:txBody>
      </p:sp>
      <p:sp>
        <p:nvSpPr>
          <p:cNvPr name="TextBox 4" id="4"/>
          <p:cNvSpPr txBox="true"/>
          <p:nvPr/>
        </p:nvSpPr>
        <p:spPr>
          <a:xfrm rot="-5400000">
            <a:off x="11326231" y="3325231"/>
            <a:ext cx="10287000" cy="3636537"/>
          </a:xfrm>
          <a:prstGeom prst="rect">
            <a:avLst/>
          </a:prstGeom>
        </p:spPr>
        <p:txBody>
          <a:bodyPr anchor="t" rtlCol="false" tIns="0" lIns="0" bIns="0" rIns="0">
            <a:spAutoFit/>
          </a:bodyPr>
          <a:lstStyle/>
          <a:p>
            <a:pPr algn="ctr">
              <a:lnSpc>
                <a:spcPts val="12612"/>
              </a:lnSpc>
            </a:pPr>
            <a:r>
              <a:rPr lang="en-US" b="true" sz="14497" spc="2319">
                <a:solidFill>
                  <a:srgbClr val="041226">
                    <a:alpha val="4706"/>
                  </a:srgbClr>
                </a:solidFill>
                <a:latin typeface="Futura Bold"/>
                <a:ea typeface="Futura Bold"/>
                <a:cs typeface="Futura Bold"/>
                <a:sym typeface="Futura Bold"/>
              </a:rPr>
              <a:t>problem statement</a:t>
            </a:r>
          </a:p>
        </p:txBody>
      </p:sp>
      <p:sp>
        <p:nvSpPr>
          <p:cNvPr name="TextBox 5" id="5"/>
          <p:cNvSpPr txBox="true"/>
          <p:nvPr/>
        </p:nvSpPr>
        <p:spPr>
          <a:xfrm rot="0">
            <a:off x="2010234" y="4225842"/>
            <a:ext cx="11780655" cy="3416464"/>
          </a:xfrm>
          <a:prstGeom prst="rect">
            <a:avLst/>
          </a:prstGeom>
        </p:spPr>
        <p:txBody>
          <a:bodyPr anchor="t" rtlCol="false" tIns="0" lIns="0" bIns="0" rIns="0">
            <a:spAutoFit/>
          </a:bodyPr>
          <a:lstStyle/>
          <a:p>
            <a:pPr algn="just">
              <a:lnSpc>
                <a:spcPts val="2780"/>
              </a:lnSpc>
              <a:spcBef>
                <a:spcPct val="0"/>
              </a:spcBef>
            </a:pPr>
            <a:r>
              <a:rPr lang="en-US" sz="1986">
                <a:solidFill>
                  <a:srgbClr val="4D4D4D"/>
                </a:solidFill>
                <a:latin typeface="Montserrat"/>
                <a:ea typeface="Montserrat"/>
                <a:cs typeface="Montserrat"/>
                <a:sym typeface="Montserrat"/>
              </a:rPr>
              <a:t>Despite major progress in generative AI and large language models, current story-generation systems are still mostly prompt based and do not use structured question and answer inputs to build meaningful narratives. Existing models are unable to convert step by step user responses into coherent, personalized and context rich stories. They often lose narrative consistency in plot, characters and emotional flow when multiple user inputs are involved, which results in generic or fragmented storytelling. There is also no clear framework that allows users to control the story’s theme, tone, genre or direction through an interactive question and answer process. These limitations show the need for an intelligent system that can capture user responses in real time and generate high quality personalized stories with strong coherence, better control and improved narrative alignment.</a:t>
            </a:r>
          </a:p>
        </p:txBody>
      </p:sp>
      <p:sp>
        <p:nvSpPr>
          <p:cNvPr name="Freeform 6" id="6"/>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2846557">
            <a:off x="11395033" y="4716552"/>
            <a:ext cx="18651033" cy="6178155"/>
          </a:xfrm>
          <a:custGeom>
            <a:avLst/>
            <a:gdLst/>
            <a:ahLst/>
            <a:cxnLst/>
            <a:rect r="r" b="b" t="t" l="l"/>
            <a:pathLst>
              <a:path h="6178155" w="18651033">
                <a:moveTo>
                  <a:pt x="0" y="6178154"/>
                </a:moveTo>
                <a:lnTo>
                  <a:pt x="18651032" y="6178154"/>
                </a:lnTo>
                <a:lnTo>
                  <a:pt x="18651032" y="0"/>
                </a:lnTo>
                <a:lnTo>
                  <a:pt x="0" y="0"/>
                </a:lnTo>
                <a:lnTo>
                  <a:pt x="0" y="6178154"/>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56401" y="3515527"/>
            <a:ext cx="3559870" cy="4927918"/>
            <a:chOff x="0" y="0"/>
            <a:chExt cx="937579" cy="1297888"/>
          </a:xfrm>
        </p:grpSpPr>
        <p:sp>
          <p:nvSpPr>
            <p:cNvPr name="Freeform 6" id="6"/>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7" id="7"/>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5394093" y="3515527"/>
            <a:ext cx="3559870" cy="4927918"/>
            <a:chOff x="0" y="0"/>
            <a:chExt cx="937579" cy="1297888"/>
          </a:xfrm>
        </p:grpSpPr>
        <p:sp>
          <p:nvSpPr>
            <p:cNvPr name="Freeform 9" id="9"/>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0" id="10"/>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333012" y="3515527"/>
            <a:ext cx="3559870" cy="4927918"/>
            <a:chOff x="0" y="0"/>
            <a:chExt cx="937579" cy="1297888"/>
          </a:xfrm>
        </p:grpSpPr>
        <p:sp>
          <p:nvSpPr>
            <p:cNvPr name="Freeform 12" id="12"/>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3" id="13"/>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13271729" y="3515527"/>
            <a:ext cx="3559870" cy="4927918"/>
            <a:chOff x="0" y="0"/>
            <a:chExt cx="937579" cy="1297888"/>
          </a:xfrm>
        </p:grpSpPr>
        <p:sp>
          <p:nvSpPr>
            <p:cNvPr name="Freeform 15" id="15"/>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6" id="16"/>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sp>
        <p:nvSpPr>
          <p:cNvPr name="Freeform 17" id="17"/>
          <p:cNvSpPr/>
          <p:nvPr/>
        </p:nvSpPr>
        <p:spPr>
          <a:xfrm flipH="false" flipV="false" rot="0">
            <a:off x="2288182" y="4084612"/>
            <a:ext cx="2499193" cy="2499193"/>
          </a:xfrm>
          <a:custGeom>
            <a:avLst/>
            <a:gdLst/>
            <a:ahLst/>
            <a:cxnLst/>
            <a:rect r="r" b="b" t="t" l="l"/>
            <a:pathLst>
              <a:path h="2499193" w="2499193">
                <a:moveTo>
                  <a:pt x="0" y="0"/>
                </a:moveTo>
                <a:lnTo>
                  <a:pt x="2499192" y="0"/>
                </a:lnTo>
                <a:lnTo>
                  <a:pt x="2499192"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8" id="18"/>
          <p:cNvSpPr/>
          <p:nvPr/>
        </p:nvSpPr>
        <p:spPr>
          <a:xfrm flipH="false" flipV="false" rot="0">
            <a:off x="6210271" y="4084612"/>
            <a:ext cx="2499193" cy="2499193"/>
          </a:xfrm>
          <a:custGeom>
            <a:avLst/>
            <a:gdLst/>
            <a:ahLst/>
            <a:cxnLst/>
            <a:rect r="r" b="b" t="t" l="l"/>
            <a:pathLst>
              <a:path h="2499193" w="2499193">
                <a:moveTo>
                  <a:pt x="0" y="0"/>
                </a:moveTo>
                <a:lnTo>
                  <a:pt x="2499193" y="0"/>
                </a:lnTo>
                <a:lnTo>
                  <a:pt x="2499193"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9" id="19"/>
          <p:cNvGrpSpPr/>
          <p:nvPr/>
        </p:nvGrpSpPr>
        <p:grpSpPr>
          <a:xfrm rot="0">
            <a:off x="2151535" y="3949001"/>
            <a:ext cx="2169603" cy="216960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14300" cap="sq">
              <a:solidFill>
                <a:srgbClr val="FFFFFF"/>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2" id="22"/>
          <p:cNvGrpSpPr/>
          <p:nvPr/>
        </p:nvGrpSpPr>
        <p:grpSpPr>
          <a:xfrm rot="0">
            <a:off x="6089227" y="3949001"/>
            <a:ext cx="2169603" cy="216960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14300" cap="sq">
              <a:solidFill>
                <a:srgbClr val="FFFFFF"/>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5" id="25"/>
          <p:cNvSpPr/>
          <p:nvPr/>
        </p:nvSpPr>
        <p:spPr>
          <a:xfrm flipH="false" flipV="false" rot="0">
            <a:off x="10132361" y="4084612"/>
            <a:ext cx="2499193" cy="2499193"/>
          </a:xfrm>
          <a:custGeom>
            <a:avLst/>
            <a:gdLst/>
            <a:ahLst/>
            <a:cxnLst/>
            <a:rect r="r" b="b" t="t" l="l"/>
            <a:pathLst>
              <a:path h="2499193" w="2499193">
                <a:moveTo>
                  <a:pt x="0" y="0"/>
                </a:moveTo>
                <a:lnTo>
                  <a:pt x="2499192" y="0"/>
                </a:lnTo>
                <a:lnTo>
                  <a:pt x="2499192"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6" id="26"/>
          <p:cNvGrpSpPr/>
          <p:nvPr/>
        </p:nvGrpSpPr>
        <p:grpSpPr>
          <a:xfrm rot="0">
            <a:off x="10028044" y="3949001"/>
            <a:ext cx="2169603" cy="216960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14300" cap="sq">
              <a:solidFill>
                <a:srgbClr val="FFFFFF"/>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9" id="29"/>
          <p:cNvSpPr/>
          <p:nvPr/>
        </p:nvSpPr>
        <p:spPr>
          <a:xfrm flipH="false" flipV="false" rot="0">
            <a:off x="14054450" y="4084612"/>
            <a:ext cx="2499193" cy="2499193"/>
          </a:xfrm>
          <a:custGeom>
            <a:avLst/>
            <a:gdLst/>
            <a:ahLst/>
            <a:cxnLst/>
            <a:rect r="r" b="b" t="t" l="l"/>
            <a:pathLst>
              <a:path h="2499193" w="2499193">
                <a:moveTo>
                  <a:pt x="0" y="0"/>
                </a:moveTo>
                <a:lnTo>
                  <a:pt x="2499193" y="0"/>
                </a:lnTo>
                <a:lnTo>
                  <a:pt x="2499193"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0" id="30"/>
          <p:cNvGrpSpPr/>
          <p:nvPr/>
        </p:nvGrpSpPr>
        <p:grpSpPr>
          <a:xfrm rot="0">
            <a:off x="13969207" y="3949001"/>
            <a:ext cx="2169603" cy="216960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14300" cap="sq">
              <a:solidFill>
                <a:srgbClr val="FFFFFF"/>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3" id="33"/>
          <p:cNvSpPr/>
          <p:nvPr/>
        </p:nvSpPr>
        <p:spPr>
          <a:xfrm flipH="false" flipV="false" rot="0">
            <a:off x="2850229" y="4583532"/>
            <a:ext cx="762000" cy="888630"/>
          </a:xfrm>
          <a:custGeom>
            <a:avLst/>
            <a:gdLst/>
            <a:ahLst/>
            <a:cxnLst/>
            <a:rect r="r" b="b" t="t" l="l"/>
            <a:pathLst>
              <a:path h="888630" w="762000">
                <a:moveTo>
                  <a:pt x="0" y="0"/>
                </a:moveTo>
                <a:lnTo>
                  <a:pt x="762000" y="0"/>
                </a:lnTo>
                <a:lnTo>
                  <a:pt x="762000" y="888629"/>
                </a:lnTo>
                <a:lnTo>
                  <a:pt x="0" y="8886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6658372" y="4555889"/>
            <a:ext cx="1028700" cy="991410"/>
          </a:xfrm>
          <a:custGeom>
            <a:avLst/>
            <a:gdLst/>
            <a:ahLst/>
            <a:cxnLst/>
            <a:rect r="r" b="b" t="t" l="l"/>
            <a:pathLst>
              <a:path h="991410" w="1028700">
                <a:moveTo>
                  <a:pt x="0" y="0"/>
                </a:moveTo>
                <a:lnTo>
                  <a:pt x="1028700" y="0"/>
                </a:lnTo>
                <a:lnTo>
                  <a:pt x="1028700" y="991409"/>
                </a:lnTo>
                <a:lnTo>
                  <a:pt x="0" y="9914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0598597" y="4532142"/>
            <a:ext cx="1028700" cy="991410"/>
          </a:xfrm>
          <a:custGeom>
            <a:avLst/>
            <a:gdLst/>
            <a:ahLst/>
            <a:cxnLst/>
            <a:rect r="r" b="b" t="t" l="l"/>
            <a:pathLst>
              <a:path h="991410" w="1028700">
                <a:moveTo>
                  <a:pt x="0" y="0"/>
                </a:moveTo>
                <a:lnTo>
                  <a:pt x="1028700" y="0"/>
                </a:lnTo>
                <a:lnTo>
                  <a:pt x="1028700" y="991409"/>
                </a:lnTo>
                <a:lnTo>
                  <a:pt x="0" y="99140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false" flipV="false" rot="0">
            <a:off x="14577758" y="461010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4321138" y="1667103"/>
            <a:ext cx="9645724"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Research Objec</a:t>
            </a:r>
            <a:r>
              <a:rPr lang="en-US" sz="5400" b="true">
                <a:solidFill>
                  <a:srgbClr val="000000"/>
                </a:solidFill>
                <a:latin typeface="Telegraf Bold"/>
                <a:ea typeface="Telegraf Bold"/>
                <a:cs typeface="Telegraf Bold"/>
                <a:sym typeface="Telegraf Bold"/>
              </a:rPr>
              <a:t>tives</a:t>
            </a:r>
          </a:p>
        </p:txBody>
      </p:sp>
      <p:sp>
        <p:nvSpPr>
          <p:cNvPr name="TextBox 38" id="38"/>
          <p:cNvSpPr txBox="true"/>
          <p:nvPr/>
        </p:nvSpPr>
        <p:spPr>
          <a:xfrm rot="0">
            <a:off x="1783412" y="6545705"/>
            <a:ext cx="2895635" cy="12344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Structured Input Design</a:t>
            </a:r>
          </a:p>
          <a:p>
            <a:pPr algn="ctr">
              <a:lnSpc>
                <a:spcPts val="3359"/>
              </a:lnSpc>
            </a:pPr>
          </a:p>
        </p:txBody>
      </p:sp>
      <p:sp>
        <p:nvSpPr>
          <p:cNvPr name="TextBox 39" id="39"/>
          <p:cNvSpPr txBox="true"/>
          <p:nvPr/>
        </p:nvSpPr>
        <p:spPr>
          <a:xfrm rot="0">
            <a:off x="5726824" y="6545705"/>
            <a:ext cx="2895635"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Personalized Story Generation</a:t>
            </a:r>
          </a:p>
        </p:txBody>
      </p:sp>
      <p:sp>
        <p:nvSpPr>
          <p:cNvPr name="TextBox 40" id="40"/>
          <p:cNvSpPr txBox="true"/>
          <p:nvPr/>
        </p:nvSpPr>
        <p:spPr>
          <a:xfrm rot="0">
            <a:off x="9665029" y="6545705"/>
            <a:ext cx="2895635"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Narrative Coherence Control</a:t>
            </a:r>
          </a:p>
        </p:txBody>
      </p:sp>
      <p:sp>
        <p:nvSpPr>
          <p:cNvPr name="TextBox 41" id="41"/>
          <p:cNvSpPr txBox="true"/>
          <p:nvPr/>
        </p:nvSpPr>
        <p:spPr>
          <a:xfrm rot="0">
            <a:off x="13695602" y="6545705"/>
            <a:ext cx="271212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Story Quality Evaluation</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7670122">
            <a:off x="-9572563" y="-2462152"/>
            <a:ext cx="21076842" cy="6981704"/>
          </a:xfrm>
          <a:custGeom>
            <a:avLst/>
            <a:gdLst/>
            <a:ahLst/>
            <a:cxnLst/>
            <a:rect r="r" b="b" t="t" l="l"/>
            <a:pathLst>
              <a:path h="6981704" w="21076842">
                <a:moveTo>
                  <a:pt x="21076843" y="6981704"/>
                </a:moveTo>
                <a:lnTo>
                  <a:pt x="0" y="6981704"/>
                </a:lnTo>
                <a:lnTo>
                  <a:pt x="0" y="0"/>
                </a:lnTo>
                <a:lnTo>
                  <a:pt x="21076843" y="0"/>
                </a:lnTo>
                <a:lnTo>
                  <a:pt x="21076843" y="6981704"/>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10800000">
            <a:off x="13738656" y="5299061"/>
            <a:ext cx="3042895" cy="3269879"/>
            <a:chOff x="0" y="0"/>
            <a:chExt cx="660400" cy="709662"/>
          </a:xfrm>
        </p:grpSpPr>
        <p:sp>
          <p:nvSpPr>
            <p:cNvPr name="Freeform 5" id="5"/>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6" id="6"/>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14414537" y="6081868"/>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8" id="8"/>
          <p:cNvGrpSpPr/>
          <p:nvPr/>
        </p:nvGrpSpPr>
        <p:grpSpPr>
          <a:xfrm rot="-10800000">
            <a:off x="14073159" y="5841635"/>
            <a:ext cx="2373887" cy="237388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8F8F5"/>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661846" y="3332770"/>
            <a:ext cx="3042895" cy="3269879"/>
            <a:chOff x="0" y="0"/>
            <a:chExt cx="660400" cy="709662"/>
          </a:xfrm>
        </p:grpSpPr>
        <p:sp>
          <p:nvSpPr>
            <p:cNvPr name="Freeform 12" id="12"/>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13" id="13"/>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14" id="14"/>
          <p:cNvSpPr/>
          <p:nvPr/>
        </p:nvSpPr>
        <p:spPr>
          <a:xfrm flipH="false" flipV="false" rot="2053962">
            <a:off x="11554288" y="5743829"/>
            <a:ext cx="2540637" cy="327107"/>
          </a:xfrm>
          <a:custGeom>
            <a:avLst/>
            <a:gdLst/>
            <a:ahLst/>
            <a:cxnLst/>
            <a:rect r="r" b="b" t="t" l="l"/>
            <a:pathLst>
              <a:path h="327107" w="2540637">
                <a:moveTo>
                  <a:pt x="0" y="0"/>
                </a:moveTo>
                <a:lnTo>
                  <a:pt x="2540637" y="0"/>
                </a:lnTo>
                <a:lnTo>
                  <a:pt x="2540637"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0310888" y="4059474"/>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6" id="16"/>
          <p:cNvGrpSpPr/>
          <p:nvPr/>
        </p:nvGrpSpPr>
        <p:grpSpPr>
          <a:xfrm rot="0">
            <a:off x="9996350" y="3707981"/>
            <a:ext cx="2373887" cy="237388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52400" cap="sq">
              <a:solidFill>
                <a:srgbClr val="FFFFFF"/>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10800000">
            <a:off x="5585037" y="5299061"/>
            <a:ext cx="3042895" cy="3269879"/>
            <a:chOff x="0" y="0"/>
            <a:chExt cx="660400" cy="709662"/>
          </a:xfrm>
        </p:grpSpPr>
        <p:sp>
          <p:nvSpPr>
            <p:cNvPr name="Freeform 20" id="20"/>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21" id="21"/>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2237460">
            <a:off x="7545958" y="5889229"/>
            <a:ext cx="2540637" cy="327107"/>
          </a:xfrm>
          <a:custGeom>
            <a:avLst/>
            <a:gdLst/>
            <a:ahLst/>
            <a:cxnLst/>
            <a:rect r="r" b="b" t="t" l="l"/>
            <a:pathLst>
              <a:path h="327107" w="2540637">
                <a:moveTo>
                  <a:pt x="0" y="0"/>
                </a:moveTo>
                <a:lnTo>
                  <a:pt x="2540637" y="0"/>
                </a:lnTo>
                <a:lnTo>
                  <a:pt x="2540637"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6292151" y="6016240"/>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4" id="24"/>
          <p:cNvGrpSpPr/>
          <p:nvPr/>
        </p:nvGrpSpPr>
        <p:grpSpPr>
          <a:xfrm rot="-10800000">
            <a:off x="5919541" y="5841635"/>
            <a:ext cx="2373887" cy="237388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52400" cap="sq">
              <a:solidFill>
                <a:srgbClr val="FFFFFF"/>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1496925" y="3332770"/>
            <a:ext cx="3042895" cy="3269879"/>
            <a:chOff x="0" y="0"/>
            <a:chExt cx="660400" cy="709662"/>
          </a:xfrm>
        </p:grpSpPr>
        <p:sp>
          <p:nvSpPr>
            <p:cNvPr name="Freeform 28" id="28"/>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29" id="29"/>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30" id="30"/>
          <p:cNvSpPr/>
          <p:nvPr/>
        </p:nvSpPr>
        <p:spPr>
          <a:xfrm flipH="false" flipV="false" rot="2053962">
            <a:off x="3407081" y="5743829"/>
            <a:ext cx="2540637" cy="327107"/>
          </a:xfrm>
          <a:custGeom>
            <a:avLst/>
            <a:gdLst/>
            <a:ahLst/>
            <a:cxnLst/>
            <a:rect r="r" b="b" t="t" l="l"/>
            <a:pathLst>
              <a:path h="327107" w="2540637">
                <a:moveTo>
                  <a:pt x="0" y="0"/>
                </a:moveTo>
                <a:lnTo>
                  <a:pt x="2540638" y="0"/>
                </a:lnTo>
                <a:lnTo>
                  <a:pt x="2540638"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0">
            <a:off x="2134225" y="4022711"/>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2" id="32"/>
          <p:cNvGrpSpPr/>
          <p:nvPr/>
        </p:nvGrpSpPr>
        <p:grpSpPr>
          <a:xfrm rot="0">
            <a:off x="1840953" y="3707981"/>
            <a:ext cx="2373887" cy="237388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5" id="35"/>
          <p:cNvSpPr/>
          <p:nvPr/>
        </p:nvSpPr>
        <p:spPr>
          <a:xfrm flipH="false" flipV="false" rot="0">
            <a:off x="2535019" y="4434668"/>
            <a:ext cx="1009650" cy="1010914"/>
          </a:xfrm>
          <a:custGeom>
            <a:avLst/>
            <a:gdLst/>
            <a:ahLst/>
            <a:cxnLst/>
            <a:rect r="r" b="b" t="t" l="l"/>
            <a:pathLst>
              <a:path h="1010914" w="1009650">
                <a:moveTo>
                  <a:pt x="0" y="0"/>
                </a:moveTo>
                <a:lnTo>
                  <a:pt x="1009650" y="0"/>
                </a:lnTo>
                <a:lnTo>
                  <a:pt x="1009650" y="1010913"/>
                </a:lnTo>
                <a:lnTo>
                  <a:pt x="0" y="101091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6" id="36"/>
          <p:cNvSpPr/>
          <p:nvPr/>
        </p:nvSpPr>
        <p:spPr>
          <a:xfrm flipH="false" flipV="false" rot="0">
            <a:off x="6534985" y="6457079"/>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7" id="37"/>
          <p:cNvSpPr/>
          <p:nvPr/>
        </p:nvSpPr>
        <p:spPr>
          <a:xfrm flipH="false" flipV="false" rot="0">
            <a:off x="14755278" y="6447419"/>
            <a:ext cx="1009650" cy="1068413"/>
          </a:xfrm>
          <a:custGeom>
            <a:avLst/>
            <a:gdLst/>
            <a:ahLst/>
            <a:cxnLst/>
            <a:rect r="r" b="b" t="t" l="l"/>
            <a:pathLst>
              <a:path h="1068413" w="1009650">
                <a:moveTo>
                  <a:pt x="0" y="0"/>
                </a:moveTo>
                <a:lnTo>
                  <a:pt x="1009650" y="0"/>
                </a:lnTo>
                <a:lnTo>
                  <a:pt x="1009650" y="1068413"/>
                </a:lnTo>
                <a:lnTo>
                  <a:pt x="0" y="10684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8" id="38"/>
          <p:cNvSpPr/>
          <p:nvPr/>
        </p:nvSpPr>
        <p:spPr>
          <a:xfrm flipH="false" flipV="false" rot="0">
            <a:off x="10648608" y="4434668"/>
            <a:ext cx="1009650" cy="945285"/>
          </a:xfrm>
          <a:custGeom>
            <a:avLst/>
            <a:gdLst/>
            <a:ahLst/>
            <a:cxnLst/>
            <a:rect r="r" b="b" t="t" l="l"/>
            <a:pathLst>
              <a:path h="945285" w="1009650">
                <a:moveTo>
                  <a:pt x="0" y="0"/>
                </a:moveTo>
                <a:lnTo>
                  <a:pt x="1009650" y="0"/>
                </a:lnTo>
                <a:lnTo>
                  <a:pt x="1009650" y="945285"/>
                </a:lnTo>
                <a:lnTo>
                  <a:pt x="0" y="94528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9" id="39"/>
          <p:cNvSpPr txBox="true"/>
          <p:nvPr/>
        </p:nvSpPr>
        <p:spPr>
          <a:xfrm rot="0">
            <a:off x="4321138" y="1351752"/>
            <a:ext cx="9645724" cy="830580"/>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Proposed System</a:t>
            </a:r>
          </a:p>
        </p:txBody>
      </p:sp>
      <p:sp>
        <p:nvSpPr>
          <p:cNvPr name="TextBox 40" id="40"/>
          <p:cNvSpPr txBox="true"/>
          <p:nvPr/>
        </p:nvSpPr>
        <p:spPr>
          <a:xfrm rot="0">
            <a:off x="1680471" y="706667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User Input Acquisition</a:t>
            </a:r>
          </a:p>
        </p:txBody>
      </p:sp>
      <p:sp>
        <p:nvSpPr>
          <p:cNvPr name="TextBox 41" id="41"/>
          <p:cNvSpPr txBox="true"/>
          <p:nvPr/>
        </p:nvSpPr>
        <p:spPr>
          <a:xfrm rot="0">
            <a:off x="5759058" y="357475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Context Extraction Engine</a:t>
            </a:r>
          </a:p>
        </p:txBody>
      </p:sp>
      <p:sp>
        <p:nvSpPr>
          <p:cNvPr name="TextBox 42" id="42"/>
          <p:cNvSpPr txBox="true"/>
          <p:nvPr/>
        </p:nvSpPr>
        <p:spPr>
          <a:xfrm rot="0">
            <a:off x="9940642" y="7095254"/>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LLM-Based Story Generator</a:t>
            </a:r>
          </a:p>
        </p:txBody>
      </p:sp>
      <p:sp>
        <p:nvSpPr>
          <p:cNvPr name="TextBox 43" id="43"/>
          <p:cNvSpPr txBox="true"/>
          <p:nvPr/>
        </p:nvSpPr>
        <p:spPr>
          <a:xfrm rot="0">
            <a:off x="13912676" y="389860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Output Delivery &amp; Integration</a:t>
            </a:r>
          </a:p>
        </p:txBody>
      </p:sp>
      <p:sp>
        <p:nvSpPr>
          <p:cNvPr name="Freeform 44" id="44"/>
          <p:cNvSpPr/>
          <p:nvPr/>
        </p:nvSpPr>
        <p:spPr>
          <a:xfrm flipH="false" flipV="false" rot="-1879609">
            <a:off x="14335459" y="-2639664"/>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
        <p:nvSpPr>
          <p:cNvPr name="Freeform 45" id="45"/>
          <p:cNvSpPr/>
          <p:nvPr/>
        </p:nvSpPr>
        <p:spPr>
          <a:xfrm flipH="false" flipV="false" rot="7093762">
            <a:off x="13094138" y="8467516"/>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TextBox 37" id="37"/>
          <p:cNvSpPr txBox="true"/>
          <p:nvPr/>
        </p:nvSpPr>
        <p:spPr>
          <a:xfrm rot="0">
            <a:off x="914400" y="777240"/>
            <a:ext cx="16459200"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Methodology</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id="43" name="TextBox 42"/>
          <p:cNvSpPr txBox="1"/>
          <p:nvPr/>
        </p:nvSpPr>
        <p:spPr>
          <a:xfrm>
            <a:off x="914400" y="2194560"/>
            <a:ext cx="16459200" cy="411480"/>
          </a:xfrm>
          <a:prstGeom prst="rect">
            <a:avLst/>
          </a:prstGeom>
          <a:noFill/>
        </p:spPr>
        <p:txBody>
          <a:bodyPr wrap="square" lIns="0" rIns="0" tIns="0" bIns="0" anchor="t">
            <a:spAutoFit/>
          </a:bodyPr>
          <a:lstStyle/>
          <a:p>
            <a:pPr algn="l"/>
            <a:r>
              <a:rPr sz="1800" i="0">
                <a:solidFill>
                  <a:srgbClr val="000000"/>
                </a:solidFill>
                <a:latin typeface="Open Sans Bold"/>
              </a:rPr>
              <a:t>Processing pipeline: from the user's answers to a finished multimodal chapter</a:t>
            </a:r>
          </a:p>
        </p:txBody>
      </p:sp>
      <p:sp>
        <p:nvSpPr>
          <p:cNvPr id="44" name="Rounded Rectangle 43"/>
          <p:cNvSpPr/>
          <p:nvPr/>
        </p:nvSpPr>
        <p:spPr>
          <a:xfrm>
            <a:off x="914400"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531619" y="2971800"/>
            <a:ext cx="868680" cy="86868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01</a:t>
            </a:r>
          </a:p>
        </p:txBody>
      </p:sp>
      <p:sp>
        <p:nvSpPr>
          <p:cNvPr id="46" name="TextBox 45"/>
          <p:cNvSpPr txBox="1"/>
          <p:nvPr/>
        </p:nvSpPr>
        <p:spPr>
          <a:xfrm>
            <a:off x="1051560"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Q&amp;A Elicitation</a:t>
            </a:r>
          </a:p>
        </p:txBody>
      </p:sp>
      <p:sp>
        <p:nvSpPr>
          <p:cNvPr id="47" name="TextBox 46"/>
          <p:cNvSpPr txBox="1"/>
          <p:nvPr/>
        </p:nvSpPr>
        <p:spPr>
          <a:xfrm>
            <a:off x="1051560"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17 questions in 4 phases; budgets of 4, 8, 12 or 17</a:t>
            </a:r>
          </a:p>
        </p:txBody>
      </p:sp>
      <p:sp>
        <p:nvSpPr>
          <p:cNvPr id="48" name="Rounded Rectangle 47"/>
          <p:cNvSpPr/>
          <p:nvPr/>
        </p:nvSpPr>
        <p:spPr>
          <a:xfrm>
            <a:off x="329183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3909059" y="2971800"/>
            <a:ext cx="868680" cy="86868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02</a:t>
            </a:r>
          </a:p>
        </p:txBody>
      </p:sp>
      <p:sp>
        <p:nvSpPr>
          <p:cNvPr id="50" name="TextBox 49"/>
          <p:cNvSpPr txBox="1"/>
          <p:nvPr/>
        </p:nvSpPr>
        <p:spPr>
          <a:xfrm>
            <a:off x="3428999"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Context Extraction</a:t>
            </a:r>
          </a:p>
        </p:txBody>
      </p:sp>
      <p:sp>
        <p:nvSpPr>
          <p:cNvPr id="51" name="TextBox 50"/>
          <p:cNvSpPr txBox="1"/>
          <p:nvPr/>
        </p:nvSpPr>
        <p:spPr>
          <a:xfrm>
            <a:off x="3428999"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Answers mapped to a typed StoryContext</a:t>
            </a:r>
          </a:p>
        </p:txBody>
      </p:sp>
      <p:sp>
        <p:nvSpPr>
          <p:cNvPr id="52" name="Rounded Rectangle 51"/>
          <p:cNvSpPr/>
          <p:nvPr/>
        </p:nvSpPr>
        <p:spPr>
          <a:xfrm>
            <a:off x="566927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6286499" y="2971800"/>
            <a:ext cx="868680" cy="868680"/>
          </a:xfrm>
          <a:prstGeom prst="ellipse">
            <a:avLst/>
          </a:prstGeom>
          <a:solidFill>
            <a:srgbClr val="9F8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03</a:t>
            </a:r>
          </a:p>
        </p:txBody>
      </p:sp>
      <p:sp>
        <p:nvSpPr>
          <p:cNvPr id="54" name="TextBox 53"/>
          <p:cNvSpPr txBox="1"/>
          <p:nvPr/>
        </p:nvSpPr>
        <p:spPr>
          <a:xfrm>
            <a:off x="5806440"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Knowledge &amp; Memory</a:t>
            </a:r>
          </a:p>
        </p:txBody>
      </p:sp>
      <p:sp>
        <p:nvSpPr>
          <p:cNvPr id="55" name="TextBox 54"/>
          <p:cNvSpPr txBox="1"/>
          <p:nvPr/>
        </p:nvSpPr>
        <p:spPr>
          <a:xfrm>
            <a:off x="5806440"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SQLite + LRU cache; last 4 segments as context</a:t>
            </a:r>
          </a:p>
        </p:txBody>
      </p:sp>
      <p:sp>
        <p:nvSpPr>
          <p:cNvPr id="56" name="Rounded Rectangle 55"/>
          <p:cNvSpPr/>
          <p:nvPr/>
        </p:nvSpPr>
        <p:spPr>
          <a:xfrm>
            <a:off x="804671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663940" y="2971800"/>
            <a:ext cx="868680" cy="868680"/>
          </a:xfrm>
          <a:prstGeom prst="ellipse">
            <a:avLst/>
          </a:prstGeom>
          <a:solidFill>
            <a:srgbClr val="627B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04</a:t>
            </a:r>
          </a:p>
        </p:txBody>
      </p:sp>
      <p:sp>
        <p:nvSpPr>
          <p:cNvPr id="58" name="TextBox 57"/>
          <p:cNvSpPr txBox="1"/>
          <p:nvPr/>
        </p:nvSpPr>
        <p:spPr>
          <a:xfrm>
            <a:off x="8183879"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Prompt Engineering</a:t>
            </a:r>
          </a:p>
        </p:txBody>
      </p:sp>
      <p:sp>
        <p:nvSpPr>
          <p:cNvPr id="59" name="TextBox 58"/>
          <p:cNvSpPr txBox="1"/>
          <p:nvPr/>
        </p:nvSpPr>
        <p:spPr>
          <a:xfrm>
            <a:off x="8183879"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6 phase-aware templates + user preferences</a:t>
            </a:r>
          </a:p>
        </p:txBody>
      </p:sp>
      <p:sp>
        <p:nvSpPr>
          <p:cNvPr id="60" name="Rounded Rectangle 59"/>
          <p:cNvSpPr/>
          <p:nvPr/>
        </p:nvSpPr>
        <p:spPr>
          <a:xfrm>
            <a:off x="1042415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11041380" y="2971800"/>
            <a:ext cx="868680" cy="86868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05</a:t>
            </a:r>
          </a:p>
        </p:txBody>
      </p:sp>
      <p:sp>
        <p:nvSpPr>
          <p:cNvPr id="62" name="TextBox 61"/>
          <p:cNvSpPr txBox="1"/>
          <p:nvPr/>
        </p:nvSpPr>
        <p:spPr>
          <a:xfrm>
            <a:off x="10561319"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LLM Generation</a:t>
            </a:r>
          </a:p>
        </p:txBody>
      </p:sp>
      <p:sp>
        <p:nvSpPr>
          <p:cNvPr id="63" name="TextBox 62"/>
          <p:cNvSpPr txBox="1"/>
          <p:nvPr/>
        </p:nvSpPr>
        <p:spPr>
          <a:xfrm>
            <a:off x="10561319"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Ollama, Groq, Hugging Face or OpenAI</a:t>
            </a:r>
          </a:p>
        </p:txBody>
      </p:sp>
      <p:sp>
        <p:nvSpPr>
          <p:cNvPr id="64" name="Rounded Rectangle 63"/>
          <p:cNvSpPr/>
          <p:nvPr/>
        </p:nvSpPr>
        <p:spPr>
          <a:xfrm>
            <a:off x="1280159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13418819" y="2971800"/>
            <a:ext cx="868680" cy="86868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06</a:t>
            </a:r>
          </a:p>
        </p:txBody>
      </p:sp>
      <p:sp>
        <p:nvSpPr>
          <p:cNvPr id="66" name="TextBox 65"/>
          <p:cNvSpPr txBox="1"/>
          <p:nvPr/>
        </p:nvSpPr>
        <p:spPr>
          <a:xfrm>
            <a:off x="12938759"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Flow &amp; Consistency</a:t>
            </a:r>
          </a:p>
        </p:txBody>
      </p:sp>
      <p:sp>
        <p:nvSpPr>
          <p:cNvPr id="67" name="TextBox 66"/>
          <p:cNvSpPr txBox="1"/>
          <p:nvPr/>
        </p:nvSpPr>
        <p:spPr>
          <a:xfrm>
            <a:off x="12938759"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Freytag state machine; character and plot trackers</a:t>
            </a:r>
          </a:p>
        </p:txBody>
      </p:sp>
      <p:sp>
        <p:nvSpPr>
          <p:cNvPr id="68" name="Rounded Rectangle 67"/>
          <p:cNvSpPr/>
          <p:nvPr/>
        </p:nvSpPr>
        <p:spPr>
          <a:xfrm>
            <a:off x="15179039" y="2743200"/>
            <a:ext cx="2103120" cy="2971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15796259" y="2971800"/>
            <a:ext cx="868680" cy="868680"/>
          </a:xfrm>
          <a:prstGeom prst="ellipse">
            <a:avLst/>
          </a:prstGeom>
          <a:solidFill>
            <a:srgbClr val="9F8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07</a:t>
            </a:r>
          </a:p>
        </p:txBody>
      </p:sp>
      <p:sp>
        <p:nvSpPr>
          <p:cNvPr id="70" name="TextBox 69"/>
          <p:cNvSpPr txBox="1"/>
          <p:nvPr/>
        </p:nvSpPr>
        <p:spPr>
          <a:xfrm>
            <a:off x="15316199" y="3977639"/>
            <a:ext cx="1828799" cy="685800"/>
          </a:xfrm>
          <a:prstGeom prst="rect">
            <a:avLst/>
          </a:prstGeom>
          <a:noFill/>
        </p:spPr>
        <p:txBody>
          <a:bodyPr wrap="square" lIns="0" rIns="0" tIns="0" bIns="0" anchor="t">
            <a:spAutoFit/>
          </a:bodyPr>
          <a:lstStyle/>
          <a:p>
            <a:pPr algn="ctr"/>
            <a:r>
              <a:rPr sz="1600" i="0">
                <a:solidFill>
                  <a:srgbClr val="000000"/>
                </a:solidFill>
                <a:latin typeface="Open Sans Bold"/>
              </a:rPr>
              <a:t>Output &amp; Media</a:t>
            </a:r>
          </a:p>
        </p:txBody>
      </p:sp>
      <p:sp>
        <p:nvSpPr>
          <p:cNvPr id="71" name="TextBox 70"/>
          <p:cNvSpPr txBox="1"/>
          <p:nvPr/>
        </p:nvSpPr>
        <p:spPr>
          <a:xfrm>
            <a:off x="15316199" y="4663440"/>
            <a:ext cx="1828799" cy="1188720"/>
          </a:xfrm>
          <a:prstGeom prst="rect">
            <a:avLst/>
          </a:prstGeom>
          <a:noFill/>
        </p:spPr>
        <p:txBody>
          <a:bodyPr wrap="square" lIns="0" rIns="0" tIns="0" bIns="0" anchor="t">
            <a:spAutoFit/>
          </a:bodyPr>
          <a:lstStyle/>
          <a:p>
            <a:pPr algn="ctr"/>
            <a:r>
              <a:rPr sz="1300" i="0">
                <a:solidFill>
                  <a:srgbClr val="545454"/>
                </a:solidFill>
                <a:latin typeface="Open Sans"/>
              </a:rPr>
              <a:t>Formatted text, scene image, narration, music</a:t>
            </a:r>
          </a:p>
        </p:txBody>
      </p:sp>
      <p:sp>
        <p:nvSpPr>
          <p:cNvPr id="72" name="TextBox 71"/>
          <p:cNvSpPr txBox="1"/>
          <p:nvPr/>
        </p:nvSpPr>
        <p:spPr>
          <a:xfrm>
            <a:off x="914400" y="6126480"/>
            <a:ext cx="16459200" cy="411480"/>
          </a:xfrm>
          <a:prstGeom prst="rect">
            <a:avLst/>
          </a:prstGeom>
          <a:noFill/>
        </p:spPr>
        <p:txBody>
          <a:bodyPr wrap="square" lIns="0" rIns="0" tIns="0" bIns="0" anchor="t">
            <a:spAutoFit/>
          </a:bodyPr>
          <a:lstStyle/>
          <a:p>
            <a:pPr algn="l"/>
            <a:r>
              <a:rPr sz="1800" i="0">
                <a:solidFill>
                  <a:srgbClr val="000000"/>
                </a:solidFill>
                <a:latin typeface="Open Sans Bold"/>
              </a:rPr>
              <a:t>Five-phase story progression (driven by word count)</a:t>
            </a:r>
          </a:p>
        </p:txBody>
      </p:sp>
      <p:sp>
        <p:nvSpPr>
          <p:cNvPr id="73" name="Pentagon 72"/>
          <p:cNvSpPr/>
          <p:nvPr/>
        </p:nvSpPr>
        <p:spPr>
          <a:xfrm>
            <a:off x="914400" y="6675120"/>
            <a:ext cx="3520440" cy="1188720"/>
          </a:xfrm>
          <a:prstGeom prst="homePlat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320040"/>
          <a:lstStyle/>
          <a:p>
            <a:pPr algn="ctr"/>
            <a:r>
              <a:rPr sz="1700" b="1">
                <a:solidFill>
                  <a:srgbClr val="FFFFFF"/>
                </a:solidFill>
                <a:latin typeface="Open Sans Bold"/>
              </a:rPr>
              <a:t>Introduction</a:t>
            </a:r>
          </a:p>
          <a:p>
            <a:pPr algn="ctr"/>
            <a:r>
              <a:rPr sz="1300" b="0">
                <a:solidFill>
                  <a:srgbClr val="FFFFFF"/>
                </a:solidFill>
                <a:latin typeface="Open Sans"/>
              </a:rPr>
              <a:t>0–400 words</a:t>
            </a:r>
          </a:p>
        </p:txBody>
      </p:sp>
      <p:sp>
        <p:nvSpPr>
          <p:cNvPr id="74" name="Chevron 73"/>
          <p:cNvSpPr/>
          <p:nvPr/>
        </p:nvSpPr>
        <p:spPr>
          <a:xfrm>
            <a:off x="4151376" y="6675120"/>
            <a:ext cx="3520440" cy="1188720"/>
          </a:xfrm>
          <a:prstGeom prst="chevron">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320040"/>
          <a:lstStyle/>
          <a:p>
            <a:pPr algn="ctr"/>
            <a:r>
              <a:rPr sz="1700" b="1">
                <a:solidFill>
                  <a:srgbClr val="FFFFFF"/>
                </a:solidFill>
                <a:latin typeface="Open Sans Bold"/>
              </a:rPr>
              <a:t>Rising Action</a:t>
            </a:r>
          </a:p>
          <a:p>
            <a:pPr algn="ctr"/>
            <a:r>
              <a:rPr sz="1300" b="0">
                <a:solidFill>
                  <a:srgbClr val="FFFFFF"/>
                </a:solidFill>
                <a:latin typeface="Open Sans"/>
              </a:rPr>
              <a:t>400–1,200</a:t>
            </a:r>
          </a:p>
        </p:txBody>
      </p:sp>
      <p:sp>
        <p:nvSpPr>
          <p:cNvPr id="75" name="Chevron 74"/>
          <p:cNvSpPr/>
          <p:nvPr/>
        </p:nvSpPr>
        <p:spPr>
          <a:xfrm>
            <a:off x="7388352" y="6675120"/>
            <a:ext cx="3520440" cy="1188720"/>
          </a:xfrm>
          <a:prstGeom prst="chevron">
            <a:avLst/>
          </a:prstGeom>
          <a:solidFill>
            <a:srgbClr val="9F8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320040"/>
          <a:lstStyle/>
          <a:p>
            <a:pPr algn="ctr"/>
            <a:r>
              <a:rPr sz="1700" b="1">
                <a:solidFill>
                  <a:srgbClr val="FFFFFF"/>
                </a:solidFill>
                <a:latin typeface="Open Sans Bold"/>
              </a:rPr>
              <a:t>Climax</a:t>
            </a:r>
          </a:p>
          <a:p>
            <a:pPr algn="ctr"/>
            <a:r>
              <a:rPr sz="1300" b="0">
                <a:solidFill>
                  <a:srgbClr val="FFFFFF"/>
                </a:solidFill>
                <a:latin typeface="Open Sans"/>
              </a:rPr>
              <a:t>1,200–1,800</a:t>
            </a:r>
          </a:p>
        </p:txBody>
      </p:sp>
      <p:sp>
        <p:nvSpPr>
          <p:cNvPr id="76" name="Chevron 75"/>
          <p:cNvSpPr/>
          <p:nvPr/>
        </p:nvSpPr>
        <p:spPr>
          <a:xfrm>
            <a:off x="10625328" y="6675120"/>
            <a:ext cx="3520440" cy="1188720"/>
          </a:xfrm>
          <a:prstGeom prst="chevron">
            <a:avLst/>
          </a:prstGeom>
          <a:solidFill>
            <a:srgbClr val="627B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320040"/>
          <a:lstStyle/>
          <a:p>
            <a:pPr algn="ctr"/>
            <a:r>
              <a:rPr sz="1700" b="1">
                <a:solidFill>
                  <a:srgbClr val="FFFFFF"/>
                </a:solidFill>
                <a:latin typeface="Open Sans Bold"/>
              </a:rPr>
              <a:t>Falling Action</a:t>
            </a:r>
          </a:p>
          <a:p>
            <a:pPr algn="ctr"/>
            <a:r>
              <a:rPr sz="1300" b="0">
                <a:solidFill>
                  <a:srgbClr val="FFFFFF"/>
                </a:solidFill>
                <a:latin typeface="Open Sans"/>
              </a:rPr>
              <a:t>1,800–2,400</a:t>
            </a:r>
          </a:p>
        </p:txBody>
      </p:sp>
      <p:sp>
        <p:nvSpPr>
          <p:cNvPr id="77" name="Chevron 76"/>
          <p:cNvSpPr/>
          <p:nvPr/>
        </p:nvSpPr>
        <p:spPr>
          <a:xfrm>
            <a:off x="13862304" y="6675120"/>
            <a:ext cx="3520440" cy="1188720"/>
          </a:xfrm>
          <a:prstGeom prst="chevron">
            <a:avLst/>
          </a:prstGeom>
          <a:solidFill>
            <a:srgbClr val="5C3A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320040"/>
          <a:lstStyle/>
          <a:p>
            <a:pPr algn="ctr"/>
            <a:r>
              <a:rPr sz="1700" b="1">
                <a:solidFill>
                  <a:srgbClr val="FFFFFF"/>
                </a:solidFill>
                <a:latin typeface="Open Sans Bold"/>
              </a:rPr>
              <a:t>Resolution</a:t>
            </a:r>
          </a:p>
          <a:p>
            <a:pPr algn="ctr"/>
            <a:r>
              <a:rPr sz="1300" b="0">
                <a:solidFill>
                  <a:srgbClr val="FFFFFF"/>
                </a:solidFill>
                <a:latin typeface="Open Sans"/>
              </a:rPr>
              <a:t>2,400+ words</a:t>
            </a:r>
          </a:p>
        </p:txBody>
      </p:sp>
      <p:sp>
        <p:nvSpPr>
          <p:cNvPr id="78" name="TextBox 77"/>
          <p:cNvSpPr txBox="1"/>
          <p:nvPr/>
        </p:nvSpPr>
        <p:spPr>
          <a:xfrm>
            <a:off x="914400" y="8275320"/>
            <a:ext cx="16459200" cy="822960"/>
          </a:xfrm>
          <a:prstGeom prst="rect">
            <a:avLst/>
          </a:prstGeom>
          <a:noFill/>
        </p:spPr>
        <p:txBody>
          <a:bodyPr wrap="square" lIns="0" rIns="0" tIns="0" bIns="0" anchor="t">
            <a:spAutoFit/>
          </a:bodyPr>
          <a:lstStyle/>
          <a:p>
            <a:pPr algn="l"/>
            <a:r>
              <a:rPr sz="1600" i="1">
                <a:solidFill>
                  <a:srgbClr val="545454"/>
                </a:solidFill>
                <a:latin typeface="Open Sans"/>
              </a:rPr>
              <a:t>Custom answers and user-added questions reach the LLM prompt through a dedicated custom_elements channel, so the question set can grow without any change to code or database schema.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TextBox 37" id="37"/>
          <p:cNvSpPr txBox="true"/>
          <p:nvPr/>
        </p:nvSpPr>
        <p:spPr>
          <a:xfrm rot="0">
            <a:off x="914400" y="777240"/>
            <a:ext cx="16459200"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System Architecture &amp; Tech Stack</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id="43" name="Rounded Rectangle 42"/>
          <p:cNvSpPr/>
          <p:nvPr/>
        </p:nvSpPr>
        <p:spPr>
          <a:xfrm>
            <a:off x="914400" y="2103120"/>
            <a:ext cx="9784080" cy="6400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f07_arch.png"/>
          <p:cNvPicPr>
            <a:picLocks noChangeAspect="1"/>
          </p:cNvPicPr>
          <p:nvPr/>
        </p:nvPicPr>
        <p:blipFill>
          <a:blip r:embed="rId17"/>
          <a:srcRect b="17000"/>
          <a:stretch>
            <a:fillRect/>
          </a:stretch>
        </p:blipFill>
        <p:spPr>
          <a:xfrm>
            <a:off x="1188720" y="2514600"/>
            <a:ext cx="9235440" cy="4659708"/>
          </a:xfrm>
          <a:prstGeom prst="rect">
            <a:avLst/>
          </a:prstGeom>
        </p:spPr>
      </p:pic>
      <p:sp>
        <p:nvSpPr>
          <p:cNvPr id="45" name="TextBox 44"/>
          <p:cNvSpPr txBox="1"/>
          <p:nvPr/>
        </p:nvSpPr>
        <p:spPr>
          <a:xfrm>
            <a:off x="1188720" y="7498079"/>
            <a:ext cx="9235440" cy="1005840"/>
          </a:xfrm>
          <a:prstGeom prst="rect">
            <a:avLst/>
          </a:prstGeom>
          <a:noFill/>
        </p:spPr>
        <p:txBody>
          <a:bodyPr wrap="square" lIns="0" rIns="0" tIns="0" bIns="0" anchor="t">
            <a:spAutoFit/>
          </a:bodyPr>
          <a:lstStyle/>
          <a:p>
            <a:pPr algn="l"/>
            <a:r>
              <a:rPr sz="1500" i="0">
                <a:solidFill>
                  <a:srgbClr val="545454"/>
                </a:solidFill>
                <a:latin typeface="Open Sans"/>
              </a:rPr>
              <a:t>Layered design: web interface, FastAPI application layer, seven-module core and a pluggable LLM provider layer.</a:t>
            </a:r>
          </a:p>
        </p:txBody>
      </p:sp>
      <p:sp>
        <p:nvSpPr>
          <p:cNvPr id="46" name="Rounded Rectangle 45"/>
          <p:cNvSpPr/>
          <p:nvPr/>
        </p:nvSpPr>
        <p:spPr>
          <a:xfrm>
            <a:off x="11155680" y="2103120"/>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1338559" y="2240279"/>
            <a:ext cx="640080" cy="64008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API</a:t>
            </a:r>
          </a:p>
        </p:txBody>
      </p:sp>
      <p:sp>
        <p:nvSpPr>
          <p:cNvPr id="48" name="TextBox 47"/>
          <p:cNvSpPr txBox="1"/>
          <p:nvPr/>
        </p:nvSpPr>
        <p:spPr>
          <a:xfrm>
            <a:off x="12161519" y="2212848"/>
            <a:ext cx="5029200" cy="365760"/>
          </a:xfrm>
          <a:prstGeom prst="rect">
            <a:avLst/>
          </a:prstGeom>
          <a:noFill/>
        </p:spPr>
        <p:txBody>
          <a:bodyPr wrap="square" lIns="0" rIns="0" tIns="0" bIns="0" anchor="t">
            <a:spAutoFit/>
          </a:bodyPr>
          <a:lstStyle/>
          <a:p>
            <a:pPr algn="l"/>
            <a:r>
              <a:rPr sz="1600" i="0">
                <a:solidFill>
                  <a:srgbClr val="000000"/>
                </a:solidFill>
                <a:latin typeface="Open Sans Bold"/>
              </a:rPr>
              <a:t>Backend</a:t>
            </a:r>
          </a:p>
        </p:txBody>
      </p:sp>
      <p:sp>
        <p:nvSpPr>
          <p:cNvPr id="49" name="TextBox 48"/>
          <p:cNvSpPr txBox="1"/>
          <p:nvPr/>
        </p:nvSpPr>
        <p:spPr>
          <a:xfrm>
            <a:off x="12161519" y="2578608"/>
            <a:ext cx="5029200" cy="365760"/>
          </a:xfrm>
          <a:prstGeom prst="rect">
            <a:avLst/>
          </a:prstGeom>
          <a:noFill/>
        </p:spPr>
        <p:txBody>
          <a:bodyPr wrap="square" lIns="0" rIns="0" tIns="0" bIns="0" anchor="t">
            <a:spAutoFit/>
          </a:bodyPr>
          <a:lstStyle/>
          <a:p>
            <a:pPr algn="l"/>
            <a:r>
              <a:rPr sz="1300" i="0">
                <a:solidFill>
                  <a:srgbClr val="545454"/>
                </a:solidFill>
                <a:latin typeface="Open Sans"/>
              </a:rPr>
              <a:t>Python, FastAPI, Pydantic v2, SQLite</a:t>
            </a:r>
          </a:p>
        </p:txBody>
      </p:sp>
      <p:sp>
        <p:nvSpPr>
          <p:cNvPr id="50" name="Rounded Rectangle 49"/>
          <p:cNvSpPr/>
          <p:nvPr/>
        </p:nvSpPr>
        <p:spPr>
          <a:xfrm>
            <a:off x="11155680" y="3200400"/>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1338559" y="3337560"/>
            <a:ext cx="640080" cy="64008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LLM</a:t>
            </a:r>
          </a:p>
        </p:txBody>
      </p:sp>
      <p:sp>
        <p:nvSpPr>
          <p:cNvPr id="52" name="TextBox 51"/>
          <p:cNvSpPr txBox="1"/>
          <p:nvPr/>
        </p:nvSpPr>
        <p:spPr>
          <a:xfrm>
            <a:off x="12161519" y="3310128"/>
            <a:ext cx="5029200" cy="365760"/>
          </a:xfrm>
          <a:prstGeom prst="rect">
            <a:avLst/>
          </a:prstGeom>
          <a:noFill/>
        </p:spPr>
        <p:txBody>
          <a:bodyPr wrap="square" lIns="0" rIns="0" tIns="0" bIns="0" anchor="t">
            <a:spAutoFit/>
          </a:bodyPr>
          <a:lstStyle/>
          <a:p>
            <a:pPr algn="l"/>
            <a:r>
              <a:rPr sz="1600" i="0">
                <a:solidFill>
                  <a:srgbClr val="000000"/>
                </a:solidFill>
                <a:latin typeface="Open Sans Bold"/>
              </a:rPr>
              <a:t>Language models</a:t>
            </a:r>
          </a:p>
        </p:txBody>
      </p:sp>
      <p:sp>
        <p:nvSpPr>
          <p:cNvPr id="53" name="TextBox 52"/>
          <p:cNvSpPr txBox="1"/>
          <p:nvPr/>
        </p:nvSpPr>
        <p:spPr>
          <a:xfrm>
            <a:off x="12161519" y="3675887"/>
            <a:ext cx="5029200" cy="365760"/>
          </a:xfrm>
          <a:prstGeom prst="rect">
            <a:avLst/>
          </a:prstGeom>
          <a:noFill/>
        </p:spPr>
        <p:txBody>
          <a:bodyPr wrap="square" lIns="0" rIns="0" tIns="0" bIns="0" anchor="t">
            <a:spAutoFit/>
          </a:bodyPr>
          <a:lstStyle/>
          <a:p>
            <a:pPr algn="l"/>
            <a:r>
              <a:rPr sz="1300" i="0">
                <a:solidFill>
                  <a:srgbClr val="545454"/>
                </a:solidFill>
                <a:latin typeface="Open Sans"/>
              </a:rPr>
              <a:t>Ollama, Groq, Hugging Face, OpenAI</a:t>
            </a:r>
          </a:p>
        </p:txBody>
      </p:sp>
      <p:sp>
        <p:nvSpPr>
          <p:cNvPr id="54" name="Rounded Rectangle 53"/>
          <p:cNvSpPr/>
          <p:nvPr/>
        </p:nvSpPr>
        <p:spPr>
          <a:xfrm>
            <a:off x="11155680" y="4297679"/>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11338559" y="4434840"/>
            <a:ext cx="640080" cy="640080"/>
          </a:xfrm>
          <a:prstGeom prst="ellipse">
            <a:avLst/>
          </a:prstGeom>
          <a:solidFill>
            <a:srgbClr val="9F8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IMG</a:t>
            </a:r>
          </a:p>
        </p:txBody>
      </p:sp>
      <p:sp>
        <p:nvSpPr>
          <p:cNvPr id="56" name="TextBox 55"/>
          <p:cNvSpPr txBox="1"/>
          <p:nvPr/>
        </p:nvSpPr>
        <p:spPr>
          <a:xfrm>
            <a:off x="12161519" y="4407407"/>
            <a:ext cx="5029200" cy="365760"/>
          </a:xfrm>
          <a:prstGeom prst="rect">
            <a:avLst/>
          </a:prstGeom>
          <a:noFill/>
        </p:spPr>
        <p:txBody>
          <a:bodyPr wrap="square" lIns="0" rIns="0" tIns="0" bIns="0" anchor="t">
            <a:spAutoFit/>
          </a:bodyPr>
          <a:lstStyle/>
          <a:p>
            <a:pPr algn="l"/>
            <a:r>
              <a:rPr sz="1600" i="0">
                <a:solidFill>
                  <a:srgbClr val="000000"/>
                </a:solidFill>
                <a:latin typeface="Open Sans Bold"/>
              </a:rPr>
              <a:t>Scene images</a:t>
            </a:r>
          </a:p>
        </p:txBody>
      </p:sp>
      <p:sp>
        <p:nvSpPr>
          <p:cNvPr id="57" name="TextBox 56"/>
          <p:cNvSpPr txBox="1"/>
          <p:nvPr/>
        </p:nvSpPr>
        <p:spPr>
          <a:xfrm>
            <a:off x="12161519" y="4773167"/>
            <a:ext cx="5029200" cy="365760"/>
          </a:xfrm>
          <a:prstGeom prst="rect">
            <a:avLst/>
          </a:prstGeom>
          <a:noFill/>
        </p:spPr>
        <p:txBody>
          <a:bodyPr wrap="square" lIns="0" rIns="0" tIns="0" bIns="0" anchor="t">
            <a:spAutoFit/>
          </a:bodyPr>
          <a:lstStyle/>
          <a:p>
            <a:pPr algn="l"/>
            <a:r>
              <a:rPr sz="1300" i="0">
                <a:solidFill>
                  <a:srgbClr val="545454"/>
                </a:solidFill>
                <a:latin typeface="Open Sans"/>
              </a:rPr>
              <a:t>Pollinations.ai with a serial request queue</a:t>
            </a:r>
          </a:p>
        </p:txBody>
      </p:sp>
      <p:sp>
        <p:nvSpPr>
          <p:cNvPr id="58" name="Rounded Rectangle 57"/>
          <p:cNvSpPr/>
          <p:nvPr/>
        </p:nvSpPr>
        <p:spPr>
          <a:xfrm>
            <a:off x="11155680" y="5394959"/>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11338559" y="5532120"/>
            <a:ext cx="640080" cy="640080"/>
          </a:xfrm>
          <a:prstGeom prst="ellipse">
            <a:avLst/>
          </a:prstGeom>
          <a:solidFill>
            <a:srgbClr val="627B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TTS</a:t>
            </a:r>
          </a:p>
        </p:txBody>
      </p:sp>
      <p:sp>
        <p:nvSpPr>
          <p:cNvPr id="60" name="TextBox 59"/>
          <p:cNvSpPr txBox="1"/>
          <p:nvPr/>
        </p:nvSpPr>
        <p:spPr>
          <a:xfrm>
            <a:off x="12161519" y="5504688"/>
            <a:ext cx="5029200" cy="365760"/>
          </a:xfrm>
          <a:prstGeom prst="rect">
            <a:avLst/>
          </a:prstGeom>
          <a:noFill/>
        </p:spPr>
        <p:txBody>
          <a:bodyPr wrap="square" lIns="0" rIns="0" tIns="0" bIns="0" anchor="t">
            <a:spAutoFit/>
          </a:bodyPr>
          <a:lstStyle/>
          <a:p>
            <a:pPr algn="l"/>
            <a:r>
              <a:rPr sz="1600" i="0">
                <a:solidFill>
                  <a:srgbClr val="000000"/>
                </a:solidFill>
                <a:latin typeface="Open Sans Bold"/>
              </a:rPr>
              <a:t>Narration &amp; music</a:t>
            </a:r>
          </a:p>
        </p:txBody>
      </p:sp>
      <p:sp>
        <p:nvSpPr>
          <p:cNvPr id="61" name="TextBox 60"/>
          <p:cNvSpPr txBox="1"/>
          <p:nvPr/>
        </p:nvSpPr>
        <p:spPr>
          <a:xfrm>
            <a:off x="12161519" y="5870448"/>
            <a:ext cx="5029200" cy="365760"/>
          </a:xfrm>
          <a:prstGeom prst="rect">
            <a:avLst/>
          </a:prstGeom>
          <a:noFill/>
        </p:spPr>
        <p:txBody>
          <a:bodyPr wrap="square" lIns="0" rIns="0" tIns="0" bIns="0" anchor="t">
            <a:spAutoFit/>
          </a:bodyPr>
          <a:lstStyle/>
          <a:p>
            <a:pPr algn="l"/>
            <a:r>
              <a:rPr sz="1300" i="0">
                <a:solidFill>
                  <a:srgbClr val="545454"/>
                </a:solidFill>
                <a:latin typeface="Open Sans"/>
              </a:rPr>
              <a:t>Web Speech API, SoundHelix tracks</a:t>
            </a:r>
          </a:p>
        </p:txBody>
      </p:sp>
      <p:sp>
        <p:nvSpPr>
          <p:cNvPr id="62" name="Rounded Rectangle 61"/>
          <p:cNvSpPr/>
          <p:nvPr/>
        </p:nvSpPr>
        <p:spPr>
          <a:xfrm>
            <a:off x="11155680" y="6492240"/>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1338559" y="6629400"/>
            <a:ext cx="640080" cy="64008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D3</a:t>
            </a:r>
          </a:p>
        </p:txBody>
      </p:sp>
      <p:sp>
        <p:nvSpPr>
          <p:cNvPr id="64" name="TextBox 63"/>
          <p:cNvSpPr txBox="1"/>
          <p:nvPr/>
        </p:nvSpPr>
        <p:spPr>
          <a:xfrm>
            <a:off x="12161519" y="6601968"/>
            <a:ext cx="5029200" cy="365760"/>
          </a:xfrm>
          <a:prstGeom prst="rect">
            <a:avLst/>
          </a:prstGeom>
          <a:noFill/>
        </p:spPr>
        <p:txBody>
          <a:bodyPr wrap="square" lIns="0" rIns="0" tIns="0" bIns="0" anchor="t">
            <a:spAutoFit/>
          </a:bodyPr>
          <a:lstStyle/>
          <a:p>
            <a:pPr algn="l"/>
            <a:r>
              <a:rPr sz="1600" i="0">
                <a:solidFill>
                  <a:srgbClr val="000000"/>
                </a:solidFill>
                <a:latin typeface="Open Sans Bold"/>
              </a:rPr>
              <a:t>Reader analytics</a:t>
            </a:r>
          </a:p>
        </p:txBody>
      </p:sp>
      <p:sp>
        <p:nvSpPr>
          <p:cNvPr id="65" name="TextBox 64"/>
          <p:cNvSpPr txBox="1"/>
          <p:nvPr/>
        </p:nvSpPr>
        <p:spPr>
          <a:xfrm>
            <a:off x="12161519" y="6967727"/>
            <a:ext cx="5029200" cy="365760"/>
          </a:xfrm>
          <a:prstGeom prst="rect">
            <a:avLst/>
          </a:prstGeom>
          <a:noFill/>
        </p:spPr>
        <p:txBody>
          <a:bodyPr wrap="square" lIns="0" rIns="0" tIns="0" bIns="0" anchor="t">
            <a:spAutoFit/>
          </a:bodyPr>
          <a:lstStyle/>
          <a:p>
            <a:pPr algn="l"/>
            <a:r>
              <a:rPr sz="1300" i="0">
                <a:solidFill>
                  <a:srgbClr val="545454"/>
                </a:solidFill>
                <a:latin typeface="Open Sans"/>
              </a:rPr>
              <a:t>Story Map and Character Graph</a:t>
            </a:r>
          </a:p>
        </p:txBody>
      </p:sp>
      <p:sp>
        <p:nvSpPr>
          <p:cNvPr id="66" name="Rounded Rectangle 65"/>
          <p:cNvSpPr/>
          <p:nvPr/>
        </p:nvSpPr>
        <p:spPr>
          <a:xfrm>
            <a:off x="11155680" y="7589520"/>
            <a:ext cx="6217920" cy="9144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11338559" y="7726680"/>
            <a:ext cx="640080" cy="64008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Open Sans Bold"/>
              </a:rPr>
              <a:t>UI</a:t>
            </a:r>
          </a:p>
        </p:txBody>
      </p:sp>
      <p:sp>
        <p:nvSpPr>
          <p:cNvPr id="68" name="TextBox 67"/>
          <p:cNvSpPr txBox="1"/>
          <p:nvPr/>
        </p:nvSpPr>
        <p:spPr>
          <a:xfrm>
            <a:off x="12161519" y="7699248"/>
            <a:ext cx="5029200" cy="365760"/>
          </a:xfrm>
          <a:prstGeom prst="rect">
            <a:avLst/>
          </a:prstGeom>
          <a:noFill/>
        </p:spPr>
        <p:txBody>
          <a:bodyPr wrap="square" lIns="0" rIns="0" tIns="0" bIns="0" anchor="t">
            <a:spAutoFit/>
          </a:bodyPr>
          <a:lstStyle/>
          <a:p>
            <a:pPr algn="l"/>
            <a:r>
              <a:rPr sz="1600" i="0">
                <a:solidFill>
                  <a:srgbClr val="000000"/>
                </a:solidFill>
                <a:latin typeface="Open Sans Bold"/>
              </a:rPr>
              <a:t>Frontend</a:t>
            </a:r>
          </a:p>
        </p:txBody>
      </p:sp>
      <p:sp>
        <p:nvSpPr>
          <p:cNvPr id="69" name="TextBox 68"/>
          <p:cNvSpPr txBox="1"/>
          <p:nvPr/>
        </p:nvSpPr>
        <p:spPr>
          <a:xfrm>
            <a:off x="12161519" y="8065008"/>
            <a:ext cx="5029200" cy="365760"/>
          </a:xfrm>
          <a:prstGeom prst="rect">
            <a:avLst/>
          </a:prstGeom>
          <a:noFill/>
        </p:spPr>
        <p:txBody>
          <a:bodyPr wrap="square" lIns="0" rIns="0" tIns="0" bIns="0" anchor="t">
            <a:spAutoFit/>
          </a:bodyPr>
          <a:lstStyle/>
          <a:p>
            <a:pPr algn="l"/>
            <a:r>
              <a:rPr sz="1300" i="0">
                <a:solidFill>
                  <a:srgbClr val="545454"/>
                </a:solidFill>
                <a:latin typeface="Open Sans"/>
              </a:rPr>
              <a:t>HTML5, CSS3, JavaScript single page</a:t>
            </a:r>
          </a:p>
        </p:txBody>
      </p:sp>
      <p:sp>
        <p:nvSpPr>
          <p:cNvPr id="70" name="TextBox 69"/>
          <p:cNvSpPr txBox="1"/>
          <p:nvPr/>
        </p:nvSpPr>
        <p:spPr>
          <a:xfrm>
            <a:off x="11155680" y="8732520"/>
            <a:ext cx="6217920" cy="640080"/>
          </a:xfrm>
          <a:prstGeom prst="rect">
            <a:avLst/>
          </a:prstGeom>
          <a:noFill/>
        </p:spPr>
        <p:txBody>
          <a:bodyPr wrap="square" lIns="0" rIns="0" tIns="0" bIns="0" anchor="t">
            <a:spAutoFit/>
          </a:bodyPr>
          <a:lstStyle/>
          <a:p>
            <a:pPr algn="ctr"/>
            <a:r>
              <a:rPr sz="1600" i="0">
                <a:solidFill>
                  <a:srgbClr val="7D4C84"/>
                </a:solidFill>
                <a:latin typeface="Open Sans Bold"/>
              </a:rPr>
              <a:t>7 modules  ·  13 REST endpoints  ·  ≈ 8,400 lines of code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TextBox 37" id="37"/>
          <p:cNvSpPr txBox="true"/>
          <p:nvPr/>
        </p:nvSpPr>
        <p:spPr>
          <a:xfrm rot="0">
            <a:off x="914400" y="777240"/>
            <a:ext cx="16459200"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Implementation: Application Screens</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id="43" name="Rounded Rectangle 42"/>
          <p:cNvSpPr/>
          <p:nvPr/>
        </p:nvSpPr>
        <p:spPr>
          <a:xfrm>
            <a:off x="914400" y="2103120"/>
            <a:ext cx="4553596" cy="6080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s01_landing.png"/>
          <p:cNvPicPr>
            <a:picLocks noChangeAspect="1"/>
          </p:cNvPicPr>
          <p:nvPr/>
        </p:nvPicPr>
        <p:blipFill>
          <a:blip r:embed="rId17"/>
          <a:stretch>
            <a:fillRect/>
          </a:stretch>
        </p:blipFill>
        <p:spPr>
          <a:xfrm>
            <a:off x="1097280" y="2286000"/>
            <a:ext cx="4187836" cy="4480560"/>
          </a:xfrm>
          <a:prstGeom prst="rect">
            <a:avLst/>
          </a:prstGeom>
        </p:spPr>
      </p:pic>
      <p:sp>
        <p:nvSpPr>
          <p:cNvPr id="45" name="TextBox 44"/>
          <p:cNvSpPr txBox="1"/>
          <p:nvPr/>
        </p:nvSpPr>
        <p:spPr>
          <a:xfrm>
            <a:off x="1097280" y="6949440"/>
            <a:ext cx="4187836" cy="365760"/>
          </a:xfrm>
          <a:prstGeom prst="rect">
            <a:avLst/>
          </a:prstGeom>
          <a:noFill/>
        </p:spPr>
        <p:txBody>
          <a:bodyPr wrap="square" lIns="0" rIns="0" tIns="0" bIns="0" anchor="t">
            <a:spAutoFit/>
          </a:bodyPr>
          <a:lstStyle/>
          <a:p>
            <a:pPr algn="l"/>
            <a:r>
              <a:rPr sz="1700" i="0">
                <a:solidFill>
                  <a:srgbClr val="000000"/>
                </a:solidFill>
                <a:latin typeface="Open Sans Bold"/>
              </a:rPr>
              <a:t>Landing page</a:t>
            </a:r>
          </a:p>
        </p:txBody>
      </p:sp>
      <p:sp>
        <p:nvSpPr>
          <p:cNvPr id="46" name="TextBox 45"/>
          <p:cNvSpPr txBox="1"/>
          <p:nvPr/>
        </p:nvSpPr>
        <p:spPr>
          <a:xfrm>
            <a:off x="1097280" y="7333488"/>
            <a:ext cx="4187836" cy="640080"/>
          </a:xfrm>
          <a:prstGeom prst="rect">
            <a:avLst/>
          </a:prstGeom>
          <a:noFill/>
        </p:spPr>
        <p:txBody>
          <a:bodyPr wrap="square" lIns="0" rIns="0" tIns="0" bIns="0" anchor="t">
            <a:spAutoFit/>
          </a:bodyPr>
          <a:lstStyle/>
          <a:p>
            <a:pPr algn="l"/>
            <a:r>
              <a:rPr sz="1300" i="0">
                <a:solidFill>
                  <a:srgbClr val="545454"/>
                </a:solidFill>
                <a:latin typeface="Open Sans"/>
              </a:rPr>
              <a:t>Choose a budget of 4, 8, 12 or 17 questions</a:t>
            </a:r>
          </a:p>
        </p:txBody>
      </p:sp>
      <p:sp>
        <p:nvSpPr>
          <p:cNvPr id="47" name="Rounded Rectangle 46"/>
          <p:cNvSpPr/>
          <p:nvPr/>
        </p:nvSpPr>
        <p:spPr>
          <a:xfrm>
            <a:off x="5696596" y="2103120"/>
            <a:ext cx="6735384" cy="6080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02_questions.png"/>
          <p:cNvPicPr>
            <a:picLocks noChangeAspect="1"/>
          </p:cNvPicPr>
          <p:nvPr/>
        </p:nvPicPr>
        <p:blipFill>
          <a:blip r:embed="rId18"/>
          <a:stretch>
            <a:fillRect/>
          </a:stretch>
        </p:blipFill>
        <p:spPr>
          <a:xfrm>
            <a:off x="5879476" y="2286000"/>
            <a:ext cx="6369624" cy="4480560"/>
          </a:xfrm>
          <a:prstGeom prst="rect">
            <a:avLst/>
          </a:prstGeom>
        </p:spPr>
      </p:pic>
      <p:sp>
        <p:nvSpPr>
          <p:cNvPr id="49" name="TextBox 48"/>
          <p:cNvSpPr txBox="1"/>
          <p:nvPr/>
        </p:nvSpPr>
        <p:spPr>
          <a:xfrm>
            <a:off x="5879476" y="6949440"/>
            <a:ext cx="6369624" cy="365760"/>
          </a:xfrm>
          <a:prstGeom prst="rect">
            <a:avLst/>
          </a:prstGeom>
          <a:noFill/>
        </p:spPr>
        <p:txBody>
          <a:bodyPr wrap="square" lIns="0" rIns="0" tIns="0" bIns="0" anchor="t">
            <a:spAutoFit/>
          </a:bodyPr>
          <a:lstStyle/>
          <a:p>
            <a:pPr algn="l"/>
            <a:r>
              <a:rPr sz="1700" i="0">
                <a:solidFill>
                  <a:srgbClr val="000000"/>
                </a:solidFill>
                <a:latin typeface="Open Sans Bold"/>
              </a:rPr>
              <a:t>Question form</a:t>
            </a:r>
          </a:p>
        </p:txBody>
      </p:sp>
      <p:sp>
        <p:nvSpPr>
          <p:cNvPr id="50" name="TextBox 49"/>
          <p:cNvSpPr txBox="1"/>
          <p:nvPr/>
        </p:nvSpPr>
        <p:spPr>
          <a:xfrm>
            <a:off x="5879476" y="7333488"/>
            <a:ext cx="6369624" cy="640080"/>
          </a:xfrm>
          <a:prstGeom prst="rect">
            <a:avLst/>
          </a:prstGeom>
          <a:noFill/>
        </p:spPr>
        <p:txBody>
          <a:bodyPr wrap="square" lIns="0" rIns="0" tIns="0" bIns="0" anchor="t">
            <a:spAutoFit/>
          </a:bodyPr>
          <a:lstStyle/>
          <a:p>
            <a:pPr algn="l"/>
            <a:r>
              <a:rPr sz="1300" i="0">
                <a:solidFill>
                  <a:srgbClr val="545454"/>
                </a:solidFill>
                <a:latin typeface="Open Sans"/>
              </a:rPr>
              <a:t>Options, “Write my own” answers and user-added questions</a:t>
            </a:r>
          </a:p>
        </p:txBody>
      </p:sp>
      <p:sp>
        <p:nvSpPr>
          <p:cNvPr id="51" name="Rounded Rectangle 50"/>
          <p:cNvSpPr/>
          <p:nvPr/>
        </p:nvSpPr>
        <p:spPr>
          <a:xfrm>
            <a:off x="12660580" y="2103120"/>
            <a:ext cx="4697499" cy="6080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s04_story_image.png"/>
          <p:cNvPicPr>
            <a:picLocks noChangeAspect="1"/>
          </p:cNvPicPr>
          <p:nvPr/>
        </p:nvPicPr>
        <p:blipFill>
          <a:blip r:embed="rId19"/>
          <a:stretch>
            <a:fillRect/>
          </a:stretch>
        </p:blipFill>
        <p:spPr>
          <a:xfrm>
            <a:off x="12843460" y="2286000"/>
            <a:ext cx="4331740" cy="4480560"/>
          </a:xfrm>
          <a:prstGeom prst="rect">
            <a:avLst/>
          </a:prstGeom>
        </p:spPr>
      </p:pic>
      <p:sp>
        <p:nvSpPr>
          <p:cNvPr id="53" name="TextBox 52"/>
          <p:cNvSpPr txBox="1"/>
          <p:nvPr/>
        </p:nvSpPr>
        <p:spPr>
          <a:xfrm>
            <a:off x="12843460" y="6949440"/>
            <a:ext cx="4331739" cy="365760"/>
          </a:xfrm>
          <a:prstGeom prst="rect">
            <a:avLst/>
          </a:prstGeom>
          <a:noFill/>
        </p:spPr>
        <p:txBody>
          <a:bodyPr wrap="square" lIns="0" rIns="0" tIns="0" bIns="0" anchor="t">
            <a:spAutoFit/>
          </a:bodyPr>
          <a:lstStyle/>
          <a:p>
            <a:pPr algn="l"/>
            <a:r>
              <a:rPr sz="1700" i="0">
                <a:solidFill>
                  <a:srgbClr val="000000"/>
                </a:solidFill>
                <a:latin typeface="Open Sans Bold"/>
              </a:rPr>
              <a:t>Story view</a:t>
            </a:r>
          </a:p>
        </p:txBody>
      </p:sp>
      <p:sp>
        <p:nvSpPr>
          <p:cNvPr id="54" name="TextBox 53"/>
          <p:cNvSpPr txBox="1"/>
          <p:nvPr/>
        </p:nvSpPr>
        <p:spPr>
          <a:xfrm>
            <a:off x="12843460" y="7333488"/>
            <a:ext cx="4331739" cy="640080"/>
          </a:xfrm>
          <a:prstGeom prst="rect">
            <a:avLst/>
          </a:prstGeom>
          <a:noFill/>
        </p:spPr>
        <p:txBody>
          <a:bodyPr wrap="square" lIns="0" rIns="0" tIns="0" bIns="0" anchor="t">
            <a:spAutoFit/>
          </a:bodyPr>
          <a:lstStyle/>
          <a:p>
            <a:pPr algn="l"/>
            <a:r>
              <a:rPr sz="1300" i="0">
                <a:solidFill>
                  <a:srgbClr val="545454"/>
                </a:solidFill>
                <a:latin typeface="Open Sans"/>
              </a:rPr>
              <a:t>Generated chapter with its scene illustration</a:t>
            </a:r>
          </a:p>
        </p:txBody>
      </p:sp>
      <p:sp>
        <p:nvSpPr>
          <p:cNvPr id="55" name="TextBox 54"/>
          <p:cNvSpPr txBox="1"/>
          <p:nvPr/>
        </p:nvSpPr>
        <p:spPr>
          <a:xfrm>
            <a:off x="914400" y="8549640"/>
            <a:ext cx="16459200" cy="822960"/>
          </a:xfrm>
          <a:prstGeom prst="rect">
            <a:avLst/>
          </a:prstGeom>
          <a:noFill/>
        </p:spPr>
        <p:txBody>
          <a:bodyPr wrap="square" lIns="0" rIns="0" tIns="0" bIns="0" anchor="t">
            <a:spAutoFit/>
          </a:bodyPr>
          <a:lstStyle/>
          <a:p>
            <a:pPr algn="l"/>
            <a:r>
              <a:rPr sz="1600" i="1">
                <a:solidFill>
                  <a:srgbClr val="545454"/>
                </a:solidFill>
                <a:latin typeface="Open Sans"/>
              </a:rPr>
              <a:t>Also implemented: narration controls, ambient-music toggle, Story Map, Character Graph, TXT / Markdown / HTML export and a settings panel for switching the LLM provider live.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TextBox 37" id="37"/>
          <p:cNvSpPr txBox="true"/>
          <p:nvPr/>
        </p:nvSpPr>
        <p:spPr>
          <a:xfrm rot="0">
            <a:off x="914400" y="777240"/>
            <a:ext cx="16459200"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Results</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id="43" name="Rounded Rectangle 42"/>
          <p:cNvSpPr/>
          <p:nvPr/>
        </p:nvSpPr>
        <p:spPr>
          <a:xfrm>
            <a:off x="914400" y="2057400"/>
            <a:ext cx="3840480"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43000" y="2240280"/>
            <a:ext cx="3383280" cy="868680"/>
          </a:xfrm>
          <a:prstGeom prst="rect">
            <a:avLst/>
          </a:prstGeom>
          <a:noFill/>
        </p:spPr>
        <p:txBody>
          <a:bodyPr wrap="square" lIns="0" rIns="0" tIns="0" bIns="0" anchor="t">
            <a:spAutoFit/>
          </a:bodyPr>
          <a:lstStyle/>
          <a:p>
            <a:pPr algn="ctr"/>
            <a:r>
              <a:rPr sz="3800" i="0">
                <a:solidFill>
                  <a:srgbClr val="7D4C84"/>
                </a:solidFill>
                <a:latin typeface="Open Sans Bold"/>
              </a:rPr>
              <a:t>4.3 / 5</a:t>
            </a:r>
          </a:p>
        </p:txBody>
      </p:sp>
      <p:sp>
        <p:nvSpPr>
          <p:cNvPr id="45" name="TextBox 44"/>
          <p:cNvSpPr txBox="1"/>
          <p:nvPr/>
        </p:nvSpPr>
        <p:spPr>
          <a:xfrm>
            <a:off x="1143000" y="3200400"/>
            <a:ext cx="3383280" cy="731520"/>
          </a:xfrm>
          <a:prstGeom prst="rect">
            <a:avLst/>
          </a:prstGeom>
          <a:noFill/>
        </p:spPr>
        <p:txBody>
          <a:bodyPr wrap="square" lIns="0" rIns="0" tIns="0" bIns="0" anchor="t">
            <a:spAutoFit/>
          </a:bodyPr>
          <a:lstStyle/>
          <a:p>
            <a:pPr algn="ctr"/>
            <a:r>
              <a:rPr sz="1400" i="0">
                <a:solidFill>
                  <a:srgbClr val="545454"/>
                </a:solidFill>
                <a:latin typeface="Open Sans"/>
              </a:rPr>
              <a:t>Overall user satisfaction</a:t>
            </a:r>
          </a:p>
        </p:txBody>
      </p:sp>
      <p:sp>
        <p:nvSpPr>
          <p:cNvPr id="46" name="Rounded Rectangle 45"/>
          <p:cNvSpPr/>
          <p:nvPr/>
        </p:nvSpPr>
        <p:spPr>
          <a:xfrm>
            <a:off x="5120640" y="2057400"/>
            <a:ext cx="3840480"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349240" y="2240280"/>
            <a:ext cx="3383280" cy="868680"/>
          </a:xfrm>
          <a:prstGeom prst="rect">
            <a:avLst/>
          </a:prstGeom>
          <a:noFill/>
        </p:spPr>
        <p:txBody>
          <a:bodyPr wrap="square" lIns="0" rIns="0" tIns="0" bIns="0" anchor="t">
            <a:spAutoFit/>
          </a:bodyPr>
          <a:lstStyle/>
          <a:p>
            <a:pPr algn="ctr"/>
            <a:r>
              <a:rPr sz="3800" i="0">
                <a:solidFill>
                  <a:srgbClr val="8E699B"/>
                </a:solidFill>
                <a:latin typeface="Open Sans Bold"/>
              </a:rPr>
              <a:t>1.8 s</a:t>
            </a:r>
          </a:p>
        </p:txBody>
      </p:sp>
      <p:sp>
        <p:nvSpPr>
          <p:cNvPr id="48" name="TextBox 47"/>
          <p:cNvSpPr txBox="1"/>
          <p:nvPr/>
        </p:nvSpPr>
        <p:spPr>
          <a:xfrm>
            <a:off x="5349240" y="3200400"/>
            <a:ext cx="3383280" cy="731520"/>
          </a:xfrm>
          <a:prstGeom prst="rect">
            <a:avLst/>
          </a:prstGeom>
          <a:noFill/>
        </p:spPr>
        <p:txBody>
          <a:bodyPr wrap="square" lIns="0" rIns="0" tIns="0" bIns="0" anchor="t">
            <a:spAutoFit/>
          </a:bodyPr>
          <a:lstStyle/>
          <a:p>
            <a:pPr algn="ctr"/>
            <a:r>
              <a:rPr sz="1400" i="0">
                <a:solidFill>
                  <a:srgbClr val="545454"/>
                </a:solidFill>
                <a:latin typeface="Open Sans"/>
              </a:rPr>
              <a:t>First story segment (Groq LLaMA-3.1-8B)</a:t>
            </a:r>
          </a:p>
        </p:txBody>
      </p:sp>
      <p:sp>
        <p:nvSpPr>
          <p:cNvPr id="49" name="Rounded Rectangle 48"/>
          <p:cNvSpPr/>
          <p:nvPr/>
        </p:nvSpPr>
        <p:spPr>
          <a:xfrm>
            <a:off x="9326880" y="2057400"/>
            <a:ext cx="3840480"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555480" y="2240280"/>
            <a:ext cx="3383280" cy="868680"/>
          </a:xfrm>
          <a:prstGeom prst="rect">
            <a:avLst/>
          </a:prstGeom>
          <a:noFill/>
        </p:spPr>
        <p:txBody>
          <a:bodyPr wrap="square" lIns="0" rIns="0" tIns="0" bIns="0" anchor="t">
            <a:spAutoFit/>
          </a:bodyPr>
          <a:lstStyle/>
          <a:p>
            <a:pPr algn="ctr"/>
            <a:r>
              <a:rPr sz="3800" i="0">
                <a:solidFill>
                  <a:srgbClr val="9F8AB0"/>
                </a:solidFill>
                <a:latin typeface="Open Sans Bold"/>
              </a:rPr>
              <a:t>70% → &lt;2%</a:t>
            </a:r>
          </a:p>
        </p:txBody>
      </p:sp>
      <p:sp>
        <p:nvSpPr>
          <p:cNvPr id="51" name="TextBox 50"/>
          <p:cNvSpPr txBox="1"/>
          <p:nvPr/>
        </p:nvSpPr>
        <p:spPr>
          <a:xfrm>
            <a:off x="9555480" y="3200400"/>
            <a:ext cx="3383280" cy="731520"/>
          </a:xfrm>
          <a:prstGeom prst="rect">
            <a:avLst/>
          </a:prstGeom>
          <a:noFill/>
        </p:spPr>
        <p:txBody>
          <a:bodyPr wrap="square" lIns="0" rIns="0" tIns="0" bIns="0" anchor="t">
            <a:spAutoFit/>
          </a:bodyPr>
          <a:lstStyle/>
          <a:p>
            <a:pPr algn="ctr"/>
            <a:r>
              <a:rPr sz="1400" i="0">
                <a:solidFill>
                  <a:srgbClr val="545454"/>
                </a:solidFill>
                <a:latin typeface="Open Sans"/>
              </a:rPr>
              <a:t>Image failures with the serial queue</a:t>
            </a:r>
          </a:p>
        </p:txBody>
      </p:sp>
      <p:sp>
        <p:nvSpPr>
          <p:cNvPr id="52" name="Rounded Rectangle 51"/>
          <p:cNvSpPr/>
          <p:nvPr/>
        </p:nvSpPr>
        <p:spPr>
          <a:xfrm>
            <a:off x="13533120" y="2057400"/>
            <a:ext cx="3840480"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3761720" y="2240280"/>
            <a:ext cx="3383280" cy="868680"/>
          </a:xfrm>
          <a:prstGeom prst="rect">
            <a:avLst/>
          </a:prstGeom>
          <a:noFill/>
        </p:spPr>
        <p:txBody>
          <a:bodyPr wrap="square" lIns="0" rIns="0" tIns="0" bIns="0" anchor="t">
            <a:spAutoFit/>
          </a:bodyPr>
          <a:lstStyle/>
          <a:p>
            <a:pPr algn="ctr"/>
            <a:r>
              <a:rPr sz="3800" i="0">
                <a:solidFill>
                  <a:srgbClr val="627BA7"/>
                </a:solidFill>
                <a:latin typeface="Open Sans Bold"/>
              </a:rPr>
              <a:t>0.71 → 0.80</a:t>
            </a:r>
          </a:p>
        </p:txBody>
      </p:sp>
      <p:sp>
        <p:nvSpPr>
          <p:cNvPr id="54" name="TextBox 53"/>
          <p:cNvSpPr txBox="1"/>
          <p:nvPr/>
        </p:nvSpPr>
        <p:spPr>
          <a:xfrm>
            <a:off x="13761720" y="3200400"/>
            <a:ext cx="3383280" cy="731520"/>
          </a:xfrm>
          <a:prstGeom prst="rect">
            <a:avLst/>
          </a:prstGeom>
          <a:noFill/>
        </p:spPr>
        <p:txBody>
          <a:bodyPr wrap="square" lIns="0" rIns="0" tIns="0" bIns="0" anchor="t">
            <a:spAutoFit/>
          </a:bodyPr>
          <a:lstStyle/>
          <a:p>
            <a:pPr algn="ctr"/>
            <a:r>
              <a:rPr sz="1400" i="0">
                <a:solidFill>
                  <a:srgbClr val="545454"/>
                </a:solidFill>
                <a:latin typeface="Open Sans"/>
              </a:rPr>
              <a:t>Character-detection F1 after filtering</a:t>
            </a:r>
          </a:p>
        </p:txBody>
      </p:sp>
      <p:sp>
        <p:nvSpPr>
          <p:cNvPr id="55" name="Rounded Rectangle 54"/>
          <p:cNvSpPr/>
          <p:nvPr/>
        </p:nvSpPr>
        <p:spPr>
          <a:xfrm>
            <a:off x="914400" y="4480560"/>
            <a:ext cx="8046720" cy="4709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6" name="Chart 55"/>
          <p:cNvGraphicFramePr>
            <a:graphicFrameLocks noGrp="1"/>
          </p:cNvGraphicFramePr>
          <p:nvPr/>
        </p:nvGraphicFramePr>
        <p:xfrm>
          <a:off x="1143000" y="4617720"/>
          <a:ext cx="7589520" cy="4434840"/>
        </p:xfrm>
        <a:graphic>
          <a:graphicData uri="http://schemas.openxmlformats.org/drawingml/2006/chart">
            <c:chart xmlns:c="http://schemas.openxmlformats.org/drawingml/2006/chart" r:id="rId17"/>
          </a:graphicData>
        </a:graphic>
      </p:graphicFrame>
      <p:sp>
        <p:nvSpPr>
          <p:cNvPr id="57" name="Rounded Rectangle 56"/>
          <p:cNvSpPr/>
          <p:nvPr/>
        </p:nvSpPr>
        <p:spPr>
          <a:xfrm>
            <a:off x="9326880" y="4480560"/>
            <a:ext cx="8046720" cy="4709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8" name="Chart 57"/>
          <p:cNvGraphicFramePr>
            <a:graphicFrameLocks noGrp="1"/>
          </p:cNvGraphicFramePr>
          <p:nvPr/>
        </p:nvGraphicFramePr>
        <p:xfrm>
          <a:off x="9555480" y="4617720"/>
          <a:ext cx="7589520" cy="4434840"/>
        </p:xfrm>
        <a:graphic>
          <a:graphicData uri="http://schemas.openxmlformats.org/drawingml/2006/chart">
            <c:chart xmlns:c="http://schemas.openxmlformats.org/drawingml/2006/chart" r:id="rId18"/>
          </a:graphicData>
        </a:graphic>
      </p:graphicFrame>
      <p:sp>
        <p:nvSpPr>
          <p:cNvPr id="59" name="TextBox 58"/>
          <p:cNvSpPr txBox="1"/>
          <p:nvPr/>
        </p:nvSpPr>
        <p:spPr>
          <a:xfrm>
            <a:off x="914400" y="9326880"/>
            <a:ext cx="16459200" cy="457200"/>
          </a:xfrm>
          <a:prstGeom prst="rect">
            <a:avLst/>
          </a:prstGeom>
          <a:noFill/>
        </p:spPr>
        <p:txBody>
          <a:bodyPr wrap="square" lIns="0" rIns="0" tIns="0" bIns="0" anchor="t">
            <a:spAutoFit/>
          </a:bodyPr>
          <a:lstStyle/>
          <a:p>
            <a:pPr algn="ctr"/>
            <a:r>
              <a:rPr sz="1300" i="0">
                <a:solidFill>
                  <a:srgbClr val="545454"/>
                </a:solidFill>
                <a:latin typeface="Open Sans"/>
              </a:rPr>
              <a:t>50 generated stories and a user study with 15 participants. A 12-question budget gave the best balance: personalisation 4.3 / 5 in about 2.5 minutes.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02985" y="2173756"/>
            <a:ext cx="13537477" cy="1636935"/>
            <a:chOff x="0" y="0"/>
            <a:chExt cx="3565426" cy="431127"/>
          </a:xfrm>
        </p:grpSpPr>
        <p:sp>
          <p:nvSpPr>
            <p:cNvPr name="Freeform 4" id="4"/>
            <p:cNvSpPr/>
            <p:nvPr/>
          </p:nvSpPr>
          <p:spPr>
            <a:xfrm flipH="false" flipV="false" rot="0">
              <a:off x="0" y="0"/>
              <a:ext cx="3565426" cy="431127"/>
            </a:xfrm>
            <a:custGeom>
              <a:avLst/>
              <a:gdLst/>
              <a:ahLst/>
              <a:cxnLst/>
              <a:rect r="r" b="b" t="t" l="l"/>
              <a:pathLst>
                <a:path h="431127" w="3565426">
                  <a:moveTo>
                    <a:pt x="20016" y="0"/>
                  </a:moveTo>
                  <a:lnTo>
                    <a:pt x="3545410" y="0"/>
                  </a:lnTo>
                  <a:cubicBezTo>
                    <a:pt x="3550719" y="0"/>
                    <a:pt x="3555810" y="2109"/>
                    <a:pt x="3559564" y="5863"/>
                  </a:cubicBezTo>
                  <a:cubicBezTo>
                    <a:pt x="3563317" y="9616"/>
                    <a:pt x="3565426" y="14707"/>
                    <a:pt x="3565426" y="20016"/>
                  </a:cubicBezTo>
                  <a:lnTo>
                    <a:pt x="3565426" y="411111"/>
                  </a:lnTo>
                  <a:cubicBezTo>
                    <a:pt x="3565426" y="422165"/>
                    <a:pt x="3556465" y="431127"/>
                    <a:pt x="3545410" y="431127"/>
                  </a:cubicBezTo>
                  <a:lnTo>
                    <a:pt x="20016" y="431127"/>
                  </a:lnTo>
                  <a:cubicBezTo>
                    <a:pt x="8962" y="431127"/>
                    <a:pt x="0" y="422165"/>
                    <a:pt x="0" y="411111"/>
                  </a:cubicBezTo>
                  <a:lnTo>
                    <a:pt x="0" y="20016"/>
                  </a:lnTo>
                  <a:cubicBezTo>
                    <a:pt x="0" y="8962"/>
                    <a:pt x="8962" y="0"/>
                    <a:pt x="20016" y="0"/>
                  </a:cubicBezTo>
                  <a:close/>
                </a:path>
              </a:pathLst>
            </a:custGeom>
            <a:solidFill>
              <a:srgbClr val="7D4C84"/>
            </a:solidFill>
          </p:spPr>
        </p:sp>
        <p:sp>
          <p:nvSpPr>
            <p:cNvPr name="TextBox 5" id="5"/>
            <p:cNvSpPr txBox="true"/>
            <p:nvPr/>
          </p:nvSpPr>
          <p:spPr>
            <a:xfrm>
              <a:off x="0" y="-38100"/>
              <a:ext cx="3565426" cy="469227"/>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402985" y="4021226"/>
            <a:ext cx="11331385" cy="1636935"/>
            <a:chOff x="0" y="0"/>
            <a:chExt cx="2984398" cy="431127"/>
          </a:xfrm>
        </p:grpSpPr>
        <p:sp>
          <p:nvSpPr>
            <p:cNvPr name="Freeform 7" id="7"/>
            <p:cNvSpPr/>
            <p:nvPr/>
          </p:nvSpPr>
          <p:spPr>
            <a:xfrm flipH="false" flipV="false" rot="0">
              <a:off x="0" y="0"/>
              <a:ext cx="2984398" cy="431127"/>
            </a:xfrm>
            <a:custGeom>
              <a:avLst/>
              <a:gdLst/>
              <a:ahLst/>
              <a:cxnLst/>
              <a:rect r="r" b="b" t="t" l="l"/>
              <a:pathLst>
                <a:path h="431127" w="2984398">
                  <a:moveTo>
                    <a:pt x="23913" y="0"/>
                  </a:moveTo>
                  <a:lnTo>
                    <a:pt x="2960485" y="0"/>
                  </a:lnTo>
                  <a:cubicBezTo>
                    <a:pt x="2973692" y="0"/>
                    <a:pt x="2984398" y="10706"/>
                    <a:pt x="2984398" y="23913"/>
                  </a:cubicBezTo>
                  <a:lnTo>
                    <a:pt x="2984398" y="407214"/>
                  </a:lnTo>
                  <a:cubicBezTo>
                    <a:pt x="2984398" y="420421"/>
                    <a:pt x="2973692" y="431127"/>
                    <a:pt x="2960485" y="431127"/>
                  </a:cubicBezTo>
                  <a:lnTo>
                    <a:pt x="23913" y="431127"/>
                  </a:lnTo>
                  <a:cubicBezTo>
                    <a:pt x="10706" y="431127"/>
                    <a:pt x="0" y="420421"/>
                    <a:pt x="0" y="407214"/>
                  </a:cubicBezTo>
                  <a:lnTo>
                    <a:pt x="0" y="23913"/>
                  </a:lnTo>
                  <a:cubicBezTo>
                    <a:pt x="0" y="10706"/>
                    <a:pt x="10706" y="0"/>
                    <a:pt x="23913" y="0"/>
                  </a:cubicBezTo>
                  <a:close/>
                </a:path>
              </a:pathLst>
            </a:custGeom>
            <a:solidFill>
              <a:srgbClr val="8E699B"/>
            </a:solidFill>
          </p:spPr>
        </p:sp>
        <p:sp>
          <p:nvSpPr>
            <p:cNvPr name="TextBox 8" id="8"/>
            <p:cNvSpPr txBox="true"/>
            <p:nvPr/>
          </p:nvSpPr>
          <p:spPr>
            <a:xfrm>
              <a:off x="0" y="-38100"/>
              <a:ext cx="2984398" cy="469227"/>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402985" y="5871641"/>
            <a:ext cx="10467366" cy="1636935"/>
            <a:chOff x="0" y="0"/>
            <a:chExt cx="2756837" cy="431127"/>
          </a:xfrm>
        </p:grpSpPr>
        <p:sp>
          <p:nvSpPr>
            <p:cNvPr name="Freeform 10" id="10"/>
            <p:cNvSpPr/>
            <p:nvPr/>
          </p:nvSpPr>
          <p:spPr>
            <a:xfrm flipH="false" flipV="false" rot="0">
              <a:off x="0" y="0"/>
              <a:ext cx="2756837" cy="431127"/>
            </a:xfrm>
            <a:custGeom>
              <a:avLst/>
              <a:gdLst/>
              <a:ahLst/>
              <a:cxnLst/>
              <a:rect r="r" b="b" t="t" l="l"/>
              <a:pathLst>
                <a:path h="431127" w="2756837">
                  <a:moveTo>
                    <a:pt x="25887" y="0"/>
                  </a:moveTo>
                  <a:lnTo>
                    <a:pt x="2730950" y="0"/>
                  </a:lnTo>
                  <a:cubicBezTo>
                    <a:pt x="2737816" y="0"/>
                    <a:pt x="2744400" y="2727"/>
                    <a:pt x="2749255" y="7582"/>
                  </a:cubicBezTo>
                  <a:cubicBezTo>
                    <a:pt x="2754110" y="12437"/>
                    <a:pt x="2756837" y="19021"/>
                    <a:pt x="2756837" y="25887"/>
                  </a:cubicBezTo>
                  <a:lnTo>
                    <a:pt x="2756837" y="405240"/>
                  </a:lnTo>
                  <a:cubicBezTo>
                    <a:pt x="2756837" y="412106"/>
                    <a:pt x="2754110" y="418690"/>
                    <a:pt x="2749255" y="423545"/>
                  </a:cubicBezTo>
                  <a:cubicBezTo>
                    <a:pt x="2744400" y="428400"/>
                    <a:pt x="2737816" y="431127"/>
                    <a:pt x="2730950" y="431127"/>
                  </a:cubicBezTo>
                  <a:lnTo>
                    <a:pt x="25887" y="431127"/>
                  </a:lnTo>
                  <a:cubicBezTo>
                    <a:pt x="19021" y="431127"/>
                    <a:pt x="12437" y="428400"/>
                    <a:pt x="7582" y="423545"/>
                  </a:cubicBezTo>
                  <a:cubicBezTo>
                    <a:pt x="2727" y="418690"/>
                    <a:pt x="0" y="412106"/>
                    <a:pt x="0" y="405240"/>
                  </a:cubicBezTo>
                  <a:lnTo>
                    <a:pt x="0" y="25887"/>
                  </a:lnTo>
                  <a:cubicBezTo>
                    <a:pt x="0" y="19021"/>
                    <a:pt x="2727" y="12437"/>
                    <a:pt x="7582" y="7582"/>
                  </a:cubicBezTo>
                  <a:cubicBezTo>
                    <a:pt x="12437" y="2727"/>
                    <a:pt x="19021" y="0"/>
                    <a:pt x="25887" y="0"/>
                  </a:cubicBezTo>
                  <a:close/>
                </a:path>
              </a:pathLst>
            </a:custGeom>
            <a:solidFill>
              <a:srgbClr val="9F8AB0"/>
            </a:solidFill>
          </p:spPr>
        </p:sp>
        <p:sp>
          <p:nvSpPr>
            <p:cNvPr name="TextBox 11" id="11"/>
            <p:cNvSpPr txBox="true"/>
            <p:nvPr/>
          </p:nvSpPr>
          <p:spPr>
            <a:xfrm>
              <a:off x="0" y="-38100"/>
              <a:ext cx="2756837" cy="469227"/>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1402985" y="7722056"/>
            <a:ext cx="8833474" cy="1636935"/>
            <a:chOff x="0" y="0"/>
            <a:chExt cx="2326512" cy="431127"/>
          </a:xfrm>
        </p:grpSpPr>
        <p:sp>
          <p:nvSpPr>
            <p:cNvPr name="Freeform 13" id="13"/>
            <p:cNvSpPr/>
            <p:nvPr/>
          </p:nvSpPr>
          <p:spPr>
            <a:xfrm flipH="false" flipV="false" rot="0">
              <a:off x="0" y="0"/>
              <a:ext cx="2326512" cy="431127"/>
            </a:xfrm>
            <a:custGeom>
              <a:avLst/>
              <a:gdLst/>
              <a:ahLst/>
              <a:cxnLst/>
              <a:rect r="r" b="b" t="t" l="l"/>
              <a:pathLst>
                <a:path h="431127" w="2326512">
                  <a:moveTo>
                    <a:pt x="30675" y="0"/>
                  </a:moveTo>
                  <a:lnTo>
                    <a:pt x="2295837" y="0"/>
                  </a:lnTo>
                  <a:cubicBezTo>
                    <a:pt x="2303972" y="0"/>
                    <a:pt x="2311774" y="3232"/>
                    <a:pt x="2317527" y="8985"/>
                  </a:cubicBezTo>
                  <a:cubicBezTo>
                    <a:pt x="2323280" y="14737"/>
                    <a:pt x="2326512" y="22540"/>
                    <a:pt x="2326512" y="30675"/>
                  </a:cubicBezTo>
                  <a:lnTo>
                    <a:pt x="2326512" y="400452"/>
                  </a:lnTo>
                  <a:cubicBezTo>
                    <a:pt x="2326512" y="408587"/>
                    <a:pt x="2323280" y="416390"/>
                    <a:pt x="2317527" y="422142"/>
                  </a:cubicBezTo>
                  <a:cubicBezTo>
                    <a:pt x="2311774" y="427895"/>
                    <a:pt x="2303972" y="431127"/>
                    <a:pt x="2295837" y="431127"/>
                  </a:cubicBezTo>
                  <a:lnTo>
                    <a:pt x="30675" y="431127"/>
                  </a:lnTo>
                  <a:cubicBezTo>
                    <a:pt x="22540" y="431127"/>
                    <a:pt x="14737" y="427895"/>
                    <a:pt x="8985" y="422142"/>
                  </a:cubicBezTo>
                  <a:cubicBezTo>
                    <a:pt x="3232" y="416390"/>
                    <a:pt x="0" y="408587"/>
                    <a:pt x="0" y="400452"/>
                  </a:cubicBezTo>
                  <a:lnTo>
                    <a:pt x="0" y="30675"/>
                  </a:lnTo>
                  <a:cubicBezTo>
                    <a:pt x="0" y="22540"/>
                    <a:pt x="3232" y="14737"/>
                    <a:pt x="8985" y="8985"/>
                  </a:cubicBezTo>
                  <a:cubicBezTo>
                    <a:pt x="14737" y="3232"/>
                    <a:pt x="22540" y="0"/>
                    <a:pt x="30675" y="0"/>
                  </a:cubicBezTo>
                  <a:close/>
                </a:path>
              </a:pathLst>
            </a:custGeom>
            <a:solidFill>
              <a:srgbClr val="627BA7"/>
            </a:solidFill>
          </p:spPr>
        </p:sp>
        <p:sp>
          <p:nvSpPr>
            <p:cNvPr name="TextBox 14" id="14"/>
            <p:cNvSpPr txBox="true"/>
            <p:nvPr/>
          </p:nvSpPr>
          <p:spPr>
            <a:xfrm>
              <a:off x="0" y="-38100"/>
              <a:ext cx="2326512" cy="469227"/>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0">
            <a:off x="1766591" y="4393619"/>
            <a:ext cx="809625" cy="892149"/>
          </a:xfrm>
          <a:custGeom>
            <a:avLst/>
            <a:gdLst/>
            <a:ahLst/>
            <a:cxnLst/>
            <a:rect r="r" b="b" t="t" l="l"/>
            <a:pathLst>
              <a:path h="892149" w="809625">
                <a:moveTo>
                  <a:pt x="0" y="0"/>
                </a:moveTo>
                <a:lnTo>
                  <a:pt x="809625" y="0"/>
                </a:lnTo>
                <a:lnTo>
                  <a:pt x="809625" y="892149"/>
                </a:lnTo>
                <a:lnTo>
                  <a:pt x="0" y="8921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766591" y="2571635"/>
            <a:ext cx="857250" cy="841177"/>
          </a:xfrm>
          <a:custGeom>
            <a:avLst/>
            <a:gdLst/>
            <a:ahLst/>
            <a:cxnLst/>
            <a:rect r="r" b="b" t="t" l="l"/>
            <a:pathLst>
              <a:path h="841177" w="857250">
                <a:moveTo>
                  <a:pt x="0" y="0"/>
                </a:moveTo>
                <a:lnTo>
                  <a:pt x="857250" y="0"/>
                </a:lnTo>
                <a:lnTo>
                  <a:pt x="857250" y="841177"/>
                </a:lnTo>
                <a:lnTo>
                  <a:pt x="0" y="8411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718966" y="6278238"/>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742779" y="8127701"/>
            <a:ext cx="857250" cy="829389"/>
          </a:xfrm>
          <a:custGeom>
            <a:avLst/>
            <a:gdLst/>
            <a:ahLst/>
            <a:cxnLst/>
            <a:rect r="r" b="b" t="t" l="l"/>
            <a:pathLst>
              <a:path h="829389" w="857250">
                <a:moveTo>
                  <a:pt x="0" y="0"/>
                </a:moveTo>
                <a:lnTo>
                  <a:pt x="857250" y="0"/>
                </a:lnTo>
                <a:lnTo>
                  <a:pt x="857250" y="829389"/>
                </a:lnTo>
                <a:lnTo>
                  <a:pt x="0" y="8293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402985" y="942975"/>
            <a:ext cx="9645724" cy="1583055"/>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Motivation</a:t>
            </a:r>
          </a:p>
          <a:p>
            <a:pPr algn="l">
              <a:lnSpc>
                <a:spcPts val="5940"/>
              </a:lnSpc>
            </a:pPr>
          </a:p>
        </p:txBody>
      </p:sp>
      <p:sp>
        <p:nvSpPr>
          <p:cNvPr name="TextBox 20" id="20"/>
          <p:cNvSpPr txBox="true"/>
          <p:nvPr/>
        </p:nvSpPr>
        <p:spPr>
          <a:xfrm rot="0">
            <a:off x="2918644" y="2362032"/>
            <a:ext cx="11585584" cy="1284509"/>
          </a:xfrm>
          <a:prstGeom prst="rect">
            <a:avLst/>
          </a:prstGeom>
        </p:spPr>
        <p:txBody>
          <a:bodyPr anchor="t" rtlCol="false" tIns="0" lIns="0" bIns="0" rIns="0">
            <a:spAutoFit/>
          </a:bodyPr>
          <a:lstStyle/>
          <a:p>
            <a:pPr algn="l">
              <a:lnSpc>
                <a:spcPts val="3473"/>
              </a:lnSpc>
            </a:pPr>
            <a:r>
              <a:rPr lang="en-US" sz="2481" b="true">
                <a:solidFill>
                  <a:srgbClr val="FFFFFF"/>
                </a:solidFill>
                <a:latin typeface="Open Sans Bold"/>
                <a:ea typeface="Open Sans Bold"/>
                <a:cs typeface="Open Sans Bold"/>
                <a:sym typeface="Open Sans Bold"/>
              </a:rPr>
              <a:t>Addresses Unexplored Research Gap: Literature review of 30+ papers reveals no existing work on Q&amp;A-driven narrative generation, presenting a novel research opportunity.</a:t>
            </a:r>
          </a:p>
        </p:txBody>
      </p:sp>
      <p:sp>
        <p:nvSpPr>
          <p:cNvPr name="Freeform 21" id="21"/>
          <p:cNvSpPr/>
          <p:nvPr/>
        </p:nvSpPr>
        <p:spPr>
          <a:xfrm flipH="false" flipV="true" rot="7304419">
            <a:off x="4511258" y="10153489"/>
            <a:ext cx="18293405" cy="6059690"/>
          </a:xfrm>
          <a:custGeom>
            <a:avLst/>
            <a:gdLst/>
            <a:ahLst/>
            <a:cxnLst/>
            <a:rect r="r" b="b" t="t" l="l"/>
            <a:pathLst>
              <a:path h="6059690" w="18293405">
                <a:moveTo>
                  <a:pt x="0" y="6059690"/>
                </a:moveTo>
                <a:lnTo>
                  <a:pt x="18293405" y="6059690"/>
                </a:lnTo>
                <a:lnTo>
                  <a:pt x="18293405" y="0"/>
                </a:lnTo>
                <a:lnTo>
                  <a:pt x="0" y="0"/>
                </a:lnTo>
                <a:lnTo>
                  <a:pt x="0" y="6059690"/>
                </a:lnTo>
                <a:close/>
              </a:path>
            </a:pathLst>
          </a:custGeom>
          <a:blipFill>
            <a:blip r:embed="rId11">
              <a:alphaModFix amt="10999"/>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true" rot="-1243366">
            <a:off x="11986614" y="150864"/>
            <a:ext cx="10545372" cy="3493155"/>
          </a:xfrm>
          <a:custGeom>
            <a:avLst/>
            <a:gdLst/>
            <a:ahLst/>
            <a:cxnLst/>
            <a:rect r="r" b="b" t="t" l="l"/>
            <a:pathLst>
              <a:path h="3493155" w="10545372">
                <a:moveTo>
                  <a:pt x="0" y="3493155"/>
                </a:moveTo>
                <a:lnTo>
                  <a:pt x="10545372" y="3493155"/>
                </a:lnTo>
                <a:lnTo>
                  <a:pt x="10545372" y="0"/>
                </a:lnTo>
                <a:lnTo>
                  <a:pt x="0" y="0"/>
                </a:lnTo>
                <a:lnTo>
                  <a:pt x="0" y="3493155"/>
                </a:lnTo>
                <a:close/>
              </a:path>
            </a:pathLst>
          </a:custGeom>
          <a:blipFill>
            <a:blip r:embed="rId11">
              <a:alphaModFix amt="10999"/>
              <a:extLst>
                <a:ext uri="{96DAC541-7B7A-43D3-8B79-37D633B846F1}">
                  <asvg:svgBlip xmlns:asvg="http://schemas.microsoft.com/office/drawing/2016/SVG/main" r:embed="rId12"/>
                </a:ext>
              </a:extLst>
            </a:blip>
            <a:stretch>
              <a:fillRect l="0" t="0" r="0" b="0"/>
            </a:stretch>
          </a:blipFill>
        </p:spPr>
      </p:sp>
      <p:sp>
        <p:nvSpPr>
          <p:cNvPr name="TextBox 23" id="23"/>
          <p:cNvSpPr txBox="true"/>
          <p:nvPr/>
        </p:nvSpPr>
        <p:spPr>
          <a:xfrm rot="0">
            <a:off x="2918644" y="4235017"/>
            <a:ext cx="9550123" cy="1161727"/>
          </a:xfrm>
          <a:prstGeom prst="rect">
            <a:avLst/>
          </a:prstGeom>
        </p:spPr>
        <p:txBody>
          <a:bodyPr anchor="t" rtlCol="false" tIns="0" lIns="0" bIns="0" rIns="0">
            <a:spAutoFit/>
          </a:bodyPr>
          <a:lstStyle/>
          <a:p>
            <a:pPr algn="l">
              <a:lnSpc>
                <a:spcPts val="3129"/>
              </a:lnSpc>
            </a:pPr>
            <a:r>
              <a:rPr lang="en-US" sz="2235" b="true">
                <a:solidFill>
                  <a:srgbClr val="FFFFFF"/>
                </a:solidFill>
                <a:latin typeface="Open Sans Bold"/>
                <a:ea typeface="Open Sans Bold"/>
                <a:cs typeface="Open Sans Bold"/>
                <a:sym typeface="Open Sans Bold"/>
              </a:rPr>
              <a:t>Enables User-Driven Story Creation: Structured questioning framework allows users to actively shape narratives through conversational interaction rather than passive prompting.</a:t>
            </a:r>
          </a:p>
        </p:txBody>
      </p:sp>
      <p:sp>
        <p:nvSpPr>
          <p:cNvPr name="TextBox 24" id="24"/>
          <p:cNvSpPr txBox="true"/>
          <p:nvPr/>
        </p:nvSpPr>
        <p:spPr>
          <a:xfrm rot="0">
            <a:off x="2918644" y="6170546"/>
            <a:ext cx="7598867" cy="1034535"/>
          </a:xfrm>
          <a:prstGeom prst="rect">
            <a:avLst/>
          </a:prstGeom>
        </p:spPr>
        <p:txBody>
          <a:bodyPr anchor="t" rtlCol="false" tIns="0" lIns="0" bIns="0" rIns="0">
            <a:spAutoFit/>
          </a:bodyPr>
          <a:lstStyle/>
          <a:p>
            <a:pPr algn="l">
              <a:lnSpc>
                <a:spcPts val="2798"/>
              </a:lnSpc>
            </a:pPr>
            <a:r>
              <a:rPr lang="en-US" sz="1998" b="true">
                <a:solidFill>
                  <a:srgbClr val="FFFFFF"/>
                </a:solidFill>
                <a:latin typeface="Open Sans Bold"/>
                <a:ea typeface="Open Sans Bold"/>
                <a:cs typeface="Open Sans Bold"/>
                <a:sym typeface="Open Sans Bold"/>
              </a:rPr>
              <a:t>Technical Innovation: Integrates adaptive question generation, context-aware dialogue management, and LLM-based narrative synthesis into unified framework.</a:t>
            </a:r>
          </a:p>
        </p:txBody>
      </p:sp>
      <p:sp>
        <p:nvSpPr>
          <p:cNvPr name="TextBox 25" id="25"/>
          <p:cNvSpPr txBox="true"/>
          <p:nvPr/>
        </p:nvSpPr>
        <p:spPr>
          <a:xfrm rot="0">
            <a:off x="2918644" y="8099126"/>
            <a:ext cx="6512820" cy="898052"/>
          </a:xfrm>
          <a:prstGeom prst="rect">
            <a:avLst/>
          </a:prstGeom>
        </p:spPr>
        <p:txBody>
          <a:bodyPr anchor="t" rtlCol="false" tIns="0" lIns="0" bIns="0" rIns="0">
            <a:spAutoFit/>
          </a:bodyPr>
          <a:lstStyle/>
          <a:p>
            <a:pPr algn="l">
              <a:lnSpc>
                <a:spcPts val="2441"/>
              </a:lnSpc>
            </a:pPr>
            <a:r>
              <a:rPr lang="en-US" sz="1744" b="true">
                <a:solidFill>
                  <a:srgbClr val="FFFFFF"/>
                </a:solidFill>
                <a:latin typeface="Open Sans Bold"/>
                <a:ea typeface="Open Sans Bold"/>
                <a:cs typeface="Open Sans Bold"/>
                <a:sym typeface="Open Sans Bold"/>
              </a:rPr>
              <a:t>Broad Application Potential: Proposed system has applications across education, interactive entertainment, therapeutic storytelling, and content creation domains.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505013" y="1327576"/>
            <a:ext cx="7638987" cy="1952700"/>
          </a:xfrm>
          <a:prstGeom prst="rect">
            <a:avLst/>
          </a:prstGeom>
        </p:spPr>
        <p:txBody>
          <a:bodyPr anchor="t" rtlCol="false" tIns="0" lIns="0" bIns="0" rIns="0">
            <a:spAutoFit/>
          </a:bodyPr>
          <a:lstStyle/>
          <a:p>
            <a:pPr algn="l">
              <a:lnSpc>
                <a:spcPts val="13065"/>
              </a:lnSpc>
            </a:pPr>
            <a:r>
              <a:rPr lang="en-US" b="true" sz="12325" spc="98">
                <a:solidFill>
                  <a:srgbClr val="7D4C84"/>
                </a:solidFill>
                <a:latin typeface="Futura Bold"/>
                <a:ea typeface="Futura Bold"/>
                <a:cs typeface="Futura Bold"/>
                <a:sym typeface="Futura Bold"/>
              </a:rPr>
              <a:t>Conclusion</a:t>
            </a:r>
          </a:p>
        </p:txBody>
      </p:sp>
      <p:sp>
        <p:nvSpPr>
          <p:cNvPr name="TextBox 4" id="4"/>
          <p:cNvSpPr txBox="true"/>
          <p:nvPr/>
        </p:nvSpPr>
        <p:spPr>
          <a:xfrm rot="-5400000">
            <a:off x="12982605" y="4981605"/>
            <a:ext cx="6974252" cy="3636537"/>
          </a:xfrm>
          <a:prstGeom prst="rect">
            <a:avLst/>
          </a:prstGeom>
        </p:spPr>
        <p:txBody>
          <a:bodyPr anchor="t" rtlCol="false" tIns="0" lIns="0" bIns="0" rIns="0">
            <a:spAutoFit/>
          </a:bodyPr>
          <a:lstStyle/>
          <a:p>
            <a:pPr algn="ctr">
              <a:lnSpc>
                <a:spcPts val="12612"/>
              </a:lnSpc>
            </a:pPr>
            <a:r>
              <a:rPr lang="en-US" b="true" sz="14497" spc="2319">
                <a:solidFill>
                  <a:srgbClr val="041226">
                    <a:alpha val="4706"/>
                  </a:srgbClr>
                </a:solidFill>
                <a:latin typeface="Futura Bold"/>
                <a:ea typeface="Futura Bold"/>
                <a:cs typeface="Futura Bold"/>
                <a:sym typeface="Futura Bold"/>
              </a:rPr>
              <a:t>Conclusion</a:t>
            </a:r>
          </a:p>
        </p:txBody>
      </p:sp>
      <p:sp>
        <p:nvSpPr>
          <p:cNvPr name="TextBox 5" id="5"/>
          <p:cNvSpPr txBox="true"/>
          <p:nvPr/>
        </p:nvSpPr>
        <p:spPr>
          <a:xfrm rot="0">
            <a:off x="1505013" y="3441117"/>
            <a:ext cx="12246118" cy="2640781"/>
          </a:xfrm>
          <a:prstGeom prst="rect">
            <a:avLst/>
          </a:prstGeom>
        </p:spPr>
        <p:txBody>
          <a:bodyPr anchor="t" rtlCol="false" tIns="0" lIns="0" bIns="0" rIns="0">
            <a:spAutoFit/>
          </a:bodyPr>
          <a:lstStyle/>
          <a:p>
            <a:pPr algn="just">
              <a:lnSpc>
                <a:spcPts val="2687"/>
              </a:lnSpc>
              <a:spcBef>
                <a:spcPct val="0"/>
              </a:spcBef>
            </a:pPr>
            <a:r>
              <a:rPr lang="en-US" sz="1919">
                <a:solidFill>
                  <a:srgbClr val="4D4D4D"/>
                </a:solidFill>
                <a:latin typeface="Montserrat"/>
                <a:ea typeface="Montserrat"/>
                <a:cs typeface="Montserrat"/>
                <a:sym typeface="Montserrat"/>
              </a:rPr>
              <a:t>This project presents an interactive question-and-answer-based story generation system that uses the capabilities of large language models to create coherent, personalized, and context-rich narratives. By capturing structured user inputs and converting them into meaningful story attributes, the system demonstrates how generative AI can enhance creativity, engagement, and customization in textual storytelling. The proposed framework improves narrative coherence, strengthens personalization, and enables controlled story generation, addressing key limitations found in traditional prompt-based systems. Overall, the work highlights the potential of LLMs to transform user-driven inputs into high-quality stories with improved consistency and relevance.</a:t>
            </a:r>
          </a:p>
        </p:txBody>
      </p:sp>
      <p:sp>
        <p:nvSpPr>
          <p:cNvPr name="Freeform 6" id="6"/>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2846557">
            <a:off x="-5634820" y="7879476"/>
            <a:ext cx="18651033" cy="6178155"/>
          </a:xfrm>
          <a:custGeom>
            <a:avLst/>
            <a:gdLst/>
            <a:ahLst/>
            <a:cxnLst/>
            <a:rect r="r" b="b" t="t" l="l"/>
            <a:pathLst>
              <a:path h="6178155" w="18651033">
                <a:moveTo>
                  <a:pt x="0" y="6178155"/>
                </a:moveTo>
                <a:lnTo>
                  <a:pt x="18651032" y="6178155"/>
                </a:lnTo>
                <a:lnTo>
                  <a:pt x="18651032"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true" rot="2846557">
            <a:off x="7173962" y="191198"/>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TextBox 37" id="37"/>
          <p:cNvSpPr txBox="true"/>
          <p:nvPr/>
        </p:nvSpPr>
        <p:spPr>
          <a:xfrm rot="0">
            <a:off x="914400" y="914400"/>
            <a:ext cx="16459200"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Future Scope</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id="43" name="Rounded Rectangle 42"/>
          <p:cNvSpPr/>
          <p:nvPr/>
        </p:nvSpPr>
        <p:spPr>
          <a:xfrm>
            <a:off x="914400" y="265176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1234440" y="2971800"/>
            <a:ext cx="822960" cy="82296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01</a:t>
            </a:r>
          </a:p>
        </p:txBody>
      </p:sp>
      <p:sp>
        <p:nvSpPr>
          <p:cNvPr id="45" name="TextBox 44"/>
          <p:cNvSpPr txBox="1"/>
          <p:nvPr/>
        </p:nvSpPr>
        <p:spPr>
          <a:xfrm>
            <a:off x="2240280" y="310896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Semantic understanding</a:t>
            </a:r>
          </a:p>
        </p:txBody>
      </p:sp>
      <p:sp>
        <p:nvSpPr>
          <p:cNvPr id="46" name="TextBox 45"/>
          <p:cNvSpPr txBox="1"/>
          <p:nvPr/>
        </p:nvSpPr>
        <p:spPr>
          <a:xfrm>
            <a:off x="1234440" y="4023360"/>
            <a:ext cx="4599432" cy="1188720"/>
          </a:xfrm>
          <a:prstGeom prst="rect">
            <a:avLst/>
          </a:prstGeom>
          <a:noFill/>
        </p:spPr>
        <p:txBody>
          <a:bodyPr wrap="square" lIns="0" rIns="0" tIns="0" bIns="0" anchor="t">
            <a:spAutoFit/>
          </a:bodyPr>
          <a:lstStyle/>
          <a:p>
            <a:pPr algn="l"/>
            <a:r>
              <a:rPr sz="1800" i="0">
                <a:solidFill>
                  <a:srgbClr val="545454"/>
                </a:solidFill>
                <a:latin typeface="Open Sans"/>
              </a:rPr>
              <a:t>DistilBERT or zero-shot LLM context extraction and NLI-based consistency checks</a:t>
            </a:r>
          </a:p>
        </p:txBody>
      </p:sp>
      <p:sp>
        <p:nvSpPr>
          <p:cNvPr id="47" name="Rounded Rectangle 46"/>
          <p:cNvSpPr/>
          <p:nvPr/>
        </p:nvSpPr>
        <p:spPr>
          <a:xfrm>
            <a:off x="6565392" y="265176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6885432" y="2971800"/>
            <a:ext cx="822960" cy="82296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02</a:t>
            </a:r>
          </a:p>
        </p:txBody>
      </p:sp>
      <p:sp>
        <p:nvSpPr>
          <p:cNvPr id="49" name="TextBox 48"/>
          <p:cNvSpPr txBox="1"/>
          <p:nvPr/>
        </p:nvSpPr>
        <p:spPr>
          <a:xfrm>
            <a:off x="7891272" y="310896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Local image generation</a:t>
            </a:r>
          </a:p>
        </p:txBody>
      </p:sp>
      <p:sp>
        <p:nvSpPr>
          <p:cNvPr id="50" name="TextBox 49"/>
          <p:cNvSpPr txBox="1"/>
          <p:nvPr/>
        </p:nvSpPr>
        <p:spPr>
          <a:xfrm>
            <a:off x="6885432" y="4023360"/>
            <a:ext cx="4599432" cy="1188720"/>
          </a:xfrm>
          <a:prstGeom prst="rect">
            <a:avLst/>
          </a:prstGeom>
          <a:noFill/>
        </p:spPr>
        <p:txBody>
          <a:bodyPr wrap="square" lIns="0" rIns="0" tIns="0" bIns="0" anchor="t">
            <a:spAutoFit/>
          </a:bodyPr>
          <a:lstStyle/>
          <a:p>
            <a:pPr algn="l"/>
            <a:r>
              <a:rPr sz="1800" i="0">
                <a:solidFill>
                  <a:srgbClr val="545454"/>
                </a:solidFill>
                <a:latin typeface="Open Sans"/>
              </a:rPr>
              <a:t>SDXL or FLUX.1 for offline use and the same look for each character</a:t>
            </a:r>
          </a:p>
        </p:txBody>
      </p:sp>
      <p:sp>
        <p:nvSpPr>
          <p:cNvPr id="51" name="Rounded Rectangle 50"/>
          <p:cNvSpPr/>
          <p:nvPr/>
        </p:nvSpPr>
        <p:spPr>
          <a:xfrm>
            <a:off x="12216384" y="265176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2536424" y="2971800"/>
            <a:ext cx="822960" cy="822960"/>
          </a:xfrm>
          <a:prstGeom prst="ellipse">
            <a:avLst/>
          </a:prstGeom>
          <a:solidFill>
            <a:srgbClr val="9F8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03</a:t>
            </a:r>
          </a:p>
        </p:txBody>
      </p:sp>
      <p:sp>
        <p:nvSpPr>
          <p:cNvPr id="53" name="TextBox 52"/>
          <p:cNvSpPr txBox="1"/>
          <p:nvPr/>
        </p:nvSpPr>
        <p:spPr>
          <a:xfrm>
            <a:off x="13542264" y="310896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Neural voices</a:t>
            </a:r>
          </a:p>
        </p:txBody>
      </p:sp>
      <p:sp>
        <p:nvSpPr>
          <p:cNvPr id="54" name="TextBox 53"/>
          <p:cNvSpPr txBox="1"/>
          <p:nvPr/>
        </p:nvSpPr>
        <p:spPr>
          <a:xfrm>
            <a:off x="12536424" y="4023360"/>
            <a:ext cx="4599432" cy="1188720"/>
          </a:xfrm>
          <a:prstGeom prst="rect">
            <a:avLst/>
          </a:prstGeom>
          <a:noFill/>
        </p:spPr>
        <p:txBody>
          <a:bodyPr wrap="square" lIns="0" rIns="0" tIns="0" bIns="0" anchor="t">
            <a:spAutoFit/>
          </a:bodyPr>
          <a:lstStyle/>
          <a:p>
            <a:pPr algn="l"/>
            <a:r>
              <a:rPr sz="1800" i="0">
                <a:solidFill>
                  <a:srgbClr val="545454"/>
                </a:solidFill>
                <a:latin typeface="Open Sans"/>
              </a:rPr>
              <a:t>XTTS narration with a distinct voice for every character</a:t>
            </a:r>
          </a:p>
        </p:txBody>
      </p:sp>
      <p:sp>
        <p:nvSpPr>
          <p:cNvPr id="55" name="Rounded Rectangle 54"/>
          <p:cNvSpPr/>
          <p:nvPr/>
        </p:nvSpPr>
        <p:spPr>
          <a:xfrm>
            <a:off x="914400" y="571500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1234440" y="6035040"/>
            <a:ext cx="822960" cy="822960"/>
          </a:xfrm>
          <a:prstGeom prst="ellipse">
            <a:avLst/>
          </a:prstGeom>
          <a:solidFill>
            <a:srgbClr val="627B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04</a:t>
            </a:r>
          </a:p>
        </p:txBody>
      </p:sp>
      <p:sp>
        <p:nvSpPr>
          <p:cNvPr id="57" name="TextBox 56"/>
          <p:cNvSpPr txBox="1"/>
          <p:nvPr/>
        </p:nvSpPr>
        <p:spPr>
          <a:xfrm>
            <a:off x="2240280" y="617220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Mood-aware music</a:t>
            </a:r>
          </a:p>
        </p:txBody>
      </p:sp>
      <p:sp>
        <p:nvSpPr>
          <p:cNvPr id="58" name="TextBox 57"/>
          <p:cNvSpPr txBox="1"/>
          <p:nvPr/>
        </p:nvSpPr>
        <p:spPr>
          <a:xfrm>
            <a:off x="1234440" y="7086600"/>
            <a:ext cx="4599432" cy="1188720"/>
          </a:xfrm>
          <a:prstGeom prst="rect">
            <a:avLst/>
          </a:prstGeom>
          <a:noFill/>
        </p:spPr>
        <p:txBody>
          <a:bodyPr wrap="square" lIns="0" rIns="0" tIns="0" bIns="0" anchor="t">
            <a:spAutoFit/>
          </a:bodyPr>
          <a:lstStyle/>
          <a:p>
            <a:pPr algn="l"/>
            <a:r>
              <a:rPr sz="1800" i="0">
                <a:solidFill>
                  <a:srgbClr val="545454"/>
                </a:solidFill>
                <a:latin typeface="Open Sans"/>
              </a:rPr>
              <a:t>Music that follows each segment's mood, not only the genre</a:t>
            </a:r>
          </a:p>
        </p:txBody>
      </p:sp>
      <p:sp>
        <p:nvSpPr>
          <p:cNvPr id="59" name="Rounded Rectangle 58"/>
          <p:cNvSpPr/>
          <p:nvPr/>
        </p:nvSpPr>
        <p:spPr>
          <a:xfrm>
            <a:off x="6565392" y="571500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6885432" y="6035040"/>
            <a:ext cx="822960" cy="822960"/>
          </a:xfrm>
          <a:prstGeom prst="ellipse">
            <a:avLst/>
          </a:prstGeom>
          <a:solidFill>
            <a:srgbClr val="7D4C8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05</a:t>
            </a:r>
          </a:p>
        </p:txBody>
      </p:sp>
      <p:sp>
        <p:nvSpPr>
          <p:cNvPr id="61" name="TextBox 60"/>
          <p:cNvSpPr txBox="1"/>
          <p:nvPr/>
        </p:nvSpPr>
        <p:spPr>
          <a:xfrm>
            <a:off x="7891272" y="617220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Collaborative stories</a:t>
            </a:r>
          </a:p>
        </p:txBody>
      </p:sp>
      <p:sp>
        <p:nvSpPr>
          <p:cNvPr id="62" name="TextBox 61"/>
          <p:cNvSpPr txBox="1"/>
          <p:nvPr/>
        </p:nvSpPr>
        <p:spPr>
          <a:xfrm>
            <a:off x="6885432" y="7086600"/>
            <a:ext cx="4599432" cy="1188720"/>
          </a:xfrm>
          <a:prstGeom prst="rect">
            <a:avLst/>
          </a:prstGeom>
          <a:noFill/>
        </p:spPr>
        <p:txBody>
          <a:bodyPr wrap="square" lIns="0" rIns="0" tIns="0" bIns="0" anchor="t">
            <a:spAutoFit/>
          </a:bodyPr>
          <a:lstStyle/>
          <a:p>
            <a:pPr algn="l"/>
            <a:r>
              <a:rPr sz="1800" i="0">
                <a:solidFill>
                  <a:srgbClr val="545454"/>
                </a:solidFill>
                <a:latin typeface="Open Sans"/>
              </a:rPr>
              <a:t>Multi-user sessions with shared questions and turn-taking</a:t>
            </a:r>
          </a:p>
        </p:txBody>
      </p:sp>
      <p:sp>
        <p:nvSpPr>
          <p:cNvPr id="63" name="Rounded Rectangle 62"/>
          <p:cNvSpPr/>
          <p:nvPr/>
        </p:nvSpPr>
        <p:spPr>
          <a:xfrm>
            <a:off x="12216384" y="5715000"/>
            <a:ext cx="523951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12536424" y="6035040"/>
            <a:ext cx="822960" cy="822960"/>
          </a:xfrm>
          <a:prstGeom prst="ellipse">
            <a:avLst/>
          </a:prstGeom>
          <a:solidFill>
            <a:srgbClr val="8E69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Open Sans Bold"/>
              </a:rPr>
              <a:t>06</a:t>
            </a:r>
          </a:p>
        </p:txBody>
      </p:sp>
      <p:sp>
        <p:nvSpPr>
          <p:cNvPr id="65" name="TextBox 64"/>
          <p:cNvSpPr txBox="1"/>
          <p:nvPr/>
        </p:nvSpPr>
        <p:spPr>
          <a:xfrm>
            <a:off x="13542264" y="6172200"/>
            <a:ext cx="3685032" cy="548640"/>
          </a:xfrm>
          <a:prstGeom prst="rect">
            <a:avLst/>
          </a:prstGeom>
          <a:noFill/>
        </p:spPr>
        <p:txBody>
          <a:bodyPr wrap="square" lIns="0" rIns="0" tIns="0" bIns="0" anchor="t">
            <a:spAutoFit/>
          </a:bodyPr>
          <a:lstStyle/>
          <a:p>
            <a:pPr algn="l"/>
            <a:r>
              <a:rPr sz="2000" i="0">
                <a:solidFill>
                  <a:srgbClr val="000000"/>
                </a:solidFill>
                <a:latin typeface="Open Sans Bold"/>
              </a:rPr>
              <a:t>Multilingual &amp; scalable</a:t>
            </a:r>
          </a:p>
        </p:txBody>
      </p:sp>
      <p:sp>
        <p:nvSpPr>
          <p:cNvPr id="66" name="TextBox 65"/>
          <p:cNvSpPr txBox="1"/>
          <p:nvPr/>
        </p:nvSpPr>
        <p:spPr>
          <a:xfrm>
            <a:off x="12536424" y="7086600"/>
            <a:ext cx="4599432" cy="1188720"/>
          </a:xfrm>
          <a:prstGeom prst="rect">
            <a:avLst/>
          </a:prstGeom>
          <a:noFill/>
        </p:spPr>
        <p:txBody>
          <a:bodyPr wrap="square" lIns="0" rIns="0" tIns="0" bIns="0" anchor="t">
            <a:spAutoFit/>
          </a:bodyPr>
          <a:lstStyle/>
          <a:p>
            <a:pPr algn="l"/>
            <a:r>
              <a:rPr sz="1800" i="0">
                <a:solidFill>
                  <a:srgbClr val="545454"/>
                </a:solidFill>
                <a:latin typeface="Open Sans"/>
              </a:rPr>
              <a:t>Hindi and Marathi stories; Docker and Redis for deployment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7D4C84"/>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6660790" y="2862623"/>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grpSp>
        <p:nvGrpSpPr>
          <p:cNvPr name="Group 7" id="7"/>
          <p:cNvGrpSpPr/>
          <p:nvPr/>
        </p:nvGrpSpPr>
        <p:grpSpPr>
          <a:xfrm rot="0">
            <a:off x="12617823" y="4947296"/>
            <a:ext cx="4641477" cy="1015029"/>
            <a:chOff x="0" y="0"/>
            <a:chExt cx="1222447" cy="267333"/>
          </a:xfrm>
        </p:grpSpPr>
        <p:sp>
          <p:nvSpPr>
            <p:cNvPr name="Freeform 8" id="8"/>
            <p:cNvSpPr/>
            <p:nvPr/>
          </p:nvSpPr>
          <p:spPr>
            <a:xfrm flipH="false" flipV="false" rot="0">
              <a:off x="0" y="0"/>
              <a:ext cx="1222447" cy="267333"/>
            </a:xfrm>
            <a:custGeom>
              <a:avLst/>
              <a:gdLst/>
              <a:ahLst/>
              <a:cxnLst/>
              <a:rect r="r" b="b" t="t" l="l"/>
              <a:pathLst>
                <a:path h="267333" w="1222447">
                  <a:moveTo>
                    <a:pt x="133666" y="0"/>
                  </a:moveTo>
                  <a:lnTo>
                    <a:pt x="1088780" y="0"/>
                  </a:lnTo>
                  <a:cubicBezTo>
                    <a:pt x="1124231" y="0"/>
                    <a:pt x="1158229" y="14083"/>
                    <a:pt x="1183297" y="39150"/>
                  </a:cubicBezTo>
                  <a:cubicBezTo>
                    <a:pt x="1208364" y="64217"/>
                    <a:pt x="1222447" y="98216"/>
                    <a:pt x="1222447" y="133666"/>
                  </a:cubicBezTo>
                  <a:lnTo>
                    <a:pt x="1222447" y="133666"/>
                  </a:lnTo>
                  <a:cubicBezTo>
                    <a:pt x="1222447" y="169117"/>
                    <a:pt x="1208364" y="203115"/>
                    <a:pt x="1183297" y="228183"/>
                  </a:cubicBezTo>
                  <a:cubicBezTo>
                    <a:pt x="1158229" y="253250"/>
                    <a:pt x="1124231" y="267333"/>
                    <a:pt x="1088780" y="267333"/>
                  </a:cubicBezTo>
                  <a:lnTo>
                    <a:pt x="133666" y="267333"/>
                  </a:lnTo>
                  <a:cubicBezTo>
                    <a:pt x="98216" y="267333"/>
                    <a:pt x="64217" y="253250"/>
                    <a:pt x="39150" y="228183"/>
                  </a:cubicBezTo>
                  <a:cubicBezTo>
                    <a:pt x="14083" y="203115"/>
                    <a:pt x="0" y="169117"/>
                    <a:pt x="0" y="133666"/>
                  </a:cubicBezTo>
                  <a:lnTo>
                    <a:pt x="0" y="133666"/>
                  </a:lnTo>
                  <a:cubicBezTo>
                    <a:pt x="0" y="98216"/>
                    <a:pt x="14083" y="64217"/>
                    <a:pt x="39150" y="39150"/>
                  </a:cubicBezTo>
                  <a:cubicBezTo>
                    <a:pt x="64217" y="14083"/>
                    <a:pt x="98216" y="0"/>
                    <a:pt x="133666" y="0"/>
                  </a:cubicBezTo>
                  <a:close/>
                </a:path>
              </a:pathLst>
            </a:custGeom>
            <a:solidFill>
              <a:srgbClr val="FFFFFF"/>
            </a:solidFill>
            <a:ln w="19050" cap="rnd">
              <a:solidFill>
                <a:srgbClr val="7D4C84"/>
              </a:solidFill>
              <a:prstDash val="solid"/>
              <a:round/>
            </a:ln>
          </p:spPr>
        </p:sp>
        <p:sp>
          <p:nvSpPr>
            <p:cNvPr name="TextBox 9" id="9"/>
            <p:cNvSpPr txBox="true"/>
            <p:nvPr/>
          </p:nvSpPr>
          <p:spPr>
            <a:xfrm>
              <a:off x="0" y="-66675"/>
              <a:ext cx="1222447" cy="334008"/>
            </a:xfrm>
            <a:prstGeom prst="rect">
              <a:avLst/>
            </a:prstGeom>
          </p:spPr>
          <p:txBody>
            <a:bodyPr anchor="ctr" rtlCol="false" tIns="50800" lIns="50800" bIns="50800" rIns="50800"/>
            <a:lstStyle/>
            <a:p>
              <a:pPr algn="ctr">
                <a:lnSpc>
                  <a:spcPts val="4059"/>
                </a:lnSpc>
              </a:pPr>
              <a:r>
                <a:rPr lang="en-US" b="true" sz="2899">
                  <a:solidFill>
                    <a:srgbClr val="464646"/>
                  </a:solidFill>
                  <a:latin typeface="Open Sauce Bold"/>
                  <a:ea typeface="Open Sauce Bold"/>
                  <a:cs typeface="Open Sauce Bold"/>
                  <a:sym typeface="Open Sauce Bold"/>
                </a:rPr>
                <a:t>Anjali Madan Jha</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28807" y="3704306"/>
            <a:ext cx="10440475" cy="1312603"/>
          </a:xfrm>
          <a:custGeom>
            <a:avLst/>
            <a:gdLst/>
            <a:ahLst/>
            <a:cxnLst/>
            <a:rect r="r" b="b" t="t" l="l"/>
            <a:pathLst>
              <a:path h="1312603" w="10440475">
                <a:moveTo>
                  <a:pt x="0" y="0"/>
                </a:moveTo>
                <a:lnTo>
                  <a:pt x="10440475" y="0"/>
                </a:lnTo>
                <a:lnTo>
                  <a:pt x="10440475" y="1312603"/>
                </a:lnTo>
                <a:lnTo>
                  <a:pt x="0" y="1312603"/>
                </a:lnTo>
                <a:lnTo>
                  <a:pt x="0" y="0"/>
                </a:lnTo>
                <a:close/>
              </a:path>
            </a:pathLst>
          </a:custGeom>
          <a:blipFill>
            <a:blip r:embed="rId2"/>
            <a:stretch>
              <a:fillRect l="0" t="0" r="0" b="-34774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DAG6ooCfdlo</dc:identifier>
  <dcterms:modified xsi:type="dcterms:W3CDTF">2011-08-01T06:04:30Z</dcterms:modified>
  <cp:revision>1</cp:revision>
  <dc:title>Anjali Madan</dc:title>
</cp:coreProperties>
</file>