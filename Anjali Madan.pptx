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elegraf Bold" charset="1" panose="00000800000000000000"/>
      <p:regular r:id="rId19"/>
    </p:embeddedFont>
    <p:embeddedFont>
      <p:font typeface="Open Sans" charset="1" panose="00000000000000000000"/>
      <p:regular r:id="rId20"/>
    </p:embeddedFont>
    <p:embeddedFont>
      <p:font typeface="Telegraf" charset="1" panose="00000500000000000000"/>
      <p:regular r:id="rId21"/>
    </p:embeddedFont>
    <p:embeddedFont>
      <p:font typeface="Open Sauce Bold" charset="1" panose="00000800000000000000"/>
      <p:regular r:id="rId22"/>
    </p:embeddedFont>
    <p:embeddedFont>
      <p:font typeface="League Spartan" charset="1" panose="00000800000000000000"/>
      <p:regular r:id="rId23"/>
    </p:embeddedFont>
    <p:embeddedFont>
      <p:font typeface="Open Sauce" charset="1" panose="00000500000000000000"/>
      <p:regular r:id="rId24"/>
    </p:embeddedFont>
    <p:embeddedFont>
      <p:font typeface="Montserrat" charset="1" panose="00000500000000000000"/>
      <p:regular r:id="rId25"/>
    </p:embeddedFont>
    <p:embeddedFont>
      <p:font typeface="Open Sans Bold" charset="1" panose="00000000000000000000"/>
      <p:regular r:id="rId26"/>
    </p:embeddedFont>
    <p:embeddedFont>
      <p:font typeface="Futura Bold" charset="1" panose="020B0702020204020203"/>
      <p:regular r:id="rId27"/>
    </p:embeddedFont>
    <p:embeddedFont>
      <p:font typeface="TT Hoves Bold" charset="1" panose="02000003020000060003"/>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svg" Type="http://schemas.openxmlformats.org/officeDocument/2006/relationships/image"/><Relationship Id="rId12" Target="../media/image13.png" Type="http://schemas.openxmlformats.org/officeDocument/2006/relationships/image"/><Relationship Id="rId13" Target="../media/image14.svg" Type="http://schemas.openxmlformats.org/officeDocument/2006/relationships/image"/><Relationship Id="rId14" Target="../media/image15.png" Type="http://schemas.openxmlformats.org/officeDocument/2006/relationships/image"/><Relationship Id="rId15" Target="../media/image16.svg" Type="http://schemas.openxmlformats.org/officeDocument/2006/relationships/image"/><Relationship Id="rId16" Target="../media/image17.png" Type="http://schemas.openxmlformats.org/officeDocument/2006/relationships/image"/><Relationship Id="rId17" Target="../media/image18.svg" Type="http://schemas.openxmlformats.org/officeDocument/2006/relationships/image"/><Relationship Id="rId18" Target="../media/image19.png" Type="http://schemas.openxmlformats.org/officeDocument/2006/relationships/image"/><Relationship Id="rId19" Target="../media/image20.svg" Type="http://schemas.openxmlformats.org/officeDocument/2006/relationships/image"/><Relationship Id="rId2" Target="../media/image5.jpeg" Type="http://schemas.openxmlformats.org/officeDocument/2006/relationships/image"/><Relationship Id="rId20" Target="../media/image21.png" Type="http://schemas.openxmlformats.org/officeDocument/2006/relationships/image"/><Relationship Id="rId21" Target="../media/image22.svg" Type="http://schemas.openxmlformats.org/officeDocument/2006/relationships/image"/><Relationship Id="rId22" Target="../media/image23.png" Type="http://schemas.openxmlformats.org/officeDocument/2006/relationships/image"/><Relationship Id="rId23" Target="../media/image24.svg" Type="http://schemas.openxmlformats.org/officeDocument/2006/relationships/image"/><Relationship Id="rId24" Target="../media/image25.png" Type="http://schemas.openxmlformats.org/officeDocument/2006/relationships/image"/><Relationship Id="rId25" Target="../media/image26.svg" Type="http://schemas.openxmlformats.org/officeDocument/2006/relationships/image"/><Relationship Id="rId26" Target="../media/image27.png" Type="http://schemas.openxmlformats.org/officeDocument/2006/relationships/image"/><Relationship Id="rId27" Target="../media/image28.sv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 Id="rId5" Target="../media/image32.png" Type="http://schemas.openxmlformats.org/officeDocument/2006/relationships/image"/><Relationship Id="rId6" Target="../media/image33.svg" Type="http://schemas.openxmlformats.org/officeDocument/2006/relationships/image"/><Relationship Id="rId7" Target="../media/image2.png" Type="http://schemas.openxmlformats.org/officeDocument/2006/relationships/image"/><Relationship Id="rId8"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37.png" Type="http://schemas.openxmlformats.org/officeDocument/2006/relationships/image"/><Relationship Id="rId12" Target="../media/image38.svg" Type="http://schemas.openxmlformats.org/officeDocument/2006/relationships/image"/><Relationship Id="rId13" Target="../media/image39.png" Type="http://schemas.openxmlformats.org/officeDocument/2006/relationships/image"/><Relationship Id="rId14" Target="../media/image40.svg" Type="http://schemas.openxmlformats.org/officeDocument/2006/relationships/image"/><Relationship Id="rId15" Target="../media/image6.png" Type="http://schemas.openxmlformats.org/officeDocument/2006/relationships/image"/><Relationship Id="rId16" Target="../media/image7.svg" Type="http://schemas.openxmlformats.org/officeDocument/2006/relationships/image"/><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34.svg" Type="http://schemas.openxmlformats.org/officeDocument/2006/relationships/image"/><Relationship Id="rId7" Target="../media/image27.png" Type="http://schemas.openxmlformats.org/officeDocument/2006/relationships/image"/><Relationship Id="rId8" Target="../media/image28.svg" Type="http://schemas.openxmlformats.org/officeDocument/2006/relationships/image"/><Relationship Id="rId9" Target="../media/image3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svg" Type="http://schemas.openxmlformats.org/officeDocument/2006/relationships/image"/><Relationship Id="rId11" Target="../media/image45.png" Type="http://schemas.openxmlformats.org/officeDocument/2006/relationships/image"/><Relationship Id="rId12" Target="../media/image46.svg" Type="http://schemas.openxmlformats.org/officeDocument/2006/relationships/image"/><Relationship Id="rId13" Target="../media/image47.png" Type="http://schemas.openxmlformats.org/officeDocument/2006/relationships/image"/><Relationship Id="rId14" Target="../media/image48.svg" Type="http://schemas.openxmlformats.org/officeDocument/2006/relationships/image"/><Relationship Id="rId15" Target="../media/image6.png" Type="http://schemas.openxmlformats.org/officeDocument/2006/relationships/image"/><Relationship Id="rId16" Target="../media/image7.svg" Type="http://schemas.openxmlformats.org/officeDocument/2006/relationships/image"/><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12.svg" Type="http://schemas.openxmlformats.org/officeDocument/2006/relationships/image"/><Relationship Id="rId7" Target="../media/image41.png" Type="http://schemas.openxmlformats.org/officeDocument/2006/relationships/image"/><Relationship Id="rId8" Target="../media/image42.svg" Type="http://schemas.openxmlformats.org/officeDocument/2006/relationships/image"/><Relationship Id="rId9" Target="../media/image4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2.svg" Type="http://schemas.openxmlformats.org/officeDocument/2006/relationships/image"/><Relationship Id="rId11" Target="../media/image53.png" Type="http://schemas.openxmlformats.org/officeDocument/2006/relationships/image"/><Relationship Id="rId12" Target="../media/image54.svg" Type="http://schemas.openxmlformats.org/officeDocument/2006/relationships/image"/><Relationship Id="rId13" Target="../media/image55.png" Type="http://schemas.openxmlformats.org/officeDocument/2006/relationships/image"/><Relationship Id="rId14" Target="../media/image56.svg" Type="http://schemas.openxmlformats.org/officeDocument/2006/relationships/image"/><Relationship Id="rId15" Target="../media/image57.png" Type="http://schemas.openxmlformats.org/officeDocument/2006/relationships/image"/><Relationship Id="rId16" Target="../media/image58.svg" Type="http://schemas.openxmlformats.org/officeDocument/2006/relationships/image"/><Relationship Id="rId17" Target="../media/image6.png" Type="http://schemas.openxmlformats.org/officeDocument/2006/relationships/image"/><Relationship Id="rId18" Target="../media/image7.svg" Type="http://schemas.openxmlformats.org/officeDocument/2006/relationships/image"/><Relationship Id="rId2" Target="../media/image5.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12.svg" Type="http://schemas.openxmlformats.org/officeDocument/2006/relationships/image"/><Relationship Id="rId7" Target="../media/image49.png" Type="http://schemas.openxmlformats.org/officeDocument/2006/relationships/image"/><Relationship Id="rId8" Target="../media/image50.svg" Type="http://schemas.openxmlformats.org/officeDocument/2006/relationships/image"/><Relationship Id="rId9" Target="../media/image5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6.svg" Type="http://schemas.openxmlformats.org/officeDocument/2006/relationships/image"/><Relationship Id="rId11" Target="../media/image2.png" Type="http://schemas.openxmlformats.org/officeDocument/2006/relationships/image"/><Relationship Id="rId12" Target="../media/image3.svg" Type="http://schemas.openxmlformats.org/officeDocument/2006/relationships/image"/><Relationship Id="rId2" Target="../media/image5.jpeg" Type="http://schemas.openxmlformats.org/officeDocument/2006/relationships/image"/><Relationship Id="rId3" Target="../media/image59.png" Type="http://schemas.openxmlformats.org/officeDocument/2006/relationships/image"/><Relationship Id="rId4" Target="../media/image60.svg" Type="http://schemas.openxmlformats.org/officeDocument/2006/relationships/image"/><Relationship Id="rId5" Target="../media/image61.png" Type="http://schemas.openxmlformats.org/officeDocument/2006/relationships/image"/><Relationship Id="rId6" Target="../media/image62.svg" Type="http://schemas.openxmlformats.org/officeDocument/2006/relationships/image"/><Relationship Id="rId7" Target="../media/image63.png" Type="http://schemas.openxmlformats.org/officeDocument/2006/relationships/image"/><Relationship Id="rId8" Target="../media/image64.svg" Type="http://schemas.openxmlformats.org/officeDocument/2006/relationships/image"/><Relationship Id="rId9" Target="../media/image6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jpe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 Id="rId3" Target="../media/image68.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1291842"/>
            <a:ext cx="18288000" cy="2730287"/>
            <a:chOff x="0" y="0"/>
            <a:chExt cx="4816593" cy="719088"/>
          </a:xfrm>
        </p:grpSpPr>
        <p:sp>
          <p:nvSpPr>
            <p:cNvPr name="Freeform 4" id="4"/>
            <p:cNvSpPr/>
            <p:nvPr/>
          </p:nvSpPr>
          <p:spPr>
            <a:xfrm flipH="false" flipV="false" rot="0">
              <a:off x="0" y="0"/>
              <a:ext cx="4816592" cy="719088"/>
            </a:xfrm>
            <a:custGeom>
              <a:avLst/>
              <a:gdLst/>
              <a:ahLst/>
              <a:cxnLst/>
              <a:rect r="r" b="b" t="t" l="l"/>
              <a:pathLst>
                <a:path h="719088" w="4816592">
                  <a:moveTo>
                    <a:pt x="0" y="0"/>
                  </a:moveTo>
                  <a:lnTo>
                    <a:pt x="4816592" y="0"/>
                  </a:lnTo>
                  <a:lnTo>
                    <a:pt x="4816592" y="719088"/>
                  </a:lnTo>
                  <a:lnTo>
                    <a:pt x="0" y="719088"/>
                  </a:lnTo>
                  <a:close/>
                </a:path>
              </a:pathLst>
            </a:custGeom>
            <a:solidFill>
              <a:srgbClr val="7D4C84"/>
            </a:solidFill>
          </p:spPr>
        </p:sp>
        <p:sp>
          <p:nvSpPr>
            <p:cNvPr name="TextBox 5" id="5"/>
            <p:cNvSpPr txBox="true"/>
            <p:nvPr/>
          </p:nvSpPr>
          <p:spPr>
            <a:xfrm>
              <a:off x="0" y="-38100"/>
              <a:ext cx="4816593" cy="757188"/>
            </a:xfrm>
            <a:prstGeom prst="rect">
              <a:avLst/>
            </a:prstGeom>
          </p:spPr>
          <p:txBody>
            <a:bodyPr anchor="ctr" rtlCol="false" tIns="50800" lIns="50800" bIns="50800" rIns="50800"/>
            <a:lstStyle/>
            <a:p>
              <a:pPr algn="ctr">
                <a:lnSpc>
                  <a:spcPts val="3359"/>
                </a:lnSpc>
              </a:pPr>
            </a:p>
          </p:txBody>
        </p:sp>
      </p:grpSp>
      <p:sp>
        <p:nvSpPr>
          <p:cNvPr name="Freeform 6" id="6"/>
          <p:cNvSpPr/>
          <p:nvPr/>
        </p:nvSpPr>
        <p:spPr>
          <a:xfrm flipH="false" flipV="true" rot="2846557">
            <a:off x="7799548" y="1043587"/>
            <a:ext cx="22501888" cy="7453751"/>
          </a:xfrm>
          <a:custGeom>
            <a:avLst/>
            <a:gdLst/>
            <a:ahLst/>
            <a:cxnLst/>
            <a:rect r="r" b="b" t="t" l="l"/>
            <a:pathLst>
              <a:path h="7453751" w="22501888">
                <a:moveTo>
                  <a:pt x="0" y="7453751"/>
                </a:moveTo>
                <a:lnTo>
                  <a:pt x="22501889" y="7453751"/>
                </a:lnTo>
                <a:lnTo>
                  <a:pt x="22501889" y="0"/>
                </a:lnTo>
                <a:lnTo>
                  <a:pt x="0" y="0"/>
                </a:lnTo>
                <a:lnTo>
                  <a:pt x="0" y="745375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0" y="6893932"/>
            <a:ext cx="18288000" cy="3393068"/>
            <a:chOff x="0" y="0"/>
            <a:chExt cx="4816593" cy="893648"/>
          </a:xfrm>
        </p:grpSpPr>
        <p:sp>
          <p:nvSpPr>
            <p:cNvPr name="Freeform 8" id="8"/>
            <p:cNvSpPr/>
            <p:nvPr/>
          </p:nvSpPr>
          <p:spPr>
            <a:xfrm flipH="false" flipV="false" rot="0">
              <a:off x="0" y="0"/>
              <a:ext cx="4816592" cy="893648"/>
            </a:xfrm>
            <a:custGeom>
              <a:avLst/>
              <a:gdLst/>
              <a:ahLst/>
              <a:cxnLst/>
              <a:rect r="r" b="b" t="t" l="l"/>
              <a:pathLst>
                <a:path h="893648" w="4816592">
                  <a:moveTo>
                    <a:pt x="0" y="0"/>
                  </a:moveTo>
                  <a:lnTo>
                    <a:pt x="4816592" y="0"/>
                  </a:lnTo>
                  <a:lnTo>
                    <a:pt x="4816592" y="893648"/>
                  </a:lnTo>
                  <a:lnTo>
                    <a:pt x="0" y="893648"/>
                  </a:lnTo>
                  <a:close/>
                </a:path>
              </a:pathLst>
            </a:custGeom>
            <a:solidFill>
              <a:srgbClr val="7D4C84"/>
            </a:solidFill>
          </p:spPr>
        </p:sp>
        <p:sp>
          <p:nvSpPr>
            <p:cNvPr name="TextBox 9" id="9"/>
            <p:cNvSpPr txBox="true"/>
            <p:nvPr/>
          </p:nvSpPr>
          <p:spPr>
            <a:xfrm>
              <a:off x="0" y="-38100"/>
              <a:ext cx="4816593" cy="931748"/>
            </a:xfrm>
            <a:prstGeom prst="rect">
              <a:avLst/>
            </a:prstGeom>
          </p:spPr>
          <p:txBody>
            <a:bodyPr anchor="ctr" rtlCol="false" tIns="50800" lIns="50800" bIns="50800" rIns="50800"/>
            <a:lstStyle/>
            <a:p>
              <a:pPr algn="ctr">
                <a:lnSpc>
                  <a:spcPts val="3359"/>
                </a:lnSpc>
              </a:pPr>
            </a:p>
          </p:txBody>
        </p:sp>
      </p:grpSp>
      <p:sp>
        <p:nvSpPr>
          <p:cNvPr name="TextBox 10" id="10"/>
          <p:cNvSpPr txBox="true"/>
          <p:nvPr/>
        </p:nvSpPr>
        <p:spPr>
          <a:xfrm rot="0">
            <a:off x="1028700" y="3164270"/>
            <a:ext cx="14782172" cy="1670953"/>
          </a:xfrm>
          <a:prstGeom prst="rect">
            <a:avLst/>
          </a:prstGeom>
        </p:spPr>
        <p:txBody>
          <a:bodyPr anchor="t" rtlCol="false" tIns="0" lIns="0" bIns="0" rIns="0">
            <a:spAutoFit/>
          </a:bodyPr>
          <a:lstStyle/>
          <a:p>
            <a:pPr algn="l">
              <a:lnSpc>
                <a:spcPts val="6223"/>
              </a:lnSpc>
            </a:pPr>
            <a:r>
              <a:rPr lang="en-US" sz="5658" b="true">
                <a:solidFill>
                  <a:srgbClr val="121113"/>
                </a:solidFill>
                <a:latin typeface="Telegraf Bold"/>
                <a:ea typeface="Telegraf Bold"/>
                <a:cs typeface="Telegraf Bold"/>
                <a:sym typeface="Telegraf Bold"/>
              </a:rPr>
              <a:t>Question Answer Based Interactive Storytelling Using Generative AI</a:t>
            </a:r>
          </a:p>
        </p:txBody>
      </p:sp>
      <p:sp>
        <p:nvSpPr>
          <p:cNvPr name="TextBox 11" id="11"/>
          <p:cNvSpPr txBox="true"/>
          <p:nvPr/>
        </p:nvSpPr>
        <p:spPr>
          <a:xfrm rot="0">
            <a:off x="1028700" y="4816963"/>
            <a:ext cx="10811024" cy="481330"/>
          </a:xfrm>
          <a:prstGeom prst="rect">
            <a:avLst/>
          </a:prstGeom>
        </p:spPr>
        <p:txBody>
          <a:bodyPr anchor="t" rtlCol="false" tIns="0" lIns="0" bIns="0" rIns="0">
            <a:spAutoFit/>
          </a:bodyPr>
          <a:lstStyle/>
          <a:p>
            <a:pPr algn="l">
              <a:lnSpc>
                <a:spcPts val="3919"/>
              </a:lnSpc>
            </a:pPr>
            <a:r>
              <a:rPr lang="en-US" sz="2799">
                <a:solidFill>
                  <a:srgbClr val="303030"/>
                </a:solidFill>
                <a:latin typeface="Open Sans"/>
                <a:ea typeface="Open Sans"/>
                <a:cs typeface="Open Sans"/>
                <a:sym typeface="Open Sans"/>
              </a:rPr>
              <a:t>Generating meaningful narratives through structured Q&amp;A inputs</a:t>
            </a:r>
          </a:p>
        </p:txBody>
      </p:sp>
      <p:sp>
        <p:nvSpPr>
          <p:cNvPr name="TextBox 12" id="12"/>
          <p:cNvSpPr txBox="true"/>
          <p:nvPr/>
        </p:nvSpPr>
        <p:spPr>
          <a:xfrm rot="0">
            <a:off x="10909616" y="8802714"/>
            <a:ext cx="7378384" cy="43434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Telegraf"/>
                <a:ea typeface="Telegraf"/>
                <a:cs typeface="Telegraf"/>
                <a:sym typeface="Telegraf"/>
              </a:rPr>
              <a:t>Guided by: Dr.Vidyullata Devmane</a:t>
            </a:r>
          </a:p>
        </p:txBody>
      </p:sp>
      <p:sp>
        <p:nvSpPr>
          <p:cNvPr name="TextBox 13" id="13"/>
          <p:cNvSpPr txBox="true"/>
          <p:nvPr/>
        </p:nvSpPr>
        <p:spPr>
          <a:xfrm rot="0">
            <a:off x="10909616" y="7172761"/>
            <a:ext cx="7378384" cy="43434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Telegraf"/>
                <a:ea typeface="Telegraf"/>
                <a:cs typeface="Telegraf"/>
                <a:sym typeface="Telegraf"/>
              </a:rPr>
              <a:t>Number: 124MTCM1008</a:t>
            </a:r>
          </a:p>
        </p:txBody>
      </p:sp>
      <p:sp>
        <p:nvSpPr>
          <p:cNvPr name="TextBox 14" id="14"/>
          <p:cNvSpPr txBox="true"/>
          <p:nvPr/>
        </p:nvSpPr>
        <p:spPr>
          <a:xfrm rot="0">
            <a:off x="10897059" y="8005864"/>
            <a:ext cx="4344851" cy="43434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Telegraf"/>
                <a:ea typeface="Telegraf"/>
                <a:cs typeface="Telegraf"/>
                <a:sym typeface="Telegraf"/>
              </a:rPr>
              <a:t>Semister</a:t>
            </a:r>
            <a:r>
              <a:rPr lang="en-US" sz="2399">
                <a:solidFill>
                  <a:srgbClr val="FFFFFF"/>
                </a:solidFill>
                <a:latin typeface="Telegraf"/>
                <a:ea typeface="Telegraf"/>
                <a:cs typeface="Telegraf"/>
                <a:sym typeface="Telegraf"/>
              </a:rPr>
              <a:t> : III</a:t>
            </a:r>
          </a:p>
        </p:txBody>
      </p:sp>
      <p:grpSp>
        <p:nvGrpSpPr>
          <p:cNvPr name="Group 15" id="15"/>
          <p:cNvGrpSpPr/>
          <p:nvPr/>
        </p:nvGrpSpPr>
        <p:grpSpPr>
          <a:xfrm rot="0">
            <a:off x="1603024" y="8577830"/>
            <a:ext cx="4641477" cy="1015029"/>
            <a:chOff x="0" y="0"/>
            <a:chExt cx="1222447" cy="267333"/>
          </a:xfrm>
        </p:grpSpPr>
        <p:sp>
          <p:nvSpPr>
            <p:cNvPr name="Freeform 16" id="16"/>
            <p:cNvSpPr/>
            <p:nvPr/>
          </p:nvSpPr>
          <p:spPr>
            <a:xfrm flipH="false" flipV="false" rot="0">
              <a:off x="0" y="0"/>
              <a:ext cx="1222447" cy="267333"/>
            </a:xfrm>
            <a:custGeom>
              <a:avLst/>
              <a:gdLst/>
              <a:ahLst/>
              <a:cxnLst/>
              <a:rect r="r" b="b" t="t" l="l"/>
              <a:pathLst>
                <a:path h="267333" w="1222447">
                  <a:moveTo>
                    <a:pt x="133666" y="0"/>
                  </a:moveTo>
                  <a:lnTo>
                    <a:pt x="1088780" y="0"/>
                  </a:lnTo>
                  <a:cubicBezTo>
                    <a:pt x="1124231" y="0"/>
                    <a:pt x="1158229" y="14083"/>
                    <a:pt x="1183297" y="39150"/>
                  </a:cubicBezTo>
                  <a:cubicBezTo>
                    <a:pt x="1208364" y="64217"/>
                    <a:pt x="1222447" y="98216"/>
                    <a:pt x="1222447" y="133666"/>
                  </a:cubicBezTo>
                  <a:lnTo>
                    <a:pt x="1222447" y="133666"/>
                  </a:lnTo>
                  <a:cubicBezTo>
                    <a:pt x="1222447" y="169117"/>
                    <a:pt x="1208364" y="203115"/>
                    <a:pt x="1183297" y="228183"/>
                  </a:cubicBezTo>
                  <a:cubicBezTo>
                    <a:pt x="1158229" y="253250"/>
                    <a:pt x="1124231" y="267333"/>
                    <a:pt x="1088780" y="267333"/>
                  </a:cubicBezTo>
                  <a:lnTo>
                    <a:pt x="133666" y="267333"/>
                  </a:lnTo>
                  <a:cubicBezTo>
                    <a:pt x="98216" y="267333"/>
                    <a:pt x="64217" y="253250"/>
                    <a:pt x="39150" y="228183"/>
                  </a:cubicBezTo>
                  <a:cubicBezTo>
                    <a:pt x="14083" y="203115"/>
                    <a:pt x="0" y="169117"/>
                    <a:pt x="0" y="133666"/>
                  </a:cubicBezTo>
                  <a:lnTo>
                    <a:pt x="0" y="133666"/>
                  </a:lnTo>
                  <a:cubicBezTo>
                    <a:pt x="0" y="98216"/>
                    <a:pt x="14083" y="64217"/>
                    <a:pt x="39150" y="39150"/>
                  </a:cubicBezTo>
                  <a:cubicBezTo>
                    <a:pt x="64217" y="14083"/>
                    <a:pt x="98216" y="0"/>
                    <a:pt x="133666" y="0"/>
                  </a:cubicBezTo>
                  <a:close/>
                </a:path>
              </a:pathLst>
            </a:custGeom>
            <a:solidFill>
              <a:srgbClr val="F2F1FB"/>
            </a:solidFill>
            <a:ln w="19050" cap="rnd">
              <a:solidFill>
                <a:srgbClr val="EFEFEF"/>
              </a:solidFill>
              <a:prstDash val="solid"/>
              <a:round/>
            </a:ln>
          </p:spPr>
        </p:sp>
        <p:sp>
          <p:nvSpPr>
            <p:cNvPr name="TextBox 17" id="17"/>
            <p:cNvSpPr txBox="true"/>
            <p:nvPr/>
          </p:nvSpPr>
          <p:spPr>
            <a:xfrm>
              <a:off x="0" y="-66675"/>
              <a:ext cx="1222447" cy="334008"/>
            </a:xfrm>
            <a:prstGeom prst="rect">
              <a:avLst/>
            </a:prstGeom>
          </p:spPr>
          <p:txBody>
            <a:bodyPr anchor="ctr" rtlCol="false" tIns="50800" lIns="50800" bIns="50800" rIns="50800"/>
            <a:lstStyle/>
            <a:p>
              <a:pPr algn="ctr">
                <a:lnSpc>
                  <a:spcPts val="4059"/>
                </a:lnSpc>
              </a:pPr>
              <a:r>
                <a:rPr lang="en-US" b="true" sz="2899">
                  <a:solidFill>
                    <a:srgbClr val="464646"/>
                  </a:solidFill>
                  <a:latin typeface="Open Sauce Bold"/>
                  <a:ea typeface="Open Sauce Bold"/>
                  <a:cs typeface="Open Sauce Bold"/>
                  <a:sym typeface="Open Sauce Bold"/>
                </a:rPr>
                <a:t>Anjali Madan Jha</a:t>
              </a:r>
            </a:p>
          </p:txBody>
        </p:sp>
      </p:grpSp>
      <p:sp>
        <p:nvSpPr>
          <p:cNvPr name="AutoShape 18" id="18"/>
          <p:cNvSpPr/>
          <p:nvPr/>
        </p:nvSpPr>
        <p:spPr>
          <a:xfrm>
            <a:off x="10897059" y="9364840"/>
            <a:ext cx="6727117" cy="0"/>
          </a:xfrm>
          <a:prstGeom prst="line">
            <a:avLst/>
          </a:prstGeom>
          <a:ln cap="flat" w="19050">
            <a:solidFill>
              <a:srgbClr val="FFFFFF"/>
            </a:solidFill>
            <a:prstDash val="solid"/>
            <a:headEnd type="none" len="sm" w="sm"/>
            <a:tailEnd type="none" len="sm" w="sm"/>
          </a:ln>
        </p:spPr>
      </p:sp>
      <p:sp>
        <p:nvSpPr>
          <p:cNvPr name="AutoShape 19" id="19"/>
          <p:cNvSpPr/>
          <p:nvPr/>
        </p:nvSpPr>
        <p:spPr>
          <a:xfrm>
            <a:off x="10897059" y="7734887"/>
            <a:ext cx="6727117" cy="0"/>
          </a:xfrm>
          <a:prstGeom prst="line">
            <a:avLst/>
          </a:prstGeom>
          <a:ln cap="flat" w="19050">
            <a:solidFill>
              <a:srgbClr val="FFFFFF"/>
            </a:solidFill>
            <a:prstDash val="solid"/>
            <a:headEnd type="none" len="sm" w="sm"/>
            <a:tailEnd type="none" len="sm" w="sm"/>
          </a:ln>
        </p:spPr>
      </p:sp>
      <p:sp>
        <p:nvSpPr>
          <p:cNvPr name="AutoShape 20" id="20"/>
          <p:cNvSpPr/>
          <p:nvPr/>
        </p:nvSpPr>
        <p:spPr>
          <a:xfrm>
            <a:off x="10897059" y="8577830"/>
            <a:ext cx="6727117" cy="0"/>
          </a:xfrm>
          <a:prstGeom prst="line">
            <a:avLst/>
          </a:prstGeom>
          <a:ln cap="flat" w="19050">
            <a:solidFill>
              <a:srgbClr val="FFFFFF"/>
            </a:solidFill>
            <a:prstDash val="solid"/>
            <a:headEnd type="none" len="sm" w="sm"/>
            <a:tailEnd type="none" len="sm" w="sm"/>
          </a:ln>
        </p:spPr>
      </p:sp>
      <p:sp>
        <p:nvSpPr>
          <p:cNvPr name="Freeform 21" id="21"/>
          <p:cNvSpPr/>
          <p:nvPr/>
        </p:nvSpPr>
        <p:spPr>
          <a:xfrm flipH="false" flipV="false" rot="0">
            <a:off x="4158333" y="41609"/>
            <a:ext cx="10440475" cy="1312603"/>
          </a:xfrm>
          <a:custGeom>
            <a:avLst/>
            <a:gdLst/>
            <a:ahLst/>
            <a:cxnLst/>
            <a:rect r="r" b="b" t="t" l="l"/>
            <a:pathLst>
              <a:path h="1312603" w="10440475">
                <a:moveTo>
                  <a:pt x="0" y="0"/>
                </a:moveTo>
                <a:lnTo>
                  <a:pt x="10440475" y="0"/>
                </a:lnTo>
                <a:lnTo>
                  <a:pt x="10440475" y="1312603"/>
                </a:lnTo>
                <a:lnTo>
                  <a:pt x="0" y="1312603"/>
                </a:lnTo>
                <a:lnTo>
                  <a:pt x="0" y="0"/>
                </a:lnTo>
                <a:close/>
              </a:path>
            </a:pathLst>
          </a:custGeom>
          <a:blipFill>
            <a:blip r:embed="rId5"/>
            <a:stretch>
              <a:fillRect l="0" t="0" r="0" b="-347745"/>
            </a:stretch>
          </a:blipFill>
        </p:spPr>
      </p:sp>
      <p:sp>
        <p:nvSpPr>
          <p:cNvPr name="TextBox 22" id="22"/>
          <p:cNvSpPr txBox="true"/>
          <p:nvPr/>
        </p:nvSpPr>
        <p:spPr>
          <a:xfrm rot="0">
            <a:off x="5866163" y="1868562"/>
            <a:ext cx="6555673" cy="981384"/>
          </a:xfrm>
          <a:prstGeom prst="rect">
            <a:avLst/>
          </a:prstGeom>
        </p:spPr>
        <p:txBody>
          <a:bodyPr anchor="t" rtlCol="false" tIns="0" lIns="0" bIns="0" rIns="0">
            <a:spAutoFit/>
          </a:bodyPr>
          <a:lstStyle/>
          <a:p>
            <a:pPr algn="ctr">
              <a:lnSpc>
                <a:spcPts val="8122"/>
              </a:lnSpc>
            </a:pPr>
            <a:r>
              <a:rPr lang="en-US" b="true" sz="5801">
                <a:solidFill>
                  <a:srgbClr val="000000"/>
                </a:solidFill>
                <a:latin typeface="League Spartan"/>
                <a:ea typeface="League Spartan"/>
                <a:cs typeface="League Spartan"/>
                <a:sym typeface="League Spartan"/>
              </a:rPr>
              <a:t>DISSERTATION - 1</a:t>
            </a:r>
          </a:p>
        </p:txBody>
      </p:sp>
      <p:sp>
        <p:nvSpPr>
          <p:cNvPr name="TextBox 23" id="23"/>
          <p:cNvSpPr txBox="true"/>
          <p:nvPr/>
        </p:nvSpPr>
        <p:spPr>
          <a:xfrm rot="0">
            <a:off x="592403" y="7541318"/>
            <a:ext cx="6662720" cy="719815"/>
          </a:xfrm>
          <a:prstGeom prst="rect">
            <a:avLst/>
          </a:prstGeom>
        </p:spPr>
        <p:txBody>
          <a:bodyPr anchor="t" rtlCol="false" tIns="0" lIns="0" bIns="0" rIns="0">
            <a:spAutoFit/>
          </a:bodyPr>
          <a:lstStyle/>
          <a:p>
            <a:pPr algn="ctr">
              <a:lnSpc>
                <a:spcPts val="6029"/>
              </a:lnSpc>
            </a:pPr>
            <a:r>
              <a:rPr lang="en-US" sz="4306">
                <a:solidFill>
                  <a:srgbClr val="FFFFFF"/>
                </a:solidFill>
                <a:latin typeface="Open Sauce"/>
                <a:ea typeface="Open Sauce"/>
                <a:cs typeface="Open Sauce"/>
                <a:sym typeface="Open Sauce"/>
              </a:rPr>
              <a:t>M-Tech Final year project</a:t>
            </a:r>
          </a:p>
        </p:txBody>
      </p:sp>
      <p:sp>
        <p:nvSpPr>
          <p:cNvPr name="TextBox 24" id="24"/>
          <p:cNvSpPr txBox="true"/>
          <p:nvPr/>
        </p:nvSpPr>
        <p:spPr>
          <a:xfrm rot="0">
            <a:off x="10909616" y="9593440"/>
            <a:ext cx="7378384" cy="434340"/>
          </a:xfrm>
          <a:prstGeom prst="rect">
            <a:avLst/>
          </a:prstGeom>
        </p:spPr>
        <p:txBody>
          <a:bodyPr anchor="t" rtlCol="false" tIns="0" lIns="0" bIns="0" rIns="0">
            <a:spAutoFit/>
          </a:bodyPr>
          <a:lstStyle/>
          <a:p>
            <a:pPr algn="l">
              <a:lnSpc>
                <a:spcPts val="3359"/>
              </a:lnSpc>
              <a:spcBef>
                <a:spcPct val="0"/>
              </a:spcBef>
            </a:pPr>
            <a:r>
              <a:rPr lang="en-US" sz="2399">
                <a:solidFill>
                  <a:srgbClr val="FFFFFF"/>
                </a:solidFill>
                <a:latin typeface="Telegraf"/>
                <a:ea typeface="Telegraf"/>
                <a:cs typeface="Telegraf"/>
                <a:sym typeface="Telegraf"/>
              </a:rPr>
              <a:t>Comp</a:t>
            </a:r>
            <a:r>
              <a:rPr lang="en-US" sz="2399">
                <a:solidFill>
                  <a:srgbClr val="FFFFFF"/>
                </a:solidFill>
                <a:latin typeface="Telegraf"/>
                <a:ea typeface="Telegraf"/>
                <a:cs typeface="Telegraf"/>
                <a:sym typeface="Telegraf"/>
              </a:rPr>
              <a:t>uter Engineering</a:t>
            </a:r>
          </a:p>
        </p:txBody>
      </p:sp>
      <p:sp>
        <p:nvSpPr>
          <p:cNvPr name="AutoShape 25" id="25"/>
          <p:cNvSpPr/>
          <p:nvPr/>
        </p:nvSpPr>
        <p:spPr>
          <a:xfrm>
            <a:off x="10897059" y="10155565"/>
            <a:ext cx="6727117"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1647215">
            <a:off x="14588952" y="-3063623"/>
            <a:ext cx="6705817" cy="5750238"/>
          </a:xfrm>
          <a:custGeom>
            <a:avLst/>
            <a:gdLst/>
            <a:ahLst/>
            <a:cxnLst/>
            <a:rect r="r" b="b" t="t" l="l"/>
            <a:pathLst>
              <a:path h="5750238" w="6705817">
                <a:moveTo>
                  <a:pt x="0" y="0"/>
                </a:moveTo>
                <a:lnTo>
                  <a:pt x="6705817" y="0"/>
                </a:lnTo>
                <a:lnTo>
                  <a:pt x="6705817" y="5750239"/>
                </a:lnTo>
                <a:lnTo>
                  <a:pt x="0" y="5750239"/>
                </a:lnTo>
                <a:lnTo>
                  <a:pt x="0" y="0"/>
                </a:lnTo>
                <a:close/>
              </a:path>
            </a:pathLst>
          </a:custGeom>
          <a:blipFill>
            <a:blip r:embed="rId3">
              <a:alphaModFix amt="1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2846557">
            <a:off x="-4552767" y="3701086"/>
            <a:ext cx="18651033" cy="6178155"/>
          </a:xfrm>
          <a:custGeom>
            <a:avLst/>
            <a:gdLst/>
            <a:ahLst/>
            <a:cxnLst/>
            <a:rect r="r" b="b" t="t" l="l"/>
            <a:pathLst>
              <a:path h="6178155" w="18651033">
                <a:moveTo>
                  <a:pt x="0" y="6178155"/>
                </a:moveTo>
                <a:lnTo>
                  <a:pt x="18651033" y="6178155"/>
                </a:lnTo>
                <a:lnTo>
                  <a:pt x="18651033" y="0"/>
                </a:lnTo>
                <a:lnTo>
                  <a:pt x="0" y="0"/>
                </a:lnTo>
                <a:lnTo>
                  <a:pt x="0" y="6178155"/>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grpSp>
        <p:nvGrpSpPr>
          <p:cNvPr name="Group 5" id="5"/>
          <p:cNvGrpSpPr/>
          <p:nvPr/>
        </p:nvGrpSpPr>
        <p:grpSpPr>
          <a:xfrm rot="0">
            <a:off x="1226709" y="3383948"/>
            <a:ext cx="7092081" cy="1118597"/>
            <a:chOff x="0" y="0"/>
            <a:chExt cx="1867873" cy="294610"/>
          </a:xfrm>
        </p:grpSpPr>
        <p:sp>
          <p:nvSpPr>
            <p:cNvPr name="Freeform 6" id="6"/>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7" id="7"/>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9969210" y="3349326"/>
            <a:ext cx="7092081" cy="1118597"/>
            <a:chOff x="0" y="0"/>
            <a:chExt cx="1867873" cy="294610"/>
          </a:xfrm>
        </p:grpSpPr>
        <p:sp>
          <p:nvSpPr>
            <p:cNvPr name="Freeform 9" id="9"/>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10" id="10"/>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1226709" y="6582854"/>
            <a:ext cx="7092081" cy="1118597"/>
            <a:chOff x="0" y="0"/>
            <a:chExt cx="1867873" cy="294610"/>
          </a:xfrm>
        </p:grpSpPr>
        <p:sp>
          <p:nvSpPr>
            <p:cNvPr name="Freeform 12" id="12"/>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13" id="13"/>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9969210" y="6543655"/>
            <a:ext cx="7092081" cy="1118597"/>
            <a:chOff x="0" y="0"/>
            <a:chExt cx="1867873" cy="294610"/>
          </a:xfrm>
        </p:grpSpPr>
        <p:sp>
          <p:nvSpPr>
            <p:cNvPr name="Freeform 15" id="15"/>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16" id="16"/>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17" id="17"/>
          <p:cNvGrpSpPr/>
          <p:nvPr/>
        </p:nvGrpSpPr>
        <p:grpSpPr>
          <a:xfrm rot="0">
            <a:off x="1226709" y="4962228"/>
            <a:ext cx="7092081" cy="1118597"/>
            <a:chOff x="0" y="0"/>
            <a:chExt cx="1867873" cy="294610"/>
          </a:xfrm>
        </p:grpSpPr>
        <p:sp>
          <p:nvSpPr>
            <p:cNvPr name="Freeform 18" id="18"/>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19" id="19"/>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sp>
        <p:nvSpPr>
          <p:cNvPr name="Freeform 20" id="20"/>
          <p:cNvSpPr/>
          <p:nvPr/>
        </p:nvSpPr>
        <p:spPr>
          <a:xfrm flipH="false" flipV="false" rot="0">
            <a:off x="7053736" y="4518940"/>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8"/>
                </a:ext>
              </a:extLst>
            </a:blip>
            <a:stretch>
              <a:fillRect l="0" t="0" r="0" b="0"/>
            </a:stretch>
          </a:blipFill>
          <a:ln cap="sq">
            <a:noFill/>
            <a:prstDash val="solid"/>
            <a:miter/>
          </a:ln>
        </p:spPr>
      </p:sp>
      <p:grpSp>
        <p:nvGrpSpPr>
          <p:cNvPr name="Group 21" id="21"/>
          <p:cNvGrpSpPr/>
          <p:nvPr/>
        </p:nvGrpSpPr>
        <p:grpSpPr>
          <a:xfrm rot="0">
            <a:off x="9969210" y="4945959"/>
            <a:ext cx="7092081" cy="1118597"/>
            <a:chOff x="0" y="0"/>
            <a:chExt cx="1867873" cy="294610"/>
          </a:xfrm>
        </p:grpSpPr>
        <p:sp>
          <p:nvSpPr>
            <p:cNvPr name="Freeform 22" id="22"/>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23" id="23"/>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24" id="24"/>
          <p:cNvGrpSpPr/>
          <p:nvPr/>
        </p:nvGrpSpPr>
        <p:grpSpPr>
          <a:xfrm rot="0">
            <a:off x="1226709" y="8146666"/>
            <a:ext cx="7092081" cy="1118597"/>
            <a:chOff x="0" y="0"/>
            <a:chExt cx="1867873" cy="294610"/>
          </a:xfrm>
        </p:grpSpPr>
        <p:sp>
          <p:nvSpPr>
            <p:cNvPr name="Freeform 25" id="25"/>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26" id="26"/>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grpSp>
        <p:nvGrpSpPr>
          <p:cNvPr name="Group 27" id="27"/>
          <p:cNvGrpSpPr/>
          <p:nvPr/>
        </p:nvGrpSpPr>
        <p:grpSpPr>
          <a:xfrm rot="0">
            <a:off x="9969210" y="8143964"/>
            <a:ext cx="7092081" cy="1118597"/>
            <a:chOff x="0" y="0"/>
            <a:chExt cx="1867873" cy="294610"/>
          </a:xfrm>
        </p:grpSpPr>
        <p:sp>
          <p:nvSpPr>
            <p:cNvPr name="Freeform 28" id="28"/>
            <p:cNvSpPr/>
            <p:nvPr/>
          </p:nvSpPr>
          <p:spPr>
            <a:xfrm flipH="false" flipV="false" rot="0">
              <a:off x="0" y="0"/>
              <a:ext cx="1867873" cy="294610"/>
            </a:xfrm>
            <a:custGeom>
              <a:avLst/>
              <a:gdLst/>
              <a:ahLst/>
              <a:cxnLst/>
              <a:rect r="r" b="b" t="t" l="l"/>
              <a:pathLst>
                <a:path h="294610" w="1867873">
                  <a:moveTo>
                    <a:pt x="37115" y="0"/>
                  </a:moveTo>
                  <a:lnTo>
                    <a:pt x="1830758" y="0"/>
                  </a:lnTo>
                  <a:cubicBezTo>
                    <a:pt x="1840601" y="0"/>
                    <a:pt x="1850042" y="3910"/>
                    <a:pt x="1857002" y="10871"/>
                  </a:cubicBezTo>
                  <a:cubicBezTo>
                    <a:pt x="1863963" y="17831"/>
                    <a:pt x="1867873" y="27272"/>
                    <a:pt x="1867873" y="37115"/>
                  </a:cubicBezTo>
                  <a:lnTo>
                    <a:pt x="1867873" y="257495"/>
                  </a:lnTo>
                  <a:cubicBezTo>
                    <a:pt x="1867873" y="277993"/>
                    <a:pt x="1851256" y="294610"/>
                    <a:pt x="1830758" y="294610"/>
                  </a:cubicBezTo>
                  <a:lnTo>
                    <a:pt x="37115" y="294610"/>
                  </a:lnTo>
                  <a:cubicBezTo>
                    <a:pt x="27272" y="294610"/>
                    <a:pt x="17831" y="290700"/>
                    <a:pt x="10871" y="283739"/>
                  </a:cubicBezTo>
                  <a:cubicBezTo>
                    <a:pt x="3910" y="276779"/>
                    <a:pt x="0" y="267338"/>
                    <a:pt x="0" y="257495"/>
                  </a:cubicBezTo>
                  <a:lnTo>
                    <a:pt x="0" y="37115"/>
                  </a:lnTo>
                  <a:cubicBezTo>
                    <a:pt x="0" y="27272"/>
                    <a:pt x="3910" y="17831"/>
                    <a:pt x="10871" y="10871"/>
                  </a:cubicBezTo>
                  <a:cubicBezTo>
                    <a:pt x="17831" y="3910"/>
                    <a:pt x="27272" y="0"/>
                    <a:pt x="37115" y="0"/>
                  </a:cubicBezTo>
                  <a:close/>
                </a:path>
              </a:pathLst>
            </a:custGeom>
            <a:solidFill>
              <a:srgbClr val="FFFFFF"/>
            </a:solidFill>
          </p:spPr>
        </p:sp>
        <p:sp>
          <p:nvSpPr>
            <p:cNvPr name="TextBox 29" id="29"/>
            <p:cNvSpPr txBox="true"/>
            <p:nvPr/>
          </p:nvSpPr>
          <p:spPr>
            <a:xfrm>
              <a:off x="0" y="-38100"/>
              <a:ext cx="1867873" cy="332710"/>
            </a:xfrm>
            <a:prstGeom prst="rect">
              <a:avLst/>
            </a:prstGeom>
          </p:spPr>
          <p:txBody>
            <a:bodyPr anchor="ctr" rtlCol="false" tIns="50800" lIns="50800" bIns="50800" rIns="50800"/>
            <a:lstStyle/>
            <a:p>
              <a:pPr algn="ctr">
                <a:lnSpc>
                  <a:spcPts val="3359"/>
                </a:lnSpc>
              </a:pPr>
            </a:p>
          </p:txBody>
        </p:sp>
      </p:grpSp>
      <p:sp>
        <p:nvSpPr>
          <p:cNvPr name="Freeform 30" id="30"/>
          <p:cNvSpPr/>
          <p:nvPr/>
        </p:nvSpPr>
        <p:spPr>
          <a:xfrm flipH="false" flipV="false" rot="0">
            <a:off x="7053736" y="2965649"/>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9"/>
                </a:ext>
              </a:extLst>
            </a:blip>
            <a:stretch>
              <a:fillRect l="0" t="0" r="0" b="0"/>
            </a:stretch>
          </a:blipFill>
          <a:ln cap="sq">
            <a:noFill/>
            <a:prstDash val="solid"/>
            <a:miter/>
          </a:ln>
        </p:spPr>
      </p:sp>
      <p:grpSp>
        <p:nvGrpSpPr>
          <p:cNvPr name="Group 31" id="31"/>
          <p:cNvGrpSpPr/>
          <p:nvPr/>
        </p:nvGrpSpPr>
        <p:grpSpPr>
          <a:xfrm rot="0">
            <a:off x="7368628" y="3143342"/>
            <a:ext cx="1530564" cy="1530564"/>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34" id="34"/>
          <p:cNvGrpSpPr/>
          <p:nvPr/>
        </p:nvGrpSpPr>
        <p:grpSpPr>
          <a:xfrm rot="0">
            <a:off x="7368628" y="4740432"/>
            <a:ext cx="1530564" cy="1530564"/>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37" id="37"/>
          <p:cNvSpPr/>
          <p:nvPr/>
        </p:nvSpPr>
        <p:spPr>
          <a:xfrm flipH="false" flipV="false" rot="0">
            <a:off x="7053736" y="6161245"/>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8"/>
                </a:ext>
              </a:extLst>
            </a:blip>
            <a:stretch>
              <a:fillRect l="0" t="0" r="0" b="0"/>
            </a:stretch>
          </a:blipFill>
          <a:ln cap="sq">
            <a:noFill/>
            <a:prstDash val="solid"/>
            <a:miter/>
          </a:ln>
        </p:spPr>
      </p:sp>
      <p:grpSp>
        <p:nvGrpSpPr>
          <p:cNvPr name="Group 38" id="38"/>
          <p:cNvGrpSpPr/>
          <p:nvPr/>
        </p:nvGrpSpPr>
        <p:grpSpPr>
          <a:xfrm rot="0">
            <a:off x="7368628" y="6337672"/>
            <a:ext cx="1530564" cy="1530564"/>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40" id="40"/>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41" id="41"/>
          <p:cNvSpPr/>
          <p:nvPr/>
        </p:nvSpPr>
        <p:spPr>
          <a:xfrm flipH="false" flipV="false" rot="0">
            <a:off x="7053736" y="7796701"/>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0"/>
                </a:ext>
              </a:extLst>
            </a:blip>
            <a:stretch>
              <a:fillRect l="0" t="0" r="0" b="0"/>
            </a:stretch>
          </a:blipFill>
          <a:ln cap="sq">
            <a:noFill/>
            <a:prstDash val="solid"/>
            <a:miter/>
          </a:ln>
        </p:spPr>
      </p:sp>
      <p:grpSp>
        <p:nvGrpSpPr>
          <p:cNvPr name="Group 42" id="42"/>
          <p:cNvGrpSpPr/>
          <p:nvPr/>
        </p:nvGrpSpPr>
        <p:grpSpPr>
          <a:xfrm rot="0">
            <a:off x="7368628" y="7937980"/>
            <a:ext cx="1530564" cy="1530564"/>
            <a:chOff x="0" y="0"/>
            <a:chExt cx="812800" cy="812800"/>
          </a:xfrm>
        </p:grpSpPr>
        <p:sp>
          <p:nvSpPr>
            <p:cNvPr name="Freeform 43" id="4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44" id="4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45" id="45"/>
          <p:cNvSpPr/>
          <p:nvPr/>
        </p:nvSpPr>
        <p:spPr>
          <a:xfrm flipH="false" flipV="false" rot="0">
            <a:off x="9185459" y="2965649"/>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46" id="46"/>
          <p:cNvSpPr/>
          <p:nvPr/>
        </p:nvSpPr>
        <p:spPr>
          <a:xfrm flipH="false" flipV="false" rot="0">
            <a:off x="9185459" y="4569026"/>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47" id="47"/>
          <p:cNvSpPr/>
          <p:nvPr/>
        </p:nvSpPr>
        <p:spPr>
          <a:xfrm flipH="false" flipV="false" rot="0">
            <a:off x="9185459" y="6116448"/>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48" id="48"/>
          <p:cNvSpPr/>
          <p:nvPr/>
        </p:nvSpPr>
        <p:spPr>
          <a:xfrm flipH="false" flipV="false" rot="0">
            <a:off x="9185459" y="7830136"/>
            <a:ext cx="1905000" cy="1905000"/>
          </a:xfrm>
          <a:custGeom>
            <a:avLst/>
            <a:gdLst/>
            <a:ahLst/>
            <a:cxnLst/>
            <a:rect r="r" b="b" t="t" l="l"/>
            <a:pathLst>
              <a:path h="1905000" w="1905000">
                <a:moveTo>
                  <a:pt x="0" y="0"/>
                </a:moveTo>
                <a:lnTo>
                  <a:pt x="1905000" y="0"/>
                </a:lnTo>
                <a:lnTo>
                  <a:pt x="1905000" y="1905000"/>
                </a:lnTo>
                <a:lnTo>
                  <a:pt x="0" y="1905000"/>
                </a:lnTo>
                <a:lnTo>
                  <a:pt x="0" y="0"/>
                </a:lnTo>
                <a:close/>
              </a:path>
            </a:pathLst>
          </a:custGeom>
          <a:blipFill>
            <a:blip r:embed="rId7">
              <a:alphaModFix amt="35000"/>
              <a:extLst>
                <a:ext uri="{96DAC541-7B7A-43D3-8B79-37D633B846F1}">
                  <asvg:svgBlip xmlns:asvg="http://schemas.microsoft.com/office/drawing/2016/SVG/main" r:embed="rId11"/>
                </a:ext>
              </a:extLst>
            </a:blip>
            <a:stretch>
              <a:fillRect l="0" t="0" r="0" b="0"/>
            </a:stretch>
          </a:blipFill>
          <a:ln cap="sq">
            <a:noFill/>
            <a:prstDash val="solid"/>
            <a:miter/>
          </a:ln>
        </p:spPr>
      </p:sp>
      <p:grpSp>
        <p:nvGrpSpPr>
          <p:cNvPr name="Group 49" id="49"/>
          <p:cNvGrpSpPr/>
          <p:nvPr/>
        </p:nvGrpSpPr>
        <p:grpSpPr>
          <a:xfrm rot="0">
            <a:off x="9283669" y="3143342"/>
            <a:ext cx="1530564" cy="1530564"/>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FFFFF"/>
              </a:solidFill>
              <a:prstDash val="solid"/>
              <a:miter/>
            </a:ln>
          </p:spPr>
        </p:sp>
        <p:sp>
          <p:nvSpPr>
            <p:cNvPr name="TextBox 51" id="51"/>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52" id="52"/>
          <p:cNvGrpSpPr/>
          <p:nvPr/>
        </p:nvGrpSpPr>
        <p:grpSpPr>
          <a:xfrm rot="0">
            <a:off x="9283669" y="4740432"/>
            <a:ext cx="1530564" cy="1530564"/>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FFFFF"/>
              </a:solidFill>
              <a:prstDash val="solid"/>
              <a:miter/>
            </a:ln>
          </p:spPr>
        </p:sp>
        <p:sp>
          <p:nvSpPr>
            <p:cNvPr name="TextBox 54" id="5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55" id="55"/>
          <p:cNvGrpSpPr/>
          <p:nvPr/>
        </p:nvGrpSpPr>
        <p:grpSpPr>
          <a:xfrm rot="0">
            <a:off x="9283669" y="6337672"/>
            <a:ext cx="1530564" cy="1530564"/>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FFFFF"/>
              </a:solidFill>
              <a:prstDash val="solid"/>
              <a:miter/>
            </a:ln>
          </p:spPr>
        </p:sp>
        <p:sp>
          <p:nvSpPr>
            <p:cNvPr name="TextBox 57" id="57"/>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58" id="58"/>
          <p:cNvGrpSpPr/>
          <p:nvPr/>
        </p:nvGrpSpPr>
        <p:grpSpPr>
          <a:xfrm rot="0">
            <a:off x="9283669" y="7937980"/>
            <a:ext cx="1530564" cy="1530564"/>
            <a:chOff x="0" y="0"/>
            <a:chExt cx="812800" cy="812800"/>
          </a:xfrm>
        </p:grpSpPr>
        <p:sp>
          <p:nvSpPr>
            <p:cNvPr name="Freeform 59" id="5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FFFFF"/>
              </a:solidFill>
              <a:prstDash val="solid"/>
              <a:miter/>
            </a:ln>
          </p:spPr>
        </p:sp>
        <p:sp>
          <p:nvSpPr>
            <p:cNvPr name="TextBox 60" id="60"/>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61" id="61"/>
          <p:cNvSpPr/>
          <p:nvPr/>
        </p:nvSpPr>
        <p:spPr>
          <a:xfrm flipH="false" flipV="false" rot="0">
            <a:off x="9705659" y="3590822"/>
            <a:ext cx="704850" cy="704850"/>
          </a:xfrm>
          <a:custGeom>
            <a:avLst/>
            <a:gdLst/>
            <a:ahLst/>
            <a:cxnLst/>
            <a:rect r="r" b="b" t="t" l="l"/>
            <a:pathLst>
              <a:path h="704850" w="704850">
                <a:moveTo>
                  <a:pt x="0" y="0"/>
                </a:moveTo>
                <a:lnTo>
                  <a:pt x="704850" y="0"/>
                </a:lnTo>
                <a:lnTo>
                  <a:pt x="704850" y="704850"/>
                </a:lnTo>
                <a:lnTo>
                  <a:pt x="0" y="70485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62" id="62"/>
          <p:cNvSpPr/>
          <p:nvPr/>
        </p:nvSpPr>
        <p:spPr>
          <a:xfrm flipH="false" flipV="false" rot="0">
            <a:off x="9724709" y="5110033"/>
            <a:ext cx="666750" cy="741864"/>
          </a:xfrm>
          <a:custGeom>
            <a:avLst/>
            <a:gdLst/>
            <a:ahLst/>
            <a:cxnLst/>
            <a:rect r="r" b="b" t="t" l="l"/>
            <a:pathLst>
              <a:path h="741864" w="666750">
                <a:moveTo>
                  <a:pt x="0" y="0"/>
                </a:moveTo>
                <a:lnTo>
                  <a:pt x="666750" y="0"/>
                </a:lnTo>
                <a:lnTo>
                  <a:pt x="666750" y="741864"/>
                </a:lnTo>
                <a:lnTo>
                  <a:pt x="0" y="74186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63" id="63"/>
          <p:cNvSpPr/>
          <p:nvPr/>
        </p:nvSpPr>
        <p:spPr>
          <a:xfrm flipH="false" flipV="false" rot="0">
            <a:off x="9734626" y="6790164"/>
            <a:ext cx="628650" cy="628650"/>
          </a:xfrm>
          <a:custGeom>
            <a:avLst/>
            <a:gdLst/>
            <a:ahLst/>
            <a:cxnLst/>
            <a:rect r="r" b="b" t="t" l="l"/>
            <a:pathLst>
              <a:path h="628650" w="628650">
                <a:moveTo>
                  <a:pt x="0" y="0"/>
                </a:moveTo>
                <a:lnTo>
                  <a:pt x="628650" y="0"/>
                </a:lnTo>
                <a:lnTo>
                  <a:pt x="628650" y="628650"/>
                </a:lnTo>
                <a:lnTo>
                  <a:pt x="0" y="62865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64" id="64"/>
          <p:cNvSpPr/>
          <p:nvPr/>
        </p:nvSpPr>
        <p:spPr>
          <a:xfrm flipH="false" flipV="false" rot="0">
            <a:off x="9724709" y="8449261"/>
            <a:ext cx="666750" cy="666750"/>
          </a:xfrm>
          <a:custGeom>
            <a:avLst/>
            <a:gdLst/>
            <a:ahLst/>
            <a:cxnLst/>
            <a:rect r="r" b="b" t="t" l="l"/>
            <a:pathLst>
              <a:path h="666750" w="666750">
                <a:moveTo>
                  <a:pt x="0" y="0"/>
                </a:moveTo>
                <a:lnTo>
                  <a:pt x="666750" y="0"/>
                </a:lnTo>
                <a:lnTo>
                  <a:pt x="666750" y="666750"/>
                </a:lnTo>
                <a:lnTo>
                  <a:pt x="0" y="666750"/>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65" id="65"/>
          <p:cNvSpPr/>
          <p:nvPr/>
        </p:nvSpPr>
        <p:spPr>
          <a:xfrm flipH="false" flipV="false" rot="0">
            <a:off x="7781485" y="3556199"/>
            <a:ext cx="704850" cy="704850"/>
          </a:xfrm>
          <a:custGeom>
            <a:avLst/>
            <a:gdLst/>
            <a:ahLst/>
            <a:cxnLst/>
            <a:rect r="r" b="b" t="t" l="l"/>
            <a:pathLst>
              <a:path h="704850" w="704850">
                <a:moveTo>
                  <a:pt x="0" y="0"/>
                </a:moveTo>
                <a:lnTo>
                  <a:pt x="704850" y="0"/>
                </a:lnTo>
                <a:lnTo>
                  <a:pt x="704850" y="704850"/>
                </a:lnTo>
                <a:lnTo>
                  <a:pt x="0" y="704850"/>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66" id="66"/>
          <p:cNvSpPr/>
          <p:nvPr/>
        </p:nvSpPr>
        <p:spPr>
          <a:xfrm flipH="false" flipV="false" rot="0">
            <a:off x="7781485" y="5153025"/>
            <a:ext cx="704850" cy="680180"/>
          </a:xfrm>
          <a:custGeom>
            <a:avLst/>
            <a:gdLst/>
            <a:ahLst/>
            <a:cxnLst/>
            <a:rect r="r" b="b" t="t" l="l"/>
            <a:pathLst>
              <a:path h="680180" w="704850">
                <a:moveTo>
                  <a:pt x="0" y="0"/>
                </a:moveTo>
                <a:lnTo>
                  <a:pt x="704850" y="0"/>
                </a:lnTo>
                <a:lnTo>
                  <a:pt x="704850" y="680180"/>
                </a:lnTo>
                <a:lnTo>
                  <a:pt x="0" y="68018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sp>
        <p:nvSpPr>
          <p:cNvPr name="Freeform 67" id="67"/>
          <p:cNvSpPr/>
          <p:nvPr/>
        </p:nvSpPr>
        <p:spPr>
          <a:xfrm flipH="false" flipV="false" rot="0">
            <a:off x="7810060" y="8349105"/>
            <a:ext cx="647700" cy="713719"/>
          </a:xfrm>
          <a:custGeom>
            <a:avLst/>
            <a:gdLst/>
            <a:ahLst/>
            <a:cxnLst/>
            <a:rect r="r" b="b" t="t" l="l"/>
            <a:pathLst>
              <a:path h="713719" w="647700">
                <a:moveTo>
                  <a:pt x="0" y="0"/>
                </a:moveTo>
                <a:lnTo>
                  <a:pt x="647700" y="0"/>
                </a:lnTo>
                <a:lnTo>
                  <a:pt x="647700" y="713719"/>
                </a:lnTo>
                <a:lnTo>
                  <a:pt x="0" y="713719"/>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68" id="68"/>
          <p:cNvSpPr/>
          <p:nvPr/>
        </p:nvSpPr>
        <p:spPr>
          <a:xfrm flipH="false" flipV="false" rot="0">
            <a:off x="7737909" y="6745713"/>
            <a:ext cx="792002" cy="646472"/>
          </a:xfrm>
          <a:custGeom>
            <a:avLst/>
            <a:gdLst/>
            <a:ahLst/>
            <a:cxnLst/>
            <a:rect r="r" b="b" t="t" l="l"/>
            <a:pathLst>
              <a:path h="646472" w="792002">
                <a:moveTo>
                  <a:pt x="0" y="0"/>
                </a:moveTo>
                <a:lnTo>
                  <a:pt x="792002" y="0"/>
                </a:lnTo>
                <a:lnTo>
                  <a:pt x="792002" y="646471"/>
                </a:lnTo>
                <a:lnTo>
                  <a:pt x="0" y="646471"/>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69" id="69"/>
          <p:cNvSpPr txBox="true"/>
          <p:nvPr/>
        </p:nvSpPr>
        <p:spPr>
          <a:xfrm rot="0">
            <a:off x="4321138" y="1019175"/>
            <a:ext cx="9645724" cy="830580"/>
          </a:xfrm>
          <a:prstGeom prst="rect">
            <a:avLst/>
          </a:prstGeom>
        </p:spPr>
        <p:txBody>
          <a:bodyPr anchor="t" rtlCol="false" tIns="0" lIns="0" bIns="0" rIns="0">
            <a:spAutoFit/>
          </a:bodyPr>
          <a:lstStyle/>
          <a:p>
            <a:pPr algn="ctr">
              <a:lnSpc>
                <a:spcPts val="5940"/>
              </a:lnSpc>
            </a:pPr>
            <a:r>
              <a:rPr lang="en-US" sz="5400" b="true">
                <a:solidFill>
                  <a:srgbClr val="121113"/>
                </a:solidFill>
                <a:latin typeface="Telegraf Bold"/>
                <a:ea typeface="Telegraf Bold"/>
                <a:cs typeface="Telegraf Bold"/>
                <a:sym typeface="Telegraf Bold"/>
              </a:rPr>
              <a:t>Project Overview</a:t>
            </a:r>
          </a:p>
        </p:txBody>
      </p:sp>
      <p:sp>
        <p:nvSpPr>
          <p:cNvPr name="TextBox 70" id="70"/>
          <p:cNvSpPr txBox="true"/>
          <p:nvPr/>
        </p:nvSpPr>
        <p:spPr>
          <a:xfrm rot="0">
            <a:off x="1588386" y="3731116"/>
            <a:ext cx="4699829" cy="375573"/>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Introduction</a:t>
            </a:r>
          </a:p>
        </p:txBody>
      </p:sp>
      <p:sp>
        <p:nvSpPr>
          <p:cNvPr name="TextBox 71" id="71"/>
          <p:cNvSpPr txBox="true"/>
          <p:nvPr/>
        </p:nvSpPr>
        <p:spPr>
          <a:xfrm rot="0">
            <a:off x="6639557" y="3731116"/>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01</a:t>
            </a:r>
          </a:p>
        </p:txBody>
      </p:sp>
      <p:sp>
        <p:nvSpPr>
          <p:cNvPr name="TextBox 72" id="72"/>
          <p:cNvSpPr txBox="true"/>
          <p:nvPr/>
        </p:nvSpPr>
        <p:spPr>
          <a:xfrm rot="0">
            <a:off x="1588386" y="3731116"/>
            <a:ext cx="4699829" cy="375573"/>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Introduction</a:t>
            </a:r>
          </a:p>
        </p:txBody>
      </p:sp>
      <p:sp>
        <p:nvSpPr>
          <p:cNvPr name="TextBox 73" id="73"/>
          <p:cNvSpPr txBox="true"/>
          <p:nvPr/>
        </p:nvSpPr>
        <p:spPr>
          <a:xfrm rot="0">
            <a:off x="1588386" y="5274129"/>
            <a:ext cx="4699829" cy="375573"/>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Literature Review</a:t>
            </a:r>
          </a:p>
        </p:txBody>
      </p:sp>
      <p:sp>
        <p:nvSpPr>
          <p:cNvPr name="TextBox 74" id="74"/>
          <p:cNvSpPr txBox="true"/>
          <p:nvPr/>
        </p:nvSpPr>
        <p:spPr>
          <a:xfrm rot="0">
            <a:off x="6639557" y="3731116"/>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01</a:t>
            </a:r>
          </a:p>
        </p:txBody>
      </p:sp>
      <p:sp>
        <p:nvSpPr>
          <p:cNvPr name="TextBox 75" id="75"/>
          <p:cNvSpPr txBox="true"/>
          <p:nvPr/>
        </p:nvSpPr>
        <p:spPr>
          <a:xfrm rot="0">
            <a:off x="6639557" y="5274129"/>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02</a:t>
            </a:r>
          </a:p>
        </p:txBody>
      </p:sp>
      <p:sp>
        <p:nvSpPr>
          <p:cNvPr name="TextBox 76" id="76"/>
          <p:cNvSpPr txBox="true"/>
          <p:nvPr/>
        </p:nvSpPr>
        <p:spPr>
          <a:xfrm rot="0">
            <a:off x="1588386" y="6862112"/>
            <a:ext cx="4699829" cy="375573"/>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 ⁠Research Gaps</a:t>
            </a:r>
          </a:p>
        </p:txBody>
      </p:sp>
      <p:sp>
        <p:nvSpPr>
          <p:cNvPr name="TextBox 77" id="77"/>
          <p:cNvSpPr txBox="true"/>
          <p:nvPr/>
        </p:nvSpPr>
        <p:spPr>
          <a:xfrm rot="0">
            <a:off x="6639557" y="6862112"/>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03</a:t>
            </a:r>
          </a:p>
        </p:txBody>
      </p:sp>
      <p:sp>
        <p:nvSpPr>
          <p:cNvPr name="TextBox 78" id="78"/>
          <p:cNvSpPr txBox="true"/>
          <p:nvPr/>
        </p:nvSpPr>
        <p:spPr>
          <a:xfrm rot="0">
            <a:off x="1588386" y="8504395"/>
            <a:ext cx="4699829" cy="770488"/>
          </a:xfrm>
          <a:prstGeom prst="rect">
            <a:avLst/>
          </a:prstGeom>
        </p:spPr>
        <p:txBody>
          <a:bodyPr anchor="t" rtlCol="false" tIns="0" lIns="0" bIns="0" rIns="0">
            <a:spAutoFit/>
          </a:bodyPr>
          <a:lstStyle/>
          <a:p>
            <a:pPr algn="l">
              <a:lnSpc>
                <a:spcPts val="3166"/>
              </a:lnSpc>
            </a:pPr>
            <a:r>
              <a:rPr lang="en-US" sz="2261">
                <a:solidFill>
                  <a:srgbClr val="000000"/>
                </a:solidFill>
                <a:latin typeface="Open Sauce"/>
                <a:ea typeface="Open Sauce"/>
                <a:cs typeface="Open Sauce"/>
                <a:sym typeface="Open Sauce"/>
              </a:rPr>
              <a:t>Problem Statement</a:t>
            </a:r>
          </a:p>
          <a:p>
            <a:pPr algn="l">
              <a:lnSpc>
                <a:spcPts val="3166"/>
              </a:lnSpc>
            </a:pPr>
          </a:p>
        </p:txBody>
      </p:sp>
      <p:sp>
        <p:nvSpPr>
          <p:cNvPr name="TextBox 79" id="79"/>
          <p:cNvSpPr txBox="true"/>
          <p:nvPr/>
        </p:nvSpPr>
        <p:spPr>
          <a:xfrm rot="0">
            <a:off x="6639557" y="8504395"/>
            <a:ext cx="822127" cy="375573"/>
          </a:xfrm>
          <a:prstGeom prst="rect">
            <a:avLst/>
          </a:prstGeom>
        </p:spPr>
        <p:txBody>
          <a:bodyPr anchor="t" rtlCol="false" tIns="0" lIns="0" bIns="0" rIns="0">
            <a:spAutoFit/>
          </a:bodyPr>
          <a:lstStyle/>
          <a:p>
            <a:pPr algn="ctr">
              <a:lnSpc>
                <a:spcPts val="3166"/>
              </a:lnSpc>
            </a:pPr>
            <a:r>
              <a:rPr lang="en-US" sz="2261">
                <a:solidFill>
                  <a:srgbClr val="000000"/>
                </a:solidFill>
                <a:latin typeface="Open Sauce"/>
                <a:ea typeface="Open Sauce"/>
                <a:cs typeface="Open Sauce"/>
                <a:sym typeface="Open Sauce"/>
              </a:rPr>
              <a:t>04</a:t>
            </a:r>
          </a:p>
        </p:txBody>
      </p:sp>
      <p:sp>
        <p:nvSpPr>
          <p:cNvPr name="TextBox 80" id="80"/>
          <p:cNvSpPr txBox="true"/>
          <p:nvPr/>
        </p:nvSpPr>
        <p:spPr>
          <a:xfrm rot="0">
            <a:off x="11039696" y="3731116"/>
            <a:ext cx="4684652" cy="768123"/>
          </a:xfrm>
          <a:prstGeom prst="rect">
            <a:avLst/>
          </a:prstGeom>
        </p:spPr>
        <p:txBody>
          <a:bodyPr anchor="t" rtlCol="false" tIns="0" lIns="0" bIns="0" rIns="0">
            <a:spAutoFit/>
          </a:bodyPr>
          <a:lstStyle/>
          <a:p>
            <a:pPr algn="l">
              <a:lnSpc>
                <a:spcPts val="3155"/>
              </a:lnSpc>
            </a:pPr>
            <a:r>
              <a:rPr lang="en-US" sz="2254">
                <a:solidFill>
                  <a:srgbClr val="000000"/>
                </a:solidFill>
                <a:latin typeface="Open Sauce"/>
                <a:ea typeface="Open Sauce"/>
                <a:cs typeface="Open Sauce"/>
                <a:sym typeface="Open Sauce"/>
              </a:rPr>
              <a:t>Research Objectives</a:t>
            </a:r>
          </a:p>
          <a:p>
            <a:pPr algn="l">
              <a:lnSpc>
                <a:spcPts val="3155"/>
              </a:lnSpc>
            </a:pPr>
          </a:p>
        </p:txBody>
      </p:sp>
      <p:sp>
        <p:nvSpPr>
          <p:cNvPr name="TextBox 81" id="81"/>
          <p:cNvSpPr txBox="true"/>
          <p:nvPr/>
        </p:nvSpPr>
        <p:spPr>
          <a:xfrm rot="0">
            <a:off x="11039696" y="5265148"/>
            <a:ext cx="4684652" cy="374483"/>
          </a:xfrm>
          <a:prstGeom prst="rect">
            <a:avLst/>
          </a:prstGeom>
        </p:spPr>
        <p:txBody>
          <a:bodyPr anchor="t" rtlCol="false" tIns="0" lIns="0" bIns="0" rIns="0">
            <a:spAutoFit/>
          </a:bodyPr>
          <a:lstStyle/>
          <a:p>
            <a:pPr algn="l">
              <a:lnSpc>
                <a:spcPts val="3155"/>
              </a:lnSpc>
            </a:pPr>
            <a:r>
              <a:rPr lang="en-US" sz="2254">
                <a:solidFill>
                  <a:srgbClr val="000000"/>
                </a:solidFill>
                <a:latin typeface="Open Sauce"/>
                <a:ea typeface="Open Sauce"/>
                <a:cs typeface="Open Sauce"/>
                <a:sym typeface="Open Sauce"/>
              </a:rPr>
              <a:t> ⁠Proposed Solution</a:t>
            </a:r>
          </a:p>
        </p:txBody>
      </p:sp>
      <p:sp>
        <p:nvSpPr>
          <p:cNvPr name="TextBox 82" id="82"/>
          <p:cNvSpPr txBox="true"/>
          <p:nvPr/>
        </p:nvSpPr>
        <p:spPr>
          <a:xfrm rot="0">
            <a:off x="16074556" y="3731116"/>
            <a:ext cx="819472" cy="374483"/>
          </a:xfrm>
          <a:prstGeom prst="rect">
            <a:avLst/>
          </a:prstGeom>
        </p:spPr>
        <p:txBody>
          <a:bodyPr anchor="t" rtlCol="false" tIns="0" lIns="0" bIns="0" rIns="0">
            <a:spAutoFit/>
          </a:bodyPr>
          <a:lstStyle/>
          <a:p>
            <a:pPr algn="ctr">
              <a:lnSpc>
                <a:spcPts val="3155"/>
              </a:lnSpc>
            </a:pPr>
            <a:r>
              <a:rPr lang="en-US" sz="2254">
                <a:solidFill>
                  <a:srgbClr val="000000"/>
                </a:solidFill>
                <a:latin typeface="Open Sauce"/>
                <a:ea typeface="Open Sauce"/>
                <a:cs typeface="Open Sauce"/>
                <a:sym typeface="Open Sauce"/>
              </a:rPr>
              <a:t>05</a:t>
            </a:r>
          </a:p>
        </p:txBody>
      </p:sp>
      <p:sp>
        <p:nvSpPr>
          <p:cNvPr name="TextBox 83" id="83"/>
          <p:cNvSpPr txBox="true"/>
          <p:nvPr/>
        </p:nvSpPr>
        <p:spPr>
          <a:xfrm rot="0">
            <a:off x="16074556" y="5265148"/>
            <a:ext cx="819472" cy="374483"/>
          </a:xfrm>
          <a:prstGeom prst="rect">
            <a:avLst/>
          </a:prstGeom>
        </p:spPr>
        <p:txBody>
          <a:bodyPr anchor="t" rtlCol="false" tIns="0" lIns="0" bIns="0" rIns="0">
            <a:spAutoFit/>
          </a:bodyPr>
          <a:lstStyle/>
          <a:p>
            <a:pPr algn="ctr">
              <a:lnSpc>
                <a:spcPts val="3155"/>
              </a:lnSpc>
            </a:pPr>
            <a:r>
              <a:rPr lang="en-US" sz="2254">
                <a:solidFill>
                  <a:srgbClr val="000000"/>
                </a:solidFill>
                <a:latin typeface="Open Sauce"/>
                <a:ea typeface="Open Sauce"/>
                <a:cs typeface="Open Sauce"/>
                <a:sym typeface="Open Sauce"/>
              </a:rPr>
              <a:t>06</a:t>
            </a:r>
          </a:p>
        </p:txBody>
      </p:sp>
      <p:sp>
        <p:nvSpPr>
          <p:cNvPr name="TextBox 84" id="84"/>
          <p:cNvSpPr txBox="true"/>
          <p:nvPr/>
        </p:nvSpPr>
        <p:spPr>
          <a:xfrm rot="0">
            <a:off x="11039696" y="6907454"/>
            <a:ext cx="4684652" cy="374483"/>
          </a:xfrm>
          <a:prstGeom prst="rect">
            <a:avLst/>
          </a:prstGeom>
        </p:spPr>
        <p:txBody>
          <a:bodyPr anchor="t" rtlCol="false" tIns="0" lIns="0" bIns="0" rIns="0">
            <a:spAutoFit/>
          </a:bodyPr>
          <a:lstStyle/>
          <a:p>
            <a:pPr algn="l">
              <a:lnSpc>
                <a:spcPts val="3155"/>
              </a:lnSpc>
            </a:pPr>
            <a:r>
              <a:rPr lang="en-US" sz="2254">
                <a:solidFill>
                  <a:srgbClr val="000000"/>
                </a:solidFill>
                <a:latin typeface="Open Sauce"/>
                <a:ea typeface="Open Sauce"/>
                <a:cs typeface="Open Sauce"/>
                <a:sym typeface="Open Sauce"/>
              </a:rPr>
              <a:t>Methodology</a:t>
            </a:r>
          </a:p>
        </p:txBody>
      </p:sp>
      <p:sp>
        <p:nvSpPr>
          <p:cNvPr name="TextBox 85" id="85"/>
          <p:cNvSpPr txBox="true"/>
          <p:nvPr/>
        </p:nvSpPr>
        <p:spPr>
          <a:xfrm rot="0">
            <a:off x="16074556" y="6907454"/>
            <a:ext cx="819472" cy="374483"/>
          </a:xfrm>
          <a:prstGeom prst="rect">
            <a:avLst/>
          </a:prstGeom>
        </p:spPr>
        <p:txBody>
          <a:bodyPr anchor="t" rtlCol="false" tIns="0" lIns="0" bIns="0" rIns="0">
            <a:spAutoFit/>
          </a:bodyPr>
          <a:lstStyle/>
          <a:p>
            <a:pPr algn="ctr">
              <a:lnSpc>
                <a:spcPts val="3155"/>
              </a:lnSpc>
            </a:pPr>
            <a:r>
              <a:rPr lang="en-US" sz="2254">
                <a:solidFill>
                  <a:srgbClr val="000000"/>
                </a:solidFill>
                <a:latin typeface="Open Sauce"/>
                <a:ea typeface="Open Sauce"/>
                <a:cs typeface="Open Sauce"/>
                <a:sym typeface="Open Sauce"/>
              </a:rPr>
              <a:t>07</a:t>
            </a:r>
          </a:p>
        </p:txBody>
      </p:sp>
      <p:sp>
        <p:nvSpPr>
          <p:cNvPr name="TextBox 86" id="86"/>
          <p:cNvSpPr txBox="true"/>
          <p:nvPr/>
        </p:nvSpPr>
        <p:spPr>
          <a:xfrm rot="0">
            <a:off x="11039696" y="8496971"/>
            <a:ext cx="4684652" cy="374483"/>
          </a:xfrm>
          <a:prstGeom prst="rect">
            <a:avLst/>
          </a:prstGeom>
        </p:spPr>
        <p:txBody>
          <a:bodyPr anchor="t" rtlCol="false" tIns="0" lIns="0" bIns="0" rIns="0">
            <a:spAutoFit/>
          </a:bodyPr>
          <a:lstStyle/>
          <a:p>
            <a:pPr algn="l">
              <a:lnSpc>
                <a:spcPts val="3155"/>
              </a:lnSpc>
            </a:pPr>
            <a:r>
              <a:rPr lang="en-US" sz="2254">
                <a:solidFill>
                  <a:srgbClr val="000000"/>
                </a:solidFill>
                <a:latin typeface="Open Sauce"/>
                <a:ea typeface="Open Sauce"/>
                <a:cs typeface="Open Sauce"/>
                <a:sym typeface="Open Sauce"/>
              </a:rPr>
              <a:t>Thank You</a:t>
            </a:r>
          </a:p>
        </p:txBody>
      </p:sp>
      <p:sp>
        <p:nvSpPr>
          <p:cNvPr name="TextBox 87" id="87"/>
          <p:cNvSpPr txBox="true"/>
          <p:nvPr/>
        </p:nvSpPr>
        <p:spPr>
          <a:xfrm rot="0">
            <a:off x="16074556" y="8496971"/>
            <a:ext cx="819472" cy="374483"/>
          </a:xfrm>
          <a:prstGeom prst="rect">
            <a:avLst/>
          </a:prstGeom>
        </p:spPr>
        <p:txBody>
          <a:bodyPr anchor="t" rtlCol="false" tIns="0" lIns="0" bIns="0" rIns="0">
            <a:spAutoFit/>
          </a:bodyPr>
          <a:lstStyle/>
          <a:p>
            <a:pPr algn="ctr">
              <a:lnSpc>
                <a:spcPts val="3155"/>
              </a:lnSpc>
            </a:pPr>
            <a:r>
              <a:rPr lang="en-US" sz="2254">
                <a:solidFill>
                  <a:srgbClr val="000000"/>
                </a:solidFill>
                <a:latin typeface="Open Sauce"/>
                <a:ea typeface="Open Sauce"/>
                <a:cs typeface="Open Sauce"/>
                <a:sym typeface="Open Sauce"/>
              </a:rPr>
              <a:t>08</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true" flipV="true" rot="0">
            <a:off x="1028700" y="1028700"/>
            <a:ext cx="759822" cy="750151"/>
          </a:xfrm>
          <a:custGeom>
            <a:avLst/>
            <a:gdLst/>
            <a:ahLst/>
            <a:cxnLst/>
            <a:rect r="r" b="b" t="t" l="l"/>
            <a:pathLst>
              <a:path h="750151" w="759822">
                <a:moveTo>
                  <a:pt x="759822" y="750151"/>
                </a:moveTo>
                <a:lnTo>
                  <a:pt x="0" y="750151"/>
                </a:lnTo>
                <a:lnTo>
                  <a:pt x="0" y="0"/>
                </a:lnTo>
                <a:lnTo>
                  <a:pt x="759822" y="0"/>
                </a:lnTo>
                <a:lnTo>
                  <a:pt x="759822"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408611" y="6083237"/>
            <a:ext cx="9979930" cy="2042153"/>
          </a:xfrm>
          <a:prstGeom prst="rect">
            <a:avLst/>
          </a:prstGeom>
        </p:spPr>
        <p:txBody>
          <a:bodyPr anchor="t" rtlCol="false" tIns="0" lIns="0" bIns="0" rIns="0">
            <a:spAutoFit/>
          </a:bodyPr>
          <a:lstStyle/>
          <a:p>
            <a:pPr algn="l">
              <a:lnSpc>
                <a:spcPts val="15703"/>
              </a:lnSpc>
              <a:spcBef>
                <a:spcPct val="0"/>
              </a:spcBef>
            </a:pPr>
            <a:r>
              <a:rPr lang="en-US" b="true" sz="11216">
                <a:solidFill>
                  <a:srgbClr val="7D4C84"/>
                </a:solidFill>
                <a:latin typeface="Telegraf Bold"/>
                <a:ea typeface="Telegraf Bold"/>
                <a:cs typeface="Telegraf Bold"/>
                <a:sym typeface="Telegraf Bold"/>
              </a:rPr>
              <a:t>introduction</a:t>
            </a:r>
          </a:p>
        </p:txBody>
      </p:sp>
      <p:sp>
        <p:nvSpPr>
          <p:cNvPr name="TextBox 5" id="5"/>
          <p:cNvSpPr txBox="true"/>
          <p:nvPr/>
        </p:nvSpPr>
        <p:spPr>
          <a:xfrm rot="0">
            <a:off x="11388541" y="1890021"/>
            <a:ext cx="5870759" cy="3026410"/>
          </a:xfrm>
          <a:prstGeom prst="rect">
            <a:avLst/>
          </a:prstGeom>
        </p:spPr>
        <p:txBody>
          <a:bodyPr anchor="t" rtlCol="false" tIns="0" lIns="0" bIns="0" rIns="0">
            <a:spAutoFit/>
          </a:bodyPr>
          <a:lstStyle/>
          <a:p>
            <a:pPr algn="just">
              <a:lnSpc>
                <a:spcPts val="2239"/>
              </a:lnSpc>
              <a:spcBef>
                <a:spcPct val="0"/>
              </a:spcBef>
            </a:pPr>
            <a:r>
              <a:rPr lang="en-US" sz="1599">
                <a:solidFill>
                  <a:srgbClr val="4D4B66"/>
                </a:solidFill>
                <a:latin typeface="Montserrat"/>
                <a:ea typeface="Montserrat"/>
                <a:cs typeface="Montserrat"/>
                <a:sym typeface="Montserrat"/>
              </a:rPr>
              <a:t>Question–answer–based story generation is an emerging field in Generative AI that focuses on transforming user-driven inputs into coherent, contextually rich narratives. With advancements in Large Language Models (LLMs), machines can now understand natural language queries, capture user intent, and generate personalized stories that feel meaningful and human-like. This project explores how LLMs can be leveraged to build an automated system that converts structured or unstructured questions and answers into creative, dynamic stories.</a:t>
            </a:r>
          </a:p>
        </p:txBody>
      </p:sp>
      <p:sp>
        <p:nvSpPr>
          <p:cNvPr name="TextBox 6" id="6"/>
          <p:cNvSpPr txBox="true"/>
          <p:nvPr/>
        </p:nvSpPr>
        <p:spPr>
          <a:xfrm rot="0">
            <a:off x="1954638" y="5755113"/>
            <a:ext cx="7569755" cy="3503187"/>
          </a:xfrm>
          <a:prstGeom prst="rect">
            <a:avLst/>
          </a:prstGeom>
        </p:spPr>
        <p:txBody>
          <a:bodyPr anchor="t" rtlCol="false" tIns="0" lIns="0" bIns="0" rIns="0">
            <a:spAutoFit/>
          </a:bodyPr>
          <a:lstStyle/>
          <a:p>
            <a:pPr algn="ctr">
              <a:lnSpc>
                <a:spcPts val="12612"/>
              </a:lnSpc>
            </a:pPr>
            <a:r>
              <a:rPr lang="en-US" sz="14497" spc="2319">
                <a:solidFill>
                  <a:srgbClr val="041226">
                    <a:alpha val="4706"/>
                  </a:srgbClr>
                </a:solidFill>
                <a:latin typeface="Telegraf"/>
                <a:ea typeface="Telegraf"/>
                <a:cs typeface="Telegraf"/>
                <a:sym typeface="Telegraf"/>
              </a:rPr>
              <a:t>introduction</a:t>
            </a:r>
          </a:p>
        </p:txBody>
      </p:sp>
      <p:sp>
        <p:nvSpPr>
          <p:cNvPr name="TextBox 7" id="7"/>
          <p:cNvSpPr txBox="true"/>
          <p:nvPr/>
        </p:nvSpPr>
        <p:spPr>
          <a:xfrm rot="0">
            <a:off x="11388541" y="5114925"/>
            <a:ext cx="5870759" cy="2750185"/>
          </a:xfrm>
          <a:prstGeom prst="rect">
            <a:avLst/>
          </a:prstGeom>
        </p:spPr>
        <p:txBody>
          <a:bodyPr anchor="t" rtlCol="false" tIns="0" lIns="0" bIns="0" rIns="0">
            <a:spAutoFit/>
          </a:bodyPr>
          <a:lstStyle/>
          <a:p>
            <a:pPr algn="just">
              <a:lnSpc>
                <a:spcPts val="2239"/>
              </a:lnSpc>
              <a:spcBef>
                <a:spcPct val="0"/>
              </a:spcBef>
            </a:pPr>
            <a:r>
              <a:rPr lang="en-US" sz="1599">
                <a:solidFill>
                  <a:srgbClr val="4D4B66"/>
                </a:solidFill>
                <a:latin typeface="Montserrat"/>
                <a:ea typeface="Montserrat"/>
                <a:cs typeface="Montserrat"/>
                <a:sym typeface="Montserrat"/>
              </a:rPr>
              <a:t>The growing demand for interactive storytelling in education, entertainment, gaming, and digital content has highlighted the need for intelligent systems that adapt to user inputs. By integrating LLMs with a guided question–answer framework, this project aims to enhance user engagement and ensure story coherence, creativity, and relevance. The objective is to design a robust, scalable model capable of generating high-quality narratives based on user-provided responses.</a:t>
            </a:r>
          </a:p>
          <a:p>
            <a:pPr algn="just">
              <a:lnSpc>
                <a:spcPts val="2239"/>
              </a:lnSpc>
              <a:spcBef>
                <a:spcPct val="0"/>
              </a:spcBef>
            </a:pPr>
          </a:p>
        </p:txBody>
      </p:sp>
      <p:sp>
        <p:nvSpPr>
          <p:cNvPr name="Freeform 8" id="8"/>
          <p:cNvSpPr/>
          <p:nvPr/>
        </p:nvSpPr>
        <p:spPr>
          <a:xfrm flipH="false" flipV="false" rot="0">
            <a:off x="16887790" y="8891519"/>
            <a:ext cx="371510" cy="366781"/>
          </a:xfrm>
          <a:custGeom>
            <a:avLst/>
            <a:gdLst/>
            <a:ahLst/>
            <a:cxnLst/>
            <a:rect r="r" b="b" t="t" l="l"/>
            <a:pathLst>
              <a:path h="366781" w="371510">
                <a:moveTo>
                  <a:pt x="0" y="0"/>
                </a:moveTo>
                <a:lnTo>
                  <a:pt x="371510" y="0"/>
                </a:lnTo>
                <a:lnTo>
                  <a:pt x="371510" y="366781"/>
                </a:lnTo>
                <a:lnTo>
                  <a:pt x="0" y="3667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true" rot="2846557">
            <a:off x="-9064097" y="2619033"/>
            <a:ext cx="18651033" cy="6178155"/>
          </a:xfrm>
          <a:custGeom>
            <a:avLst/>
            <a:gdLst/>
            <a:ahLst/>
            <a:cxnLst/>
            <a:rect r="r" b="b" t="t" l="l"/>
            <a:pathLst>
              <a:path h="6178155" w="18651033">
                <a:moveTo>
                  <a:pt x="0" y="6178155"/>
                </a:moveTo>
                <a:lnTo>
                  <a:pt x="18651033" y="6178155"/>
                </a:lnTo>
                <a:lnTo>
                  <a:pt x="18651033" y="0"/>
                </a:lnTo>
                <a:lnTo>
                  <a:pt x="0" y="0"/>
                </a:lnTo>
                <a:lnTo>
                  <a:pt x="0" y="6178155"/>
                </a:lnTo>
                <a:close/>
              </a:path>
            </a:pathLst>
          </a:custGeom>
          <a:blipFill>
            <a:blip r:embed="rId7">
              <a:alphaModFix amt="10999"/>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9076710">
            <a:off x="-4711515" y="6767622"/>
            <a:ext cx="6705817" cy="5750238"/>
          </a:xfrm>
          <a:custGeom>
            <a:avLst/>
            <a:gdLst/>
            <a:ahLst/>
            <a:cxnLst/>
            <a:rect r="r" b="b" t="t" l="l"/>
            <a:pathLst>
              <a:path h="5750238" w="6705817">
                <a:moveTo>
                  <a:pt x="0" y="0"/>
                </a:moveTo>
                <a:lnTo>
                  <a:pt x="6705817" y="0"/>
                </a:lnTo>
                <a:lnTo>
                  <a:pt x="6705817" y="5750238"/>
                </a:lnTo>
                <a:lnTo>
                  <a:pt x="0" y="5750238"/>
                </a:lnTo>
                <a:lnTo>
                  <a:pt x="0" y="0"/>
                </a:lnTo>
                <a:close/>
              </a:path>
            </a:pathLst>
          </a:custGeom>
          <a:blipFill>
            <a:blip r:embed="rId3">
              <a:alphaModFix amt="13000"/>
              <a:extLst>
                <a:ext uri="{96DAC541-7B7A-43D3-8B79-37D633B846F1}">
                  <asvg:svgBlip xmlns:asvg="http://schemas.microsoft.com/office/drawing/2016/SVG/main" r:embed="rId4"/>
                </a:ext>
              </a:extLst>
            </a:blip>
            <a:stretch>
              <a:fillRect l="0" t="0" r="0" b="0"/>
            </a:stretch>
          </a:blipFill>
        </p:spPr>
      </p:sp>
      <p:graphicFrame>
        <p:nvGraphicFramePr>
          <p:cNvPr name="Table 4" id="4"/>
          <p:cNvGraphicFramePr>
            <a:graphicFrameLocks noGrp="true"/>
          </p:cNvGraphicFramePr>
          <p:nvPr/>
        </p:nvGraphicFramePr>
        <p:xfrm>
          <a:off x="617504" y="1068224"/>
          <a:ext cx="17232157" cy="8951662"/>
        </p:xfrm>
        <a:graphic>
          <a:graphicData uri="http://schemas.openxmlformats.org/drawingml/2006/table">
            <a:tbl>
              <a:tblPr/>
              <a:tblGrid>
                <a:gridCol w="1365226"/>
                <a:gridCol w="1580177"/>
                <a:gridCol w="2340052"/>
                <a:gridCol w="1916918"/>
                <a:gridCol w="1964539"/>
                <a:gridCol w="2482263"/>
                <a:gridCol w="1860994"/>
                <a:gridCol w="1860994"/>
                <a:gridCol w="1860994"/>
              </a:tblGrid>
              <a:tr h="1699261">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Sr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7D4C84"/>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Year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8E699B"/>
                    </a:solidFill>
                  </a:tcPr>
                </a:tc>
                <a:tc>
                  <a:txBody>
                    <a:bodyPr anchor="t" rtlCol="false"/>
                    <a:lstStyle/>
                    <a:p>
                      <a:pPr algn="ctr">
                        <a:lnSpc>
                          <a:spcPts val="1680"/>
                        </a:lnSpc>
                        <a:defRPr/>
                      </a:pPr>
                      <a:r>
                        <a:rPr lang="en-US" b="true" sz="1200">
                          <a:solidFill>
                            <a:srgbClr val="121113"/>
                          </a:solidFill>
                          <a:latin typeface="Telegraf Bold"/>
                          <a:ea typeface="Telegraf Bold"/>
                          <a:cs typeface="Telegraf Bold"/>
                          <a:sym typeface="Telegraf Bold"/>
                        </a:rPr>
                        <a:t>Authors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Title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Venue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Idea Summary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100"/>
                        </a:lnSpc>
                        <a:defRPr/>
                      </a:pPr>
                      <a:r>
                        <a:rPr lang="en-US" b="true" sz="1500">
                          <a:solidFill>
                            <a:srgbClr val="121113"/>
                          </a:solidFill>
                          <a:latin typeface="Telegraf Bold"/>
                          <a:ea typeface="Telegraf Bold"/>
                          <a:cs typeface="Telegraf Bold"/>
                          <a:sym typeface="Telegraf Bold"/>
                        </a:rPr>
                        <a:t>Method / Tech Used</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Research Gap (for your Q&amp;A story project)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ctr">
                        <a:lnSpc>
                          <a:spcPts val="2380"/>
                        </a:lnSpc>
                        <a:defRPr/>
                      </a:pPr>
                      <a:r>
                        <a:rPr lang="en-US" b="true" sz="1700">
                          <a:solidFill>
                            <a:srgbClr val="121113"/>
                          </a:solidFill>
                          <a:latin typeface="Telegraf Bold"/>
                          <a:ea typeface="Telegraf Bold"/>
                          <a:cs typeface="Telegraf Bold"/>
                          <a:sym typeface="Telegraf Bold"/>
                        </a:rPr>
                        <a:t>Link</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r>
              <a:tr h="1641490">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1</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R. Farrell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LLMs as Narrative Planning Search Guides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Transactions on Games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Uses LLMs to guide the creation of coherent textual narrative sequences.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GPT-based heuristic search</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No Q&amp;A interaction, no personalized story shaping.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PDF: https://cs.uky.edu/~sgware/reading/papers/farrell2024large.pdf</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649519">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Y. Huang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Guided Story Generation with External Knowledge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Generates text stories using structured knowledge graphs + LLM.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GPT-2/3 + knowledge integration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Doesn’t take Q&amp;A input; limited personalization.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https://ieeexplore.ieee.org/document/10090973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94699">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 Tambwekar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Controllable Neural Story Generation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Transactions on Games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Controls style, theme, and emotion in generated stories.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Reinforced LSTM + LLM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Not interactive; lacks user-driven Q&amp;A shaping.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https://ieeexplore.ieee.org/document/10021351</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402728">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K. Li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Plot-Guided Story Generation via Prompting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Uses prompts and templates to steer LLM story outputs.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Prompt engineering for GPT-3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No dynamic question-answering component.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https://ieeexplore.ieee.org/document/10289342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163966">
                <a:tc>
                  <a:txBody>
                    <a:bodyPr anchor="t" rtlCol="false"/>
                    <a:lstStyle/>
                    <a:p>
                      <a:pPr algn="ctr">
                        <a:lnSpc>
                          <a:spcPts val="1820"/>
                        </a:lnSpc>
                        <a:defRPr/>
                      </a:pPr>
                      <a:r>
                        <a:rPr lang="en-US" b="true" sz="1300">
                          <a:solidFill>
                            <a:srgbClr val="121113"/>
                          </a:solidFill>
                          <a:latin typeface="Open Sans Bold"/>
                          <a:ea typeface="Open Sans Bold"/>
                          <a:cs typeface="Open Sans Bold"/>
                          <a:sym typeface="Open Sans Bold"/>
                        </a:rPr>
                        <a:t>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2022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S. Ammanabrolu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Hierarchical Neural Story Generation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IEEE Transactions on Games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Generates multi-paragraph stories with plot control.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Hierarchical Transformer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No interactive Q&amp;A branching.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l">
                        <a:lnSpc>
                          <a:spcPts val="1820"/>
                        </a:lnSpc>
                        <a:defRPr/>
                      </a:pPr>
                      <a:r>
                        <a:rPr lang="en-US" sz="1300">
                          <a:solidFill>
                            <a:srgbClr val="121113"/>
                          </a:solidFill>
                          <a:latin typeface="Open Sans"/>
                          <a:ea typeface="Open Sans"/>
                          <a:cs typeface="Open Sans"/>
                          <a:sym typeface="Open Sans"/>
                        </a:rPr>
                        <a:t>https://ieeexplore.ieee.org/document/9783130</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bl>
          </a:graphicData>
        </a:graphic>
      </p:graphicFrame>
      <p:sp>
        <p:nvSpPr>
          <p:cNvPr name="TextBox 5" id="5"/>
          <p:cNvSpPr txBox="true"/>
          <p:nvPr/>
        </p:nvSpPr>
        <p:spPr>
          <a:xfrm rot="0">
            <a:off x="1028700" y="357087"/>
            <a:ext cx="9645724" cy="830580"/>
          </a:xfrm>
          <a:prstGeom prst="rect">
            <a:avLst/>
          </a:prstGeom>
        </p:spPr>
        <p:txBody>
          <a:bodyPr anchor="t" rtlCol="false" tIns="0" lIns="0" bIns="0" rIns="0">
            <a:spAutoFit/>
          </a:bodyPr>
          <a:lstStyle/>
          <a:p>
            <a:pPr algn="l">
              <a:lnSpc>
                <a:spcPts val="5940"/>
              </a:lnSpc>
            </a:pPr>
            <a:r>
              <a:rPr lang="en-US" sz="5400" b="true">
                <a:solidFill>
                  <a:srgbClr val="121113"/>
                </a:solidFill>
                <a:latin typeface="Telegraf Bold"/>
                <a:ea typeface="Telegraf Bold"/>
                <a:cs typeface="Telegraf Bold"/>
                <a:sym typeface="Telegraf Bold"/>
              </a:rPr>
              <a:t>Literature Review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9076710">
            <a:off x="-4711515" y="6767622"/>
            <a:ext cx="6705817" cy="5750238"/>
          </a:xfrm>
          <a:custGeom>
            <a:avLst/>
            <a:gdLst/>
            <a:ahLst/>
            <a:cxnLst/>
            <a:rect r="r" b="b" t="t" l="l"/>
            <a:pathLst>
              <a:path h="5750238" w="6705817">
                <a:moveTo>
                  <a:pt x="0" y="0"/>
                </a:moveTo>
                <a:lnTo>
                  <a:pt x="6705817" y="0"/>
                </a:lnTo>
                <a:lnTo>
                  <a:pt x="6705817" y="5750238"/>
                </a:lnTo>
                <a:lnTo>
                  <a:pt x="0" y="5750238"/>
                </a:lnTo>
                <a:lnTo>
                  <a:pt x="0" y="0"/>
                </a:lnTo>
                <a:close/>
              </a:path>
            </a:pathLst>
          </a:custGeom>
          <a:blipFill>
            <a:blip r:embed="rId3">
              <a:alphaModFix amt="13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3254307">
            <a:off x="6814779" y="2113655"/>
            <a:ext cx="18293405" cy="6059690"/>
          </a:xfrm>
          <a:custGeom>
            <a:avLst/>
            <a:gdLst/>
            <a:ahLst/>
            <a:cxnLst/>
            <a:rect r="r" b="b" t="t" l="l"/>
            <a:pathLst>
              <a:path h="6059690" w="18293405">
                <a:moveTo>
                  <a:pt x="0" y="6059690"/>
                </a:moveTo>
                <a:lnTo>
                  <a:pt x="18293405" y="6059690"/>
                </a:lnTo>
                <a:lnTo>
                  <a:pt x="18293405" y="0"/>
                </a:lnTo>
                <a:lnTo>
                  <a:pt x="0" y="0"/>
                </a:lnTo>
                <a:lnTo>
                  <a:pt x="0" y="6059690"/>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graphicFrame>
        <p:nvGraphicFramePr>
          <p:cNvPr name="Table 5" id="5"/>
          <p:cNvGraphicFramePr>
            <a:graphicFrameLocks noGrp="true"/>
          </p:cNvGraphicFramePr>
          <p:nvPr/>
        </p:nvGraphicFramePr>
        <p:xfrm>
          <a:off x="312880" y="1187667"/>
          <a:ext cx="17481862" cy="8936288"/>
        </p:xfrm>
        <a:graphic>
          <a:graphicData uri="http://schemas.openxmlformats.org/drawingml/2006/table">
            <a:tbl>
              <a:tblPr/>
              <a:tblGrid>
                <a:gridCol w="1105784"/>
                <a:gridCol w="1522097"/>
                <a:gridCol w="2193247"/>
                <a:gridCol w="2532709"/>
                <a:gridCol w="1998007"/>
                <a:gridCol w="2549957"/>
                <a:gridCol w="1687536"/>
                <a:gridCol w="2032504"/>
                <a:gridCol w="1860020"/>
              </a:tblGrid>
              <a:tr h="1699391">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Sr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7D4C84"/>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Year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8E699B"/>
                    </a:solidFill>
                  </a:tcPr>
                </a:tc>
                <a:tc>
                  <a:txBody>
                    <a:bodyPr anchor="t" rtlCol="false"/>
                    <a:lstStyle/>
                    <a:p>
                      <a:pPr algn="just">
                        <a:lnSpc>
                          <a:spcPts val="1680"/>
                        </a:lnSpc>
                        <a:defRPr/>
                      </a:pPr>
                      <a:r>
                        <a:rPr lang="en-US" sz="1200" b="true">
                          <a:solidFill>
                            <a:srgbClr val="FFFFFF"/>
                          </a:solidFill>
                          <a:latin typeface="Telegraf Bold"/>
                          <a:ea typeface="Telegraf Bold"/>
                          <a:cs typeface="Telegraf Bold"/>
                          <a:sym typeface="Telegraf Bold"/>
                        </a:rPr>
                        <a:t>Authors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Title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Venue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Idea Summary</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100"/>
                        </a:lnSpc>
                        <a:defRPr/>
                      </a:pPr>
                      <a:r>
                        <a:rPr lang="en-US" sz="1500" b="true">
                          <a:solidFill>
                            <a:srgbClr val="FFFFFF"/>
                          </a:solidFill>
                          <a:latin typeface="Telegraf Bold"/>
                          <a:ea typeface="Telegraf Bold"/>
                          <a:cs typeface="Telegraf Bold"/>
                          <a:sym typeface="Telegraf Bold"/>
                        </a:rPr>
                        <a:t>Method / Tech Used</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Research Gap (for your Q&amp;A story project)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c>
                  <a:txBody>
                    <a:bodyPr anchor="t" rtlCol="false"/>
                    <a:lstStyle/>
                    <a:p>
                      <a:pPr algn="just">
                        <a:lnSpc>
                          <a:spcPts val="2380"/>
                        </a:lnSpc>
                        <a:defRPr/>
                      </a:pPr>
                      <a:r>
                        <a:rPr lang="en-US" sz="1700" b="true">
                          <a:solidFill>
                            <a:srgbClr val="FFFFFF"/>
                          </a:solidFill>
                          <a:latin typeface="Telegraf Bold"/>
                          <a:ea typeface="Telegraf Bold"/>
                          <a:cs typeface="Telegraf Bold"/>
                          <a:sym typeface="Telegraf Bold"/>
                        </a:rPr>
                        <a:t>Link</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627BA7"/>
                    </a:solidFill>
                  </a:tcPr>
                </a:tc>
              </a:tr>
              <a:tr h="1633586">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6</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M. Mao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Character-centric Story Generation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Focuses on character consistency in long stories.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Transformer decoder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No mechanism for user-driven Q&amp;A personalization.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https://ieeexplore.ieee.org/document/9712325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649645">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7</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R. Zhang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Prompt-Driven Narrative Generation Using LLMs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Improves coherence by structuring user prompts → controlled text stories.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Instruction-tuned LLM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No Q&amp;A pipeline; only single-shot prompts.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https://ieeexplore.ieee.org/document/10527305</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94806">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8</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2023</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M. Peng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Interactive Story Generation with Dialogue Inputs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Text story generation using dialogue turns (closest to Q&amp;A).</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BART / GPT dialogue → story converter</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Does not explicitly structure Q&amp;A → story pipeline.</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https://ieeexplore.ieee.org/document/10045611</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394806">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9</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2022</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J. Li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Long-Form Story Generation with Discourse Planning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Ensures story coherence using discourse-aware planning.</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Discourse Planner + LLM</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Still not user-personalized; no Q&amp;A involvement.</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https://ieeexplore.ieee.org/document/9724244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r h="1164055">
                <a:tc>
                  <a:txBody>
                    <a:bodyPr anchor="t" rtlCol="false"/>
                    <a:lstStyle/>
                    <a:p>
                      <a:pPr algn="just">
                        <a:lnSpc>
                          <a:spcPts val="1820"/>
                        </a:lnSpc>
                        <a:defRPr/>
                      </a:pPr>
                      <a:r>
                        <a:rPr lang="en-US" sz="1300" b="true">
                          <a:solidFill>
                            <a:srgbClr val="7D4C84"/>
                          </a:solidFill>
                          <a:latin typeface="Open Sans Bold"/>
                          <a:ea typeface="Open Sans Bold"/>
                          <a:cs typeface="Open Sans Bold"/>
                          <a:sym typeface="Open Sans Bold"/>
                        </a:rPr>
                        <a:t>10</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2024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 Wu et al.</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Evaluation of AI-Generated Narratives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IEEE Access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Analyzes story quality generated by LLMs.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LLM-based story metrics</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Not a generation model but useful for evaluation.</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c>
                  <a:txBody>
                    <a:bodyPr anchor="t" rtlCol="false"/>
                    <a:lstStyle/>
                    <a:p>
                      <a:pPr algn="just">
                        <a:lnSpc>
                          <a:spcPts val="1820"/>
                        </a:lnSpc>
                        <a:defRPr/>
                      </a:pPr>
                      <a:r>
                        <a:rPr lang="en-US" sz="1300">
                          <a:solidFill>
                            <a:srgbClr val="545454"/>
                          </a:solidFill>
                          <a:latin typeface="Open Sans"/>
                          <a:ea typeface="Open Sans"/>
                          <a:cs typeface="Open Sans"/>
                          <a:sym typeface="Open Sans"/>
                        </a:rPr>
                        <a:t>https://ieeexplore.ieee.org/document/10453284</a:t>
                      </a:r>
                      <a:endParaRPr lang="en-US" sz="1100"/>
                    </a:p>
                  </a:txBody>
                  <a:tcPr marL="190500" marR="190500" marT="190500" marB="1905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FFFFFF"/>
                    </a:solidFill>
                  </a:tcPr>
                </a:tc>
              </a:tr>
            </a:tbl>
          </a:graphicData>
        </a:graphic>
      </p:graphicFrame>
      <p:sp>
        <p:nvSpPr>
          <p:cNvPr name="TextBox 6" id="6"/>
          <p:cNvSpPr txBox="true"/>
          <p:nvPr/>
        </p:nvSpPr>
        <p:spPr>
          <a:xfrm rot="0">
            <a:off x="1028700" y="357087"/>
            <a:ext cx="9645724" cy="830580"/>
          </a:xfrm>
          <a:prstGeom prst="rect">
            <a:avLst/>
          </a:prstGeom>
        </p:spPr>
        <p:txBody>
          <a:bodyPr anchor="t" rtlCol="false" tIns="0" lIns="0" bIns="0" rIns="0">
            <a:spAutoFit/>
          </a:bodyPr>
          <a:lstStyle/>
          <a:p>
            <a:pPr algn="l">
              <a:lnSpc>
                <a:spcPts val="5940"/>
              </a:lnSpc>
            </a:pPr>
            <a:r>
              <a:rPr lang="en-US" sz="5400" b="true">
                <a:solidFill>
                  <a:srgbClr val="121113"/>
                </a:solidFill>
                <a:latin typeface="Telegraf Bold"/>
                <a:ea typeface="Telegraf Bold"/>
                <a:cs typeface="Telegraf Bold"/>
                <a:sym typeface="Telegraf Bold"/>
              </a:rPr>
              <a:t>Literature Review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2846557">
            <a:off x="-3940634" y="3356107"/>
            <a:ext cx="16432550" cy="5443282"/>
          </a:xfrm>
          <a:custGeom>
            <a:avLst/>
            <a:gdLst/>
            <a:ahLst/>
            <a:cxnLst/>
            <a:rect r="r" b="b" t="t" l="l"/>
            <a:pathLst>
              <a:path h="5443282" w="16432550">
                <a:moveTo>
                  <a:pt x="0" y="0"/>
                </a:moveTo>
                <a:lnTo>
                  <a:pt x="16432550" y="0"/>
                </a:lnTo>
                <a:lnTo>
                  <a:pt x="16432550" y="5443282"/>
                </a:lnTo>
                <a:lnTo>
                  <a:pt x="0" y="5443282"/>
                </a:lnTo>
                <a:lnTo>
                  <a:pt x="0" y="0"/>
                </a:lnTo>
                <a:close/>
              </a:path>
            </a:pathLst>
          </a:custGeom>
          <a:blipFill>
            <a:blip r:embed="rId3">
              <a:alphaModFix amt="8999"/>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028700" y="4133764"/>
            <a:ext cx="3799029" cy="4772111"/>
            <a:chOff x="0" y="0"/>
            <a:chExt cx="1000567" cy="1256852"/>
          </a:xfrm>
        </p:grpSpPr>
        <p:sp>
          <p:nvSpPr>
            <p:cNvPr name="Freeform 5" id="5"/>
            <p:cNvSpPr/>
            <p:nvPr/>
          </p:nvSpPr>
          <p:spPr>
            <a:xfrm flipH="false" flipV="false" rot="0">
              <a:off x="0" y="0"/>
              <a:ext cx="1000567" cy="1256852"/>
            </a:xfrm>
            <a:custGeom>
              <a:avLst/>
              <a:gdLst/>
              <a:ahLst/>
              <a:cxnLst/>
              <a:rect r="r" b="b" t="t" l="l"/>
              <a:pathLst>
                <a:path h="1256852" w="1000567">
                  <a:moveTo>
                    <a:pt x="91704" y="0"/>
                  </a:moveTo>
                  <a:lnTo>
                    <a:pt x="908863" y="0"/>
                  </a:lnTo>
                  <a:cubicBezTo>
                    <a:pt x="933185" y="0"/>
                    <a:pt x="956510" y="9662"/>
                    <a:pt x="973708" y="26859"/>
                  </a:cubicBezTo>
                  <a:cubicBezTo>
                    <a:pt x="990906" y="44057"/>
                    <a:pt x="1000567" y="67383"/>
                    <a:pt x="1000567" y="91704"/>
                  </a:cubicBezTo>
                  <a:lnTo>
                    <a:pt x="1000567" y="1165148"/>
                  </a:lnTo>
                  <a:cubicBezTo>
                    <a:pt x="1000567" y="1215795"/>
                    <a:pt x="959510" y="1256852"/>
                    <a:pt x="908863" y="1256852"/>
                  </a:cubicBezTo>
                  <a:lnTo>
                    <a:pt x="91704" y="1256852"/>
                  </a:lnTo>
                  <a:cubicBezTo>
                    <a:pt x="41057" y="1256852"/>
                    <a:pt x="0" y="1215795"/>
                    <a:pt x="0" y="1165148"/>
                  </a:cubicBezTo>
                  <a:lnTo>
                    <a:pt x="0" y="91704"/>
                  </a:lnTo>
                  <a:cubicBezTo>
                    <a:pt x="0" y="41057"/>
                    <a:pt x="41057" y="0"/>
                    <a:pt x="91704" y="0"/>
                  </a:cubicBezTo>
                  <a:close/>
                </a:path>
              </a:pathLst>
            </a:custGeom>
            <a:solidFill>
              <a:srgbClr val="FFFFFF"/>
            </a:solidFill>
          </p:spPr>
        </p:sp>
        <p:sp>
          <p:nvSpPr>
            <p:cNvPr name="TextBox 6" id="6"/>
            <p:cNvSpPr txBox="true"/>
            <p:nvPr/>
          </p:nvSpPr>
          <p:spPr>
            <a:xfrm>
              <a:off x="0" y="-38100"/>
              <a:ext cx="1000567" cy="1294952"/>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0">
            <a:off x="5174784" y="4133764"/>
            <a:ext cx="3799029" cy="4772111"/>
            <a:chOff x="0" y="0"/>
            <a:chExt cx="1000567" cy="1256852"/>
          </a:xfrm>
        </p:grpSpPr>
        <p:sp>
          <p:nvSpPr>
            <p:cNvPr name="Freeform 8" id="8"/>
            <p:cNvSpPr/>
            <p:nvPr/>
          </p:nvSpPr>
          <p:spPr>
            <a:xfrm flipH="false" flipV="false" rot="0">
              <a:off x="0" y="0"/>
              <a:ext cx="1000567" cy="1256852"/>
            </a:xfrm>
            <a:custGeom>
              <a:avLst/>
              <a:gdLst/>
              <a:ahLst/>
              <a:cxnLst/>
              <a:rect r="r" b="b" t="t" l="l"/>
              <a:pathLst>
                <a:path h="1256852" w="1000567">
                  <a:moveTo>
                    <a:pt x="91704" y="0"/>
                  </a:moveTo>
                  <a:lnTo>
                    <a:pt x="908863" y="0"/>
                  </a:lnTo>
                  <a:cubicBezTo>
                    <a:pt x="933185" y="0"/>
                    <a:pt x="956510" y="9662"/>
                    <a:pt x="973708" y="26859"/>
                  </a:cubicBezTo>
                  <a:cubicBezTo>
                    <a:pt x="990906" y="44057"/>
                    <a:pt x="1000567" y="67383"/>
                    <a:pt x="1000567" y="91704"/>
                  </a:cubicBezTo>
                  <a:lnTo>
                    <a:pt x="1000567" y="1165148"/>
                  </a:lnTo>
                  <a:cubicBezTo>
                    <a:pt x="1000567" y="1215795"/>
                    <a:pt x="959510" y="1256852"/>
                    <a:pt x="908863" y="1256852"/>
                  </a:cubicBezTo>
                  <a:lnTo>
                    <a:pt x="91704" y="1256852"/>
                  </a:lnTo>
                  <a:cubicBezTo>
                    <a:pt x="41057" y="1256852"/>
                    <a:pt x="0" y="1215795"/>
                    <a:pt x="0" y="1165148"/>
                  </a:cubicBezTo>
                  <a:lnTo>
                    <a:pt x="0" y="91704"/>
                  </a:lnTo>
                  <a:cubicBezTo>
                    <a:pt x="0" y="41057"/>
                    <a:pt x="41057" y="0"/>
                    <a:pt x="91704" y="0"/>
                  </a:cubicBezTo>
                  <a:close/>
                </a:path>
              </a:pathLst>
            </a:custGeom>
            <a:solidFill>
              <a:srgbClr val="FFFFFF"/>
            </a:solidFill>
          </p:spPr>
        </p:sp>
        <p:sp>
          <p:nvSpPr>
            <p:cNvPr name="TextBox 9" id="9"/>
            <p:cNvSpPr txBox="true"/>
            <p:nvPr/>
          </p:nvSpPr>
          <p:spPr>
            <a:xfrm>
              <a:off x="0" y="-38100"/>
              <a:ext cx="1000567" cy="1294952"/>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0">
            <a:off x="9317528" y="4133764"/>
            <a:ext cx="3799029" cy="4772111"/>
            <a:chOff x="0" y="0"/>
            <a:chExt cx="1000567" cy="1256852"/>
          </a:xfrm>
        </p:grpSpPr>
        <p:sp>
          <p:nvSpPr>
            <p:cNvPr name="Freeform 11" id="11"/>
            <p:cNvSpPr/>
            <p:nvPr/>
          </p:nvSpPr>
          <p:spPr>
            <a:xfrm flipH="false" flipV="false" rot="0">
              <a:off x="0" y="0"/>
              <a:ext cx="1000567" cy="1256852"/>
            </a:xfrm>
            <a:custGeom>
              <a:avLst/>
              <a:gdLst/>
              <a:ahLst/>
              <a:cxnLst/>
              <a:rect r="r" b="b" t="t" l="l"/>
              <a:pathLst>
                <a:path h="1256852" w="1000567">
                  <a:moveTo>
                    <a:pt x="91704" y="0"/>
                  </a:moveTo>
                  <a:lnTo>
                    <a:pt x="908863" y="0"/>
                  </a:lnTo>
                  <a:cubicBezTo>
                    <a:pt x="933185" y="0"/>
                    <a:pt x="956510" y="9662"/>
                    <a:pt x="973708" y="26859"/>
                  </a:cubicBezTo>
                  <a:cubicBezTo>
                    <a:pt x="990906" y="44057"/>
                    <a:pt x="1000567" y="67383"/>
                    <a:pt x="1000567" y="91704"/>
                  </a:cubicBezTo>
                  <a:lnTo>
                    <a:pt x="1000567" y="1165148"/>
                  </a:lnTo>
                  <a:cubicBezTo>
                    <a:pt x="1000567" y="1215795"/>
                    <a:pt x="959510" y="1256852"/>
                    <a:pt x="908863" y="1256852"/>
                  </a:cubicBezTo>
                  <a:lnTo>
                    <a:pt x="91704" y="1256852"/>
                  </a:lnTo>
                  <a:cubicBezTo>
                    <a:pt x="41057" y="1256852"/>
                    <a:pt x="0" y="1215795"/>
                    <a:pt x="0" y="1165148"/>
                  </a:cubicBezTo>
                  <a:lnTo>
                    <a:pt x="0" y="91704"/>
                  </a:lnTo>
                  <a:cubicBezTo>
                    <a:pt x="0" y="41057"/>
                    <a:pt x="41057" y="0"/>
                    <a:pt x="91704" y="0"/>
                  </a:cubicBezTo>
                  <a:close/>
                </a:path>
              </a:pathLst>
            </a:custGeom>
            <a:solidFill>
              <a:srgbClr val="FFFFFF"/>
            </a:solidFill>
          </p:spPr>
        </p:sp>
        <p:sp>
          <p:nvSpPr>
            <p:cNvPr name="TextBox 12" id="12"/>
            <p:cNvSpPr txBox="true"/>
            <p:nvPr/>
          </p:nvSpPr>
          <p:spPr>
            <a:xfrm>
              <a:off x="0" y="-38100"/>
              <a:ext cx="1000567" cy="1294952"/>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13460271" y="4133764"/>
            <a:ext cx="3799029" cy="4772111"/>
            <a:chOff x="0" y="0"/>
            <a:chExt cx="1000567" cy="1256852"/>
          </a:xfrm>
        </p:grpSpPr>
        <p:sp>
          <p:nvSpPr>
            <p:cNvPr name="Freeform 14" id="14"/>
            <p:cNvSpPr/>
            <p:nvPr/>
          </p:nvSpPr>
          <p:spPr>
            <a:xfrm flipH="false" flipV="false" rot="0">
              <a:off x="0" y="0"/>
              <a:ext cx="1000567" cy="1256852"/>
            </a:xfrm>
            <a:custGeom>
              <a:avLst/>
              <a:gdLst/>
              <a:ahLst/>
              <a:cxnLst/>
              <a:rect r="r" b="b" t="t" l="l"/>
              <a:pathLst>
                <a:path h="1256852" w="1000567">
                  <a:moveTo>
                    <a:pt x="91704" y="0"/>
                  </a:moveTo>
                  <a:lnTo>
                    <a:pt x="908863" y="0"/>
                  </a:lnTo>
                  <a:cubicBezTo>
                    <a:pt x="933185" y="0"/>
                    <a:pt x="956510" y="9662"/>
                    <a:pt x="973708" y="26859"/>
                  </a:cubicBezTo>
                  <a:cubicBezTo>
                    <a:pt x="990906" y="44057"/>
                    <a:pt x="1000567" y="67383"/>
                    <a:pt x="1000567" y="91704"/>
                  </a:cubicBezTo>
                  <a:lnTo>
                    <a:pt x="1000567" y="1165148"/>
                  </a:lnTo>
                  <a:cubicBezTo>
                    <a:pt x="1000567" y="1215795"/>
                    <a:pt x="959510" y="1256852"/>
                    <a:pt x="908863" y="1256852"/>
                  </a:cubicBezTo>
                  <a:lnTo>
                    <a:pt x="91704" y="1256852"/>
                  </a:lnTo>
                  <a:cubicBezTo>
                    <a:pt x="41057" y="1256852"/>
                    <a:pt x="0" y="1215795"/>
                    <a:pt x="0" y="1165148"/>
                  </a:cubicBezTo>
                  <a:lnTo>
                    <a:pt x="0" y="91704"/>
                  </a:lnTo>
                  <a:cubicBezTo>
                    <a:pt x="0" y="41057"/>
                    <a:pt x="41057" y="0"/>
                    <a:pt x="91704" y="0"/>
                  </a:cubicBezTo>
                  <a:close/>
                </a:path>
              </a:pathLst>
            </a:custGeom>
            <a:solidFill>
              <a:srgbClr val="FFFFFF"/>
            </a:solidFill>
          </p:spPr>
        </p:sp>
        <p:sp>
          <p:nvSpPr>
            <p:cNvPr name="TextBox 15" id="15"/>
            <p:cNvSpPr txBox="true"/>
            <p:nvPr/>
          </p:nvSpPr>
          <p:spPr>
            <a:xfrm>
              <a:off x="0" y="-38100"/>
              <a:ext cx="1000567" cy="1294952"/>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0">
            <a:off x="1642339" y="2963073"/>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5786753" y="2963073"/>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2000015" y="3205564"/>
            <a:ext cx="1856399" cy="1856399"/>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8F8F5"/>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1" id="21"/>
          <p:cNvGrpSpPr/>
          <p:nvPr/>
        </p:nvGrpSpPr>
        <p:grpSpPr>
          <a:xfrm rot="0">
            <a:off x="6146099" y="3205564"/>
            <a:ext cx="1856399" cy="1856399"/>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699B"/>
            </a:solidFill>
            <a:ln w="152400" cap="sq">
              <a:solidFill>
                <a:srgbClr val="F8F8F5"/>
              </a:solidFill>
              <a:prstDash val="solid"/>
              <a:miter/>
            </a:ln>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24" id="24"/>
          <p:cNvSpPr/>
          <p:nvPr/>
        </p:nvSpPr>
        <p:spPr>
          <a:xfrm flipH="false" flipV="false" rot="0">
            <a:off x="9931167" y="2963073"/>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grpSp>
        <p:nvGrpSpPr>
          <p:cNvPr name="Group 25" id="25"/>
          <p:cNvGrpSpPr/>
          <p:nvPr/>
        </p:nvGrpSpPr>
        <p:grpSpPr>
          <a:xfrm rot="0">
            <a:off x="10288263" y="3205564"/>
            <a:ext cx="1856399" cy="185639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8AB0"/>
            </a:solidFill>
            <a:ln w="152400" cap="sq">
              <a:solidFill>
                <a:srgbClr val="F8F8F5"/>
              </a:solidFill>
              <a:prstDash val="solid"/>
              <a:miter/>
            </a:ln>
          </p:spPr>
        </p:sp>
        <p:sp>
          <p:nvSpPr>
            <p:cNvPr name="TextBox 27" id="27"/>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28" id="28"/>
          <p:cNvSpPr/>
          <p:nvPr/>
        </p:nvSpPr>
        <p:spPr>
          <a:xfrm flipH="false" flipV="false" rot="0">
            <a:off x="14075581" y="2963073"/>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p:spPr>
      </p:sp>
      <p:grpSp>
        <p:nvGrpSpPr>
          <p:cNvPr name="Group 29" id="29"/>
          <p:cNvGrpSpPr/>
          <p:nvPr/>
        </p:nvGrpSpPr>
        <p:grpSpPr>
          <a:xfrm rot="0">
            <a:off x="14431007" y="3205564"/>
            <a:ext cx="1856399" cy="1856399"/>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8F8F5"/>
              </a:solidFill>
              <a:prstDash val="solid"/>
              <a:miter/>
            </a:ln>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32" id="32"/>
          <p:cNvSpPr/>
          <p:nvPr/>
        </p:nvSpPr>
        <p:spPr>
          <a:xfrm flipH="false" flipV="false" rot="0">
            <a:off x="2499589" y="3783899"/>
            <a:ext cx="857250" cy="699730"/>
          </a:xfrm>
          <a:custGeom>
            <a:avLst/>
            <a:gdLst/>
            <a:ahLst/>
            <a:cxnLst/>
            <a:rect r="r" b="b" t="t" l="l"/>
            <a:pathLst>
              <a:path h="699730" w="857250">
                <a:moveTo>
                  <a:pt x="0" y="0"/>
                </a:moveTo>
                <a:lnTo>
                  <a:pt x="857250" y="0"/>
                </a:lnTo>
                <a:lnTo>
                  <a:pt x="857250" y="699730"/>
                </a:lnTo>
                <a:lnTo>
                  <a:pt x="0" y="69973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3" id="33"/>
          <p:cNvSpPr/>
          <p:nvPr/>
        </p:nvSpPr>
        <p:spPr>
          <a:xfrm flipH="false" flipV="false" rot="0">
            <a:off x="6644003" y="3703444"/>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4" id="34"/>
          <p:cNvSpPr/>
          <p:nvPr/>
        </p:nvSpPr>
        <p:spPr>
          <a:xfrm flipH="false" flipV="false" rot="0">
            <a:off x="10787838" y="3741037"/>
            <a:ext cx="857250" cy="785455"/>
          </a:xfrm>
          <a:custGeom>
            <a:avLst/>
            <a:gdLst/>
            <a:ahLst/>
            <a:cxnLst/>
            <a:rect r="r" b="b" t="t" l="l"/>
            <a:pathLst>
              <a:path h="785455" w="857250">
                <a:moveTo>
                  <a:pt x="0" y="0"/>
                </a:moveTo>
                <a:lnTo>
                  <a:pt x="857250" y="0"/>
                </a:lnTo>
                <a:lnTo>
                  <a:pt x="857250" y="785455"/>
                </a:lnTo>
                <a:lnTo>
                  <a:pt x="0" y="78545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5" id="35"/>
          <p:cNvSpPr/>
          <p:nvPr/>
        </p:nvSpPr>
        <p:spPr>
          <a:xfrm flipH="false" flipV="false" rot="0">
            <a:off x="14978206" y="3804497"/>
            <a:ext cx="762000" cy="702945"/>
          </a:xfrm>
          <a:custGeom>
            <a:avLst/>
            <a:gdLst/>
            <a:ahLst/>
            <a:cxnLst/>
            <a:rect r="r" b="b" t="t" l="l"/>
            <a:pathLst>
              <a:path h="702945" w="762000">
                <a:moveTo>
                  <a:pt x="0" y="0"/>
                </a:moveTo>
                <a:lnTo>
                  <a:pt x="762000" y="0"/>
                </a:lnTo>
                <a:lnTo>
                  <a:pt x="762000" y="702945"/>
                </a:lnTo>
                <a:lnTo>
                  <a:pt x="0" y="70294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6" id="36"/>
          <p:cNvSpPr/>
          <p:nvPr/>
        </p:nvSpPr>
        <p:spPr>
          <a:xfrm flipH="false" flipV="false" rot="0">
            <a:off x="15359206" y="-1747910"/>
            <a:ext cx="6705817" cy="5750238"/>
          </a:xfrm>
          <a:custGeom>
            <a:avLst/>
            <a:gdLst/>
            <a:ahLst/>
            <a:cxnLst/>
            <a:rect r="r" b="b" t="t" l="l"/>
            <a:pathLst>
              <a:path h="5750238" w="6705817">
                <a:moveTo>
                  <a:pt x="0" y="0"/>
                </a:moveTo>
                <a:lnTo>
                  <a:pt x="6705818" y="0"/>
                </a:lnTo>
                <a:lnTo>
                  <a:pt x="6705818" y="5750239"/>
                </a:lnTo>
                <a:lnTo>
                  <a:pt x="0" y="5750239"/>
                </a:lnTo>
                <a:lnTo>
                  <a:pt x="0" y="0"/>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
        <p:nvSpPr>
          <p:cNvPr name="TextBox 37" id="37"/>
          <p:cNvSpPr txBox="true"/>
          <p:nvPr/>
        </p:nvSpPr>
        <p:spPr>
          <a:xfrm rot="0">
            <a:off x="4321138" y="1117684"/>
            <a:ext cx="9645724" cy="1583055"/>
          </a:xfrm>
          <a:prstGeom prst="rect">
            <a:avLst/>
          </a:prstGeom>
        </p:spPr>
        <p:txBody>
          <a:bodyPr anchor="t" rtlCol="false" tIns="0" lIns="0" bIns="0" rIns="0">
            <a:spAutoFit/>
          </a:bodyPr>
          <a:lstStyle/>
          <a:p>
            <a:pPr algn="ctr">
              <a:lnSpc>
                <a:spcPts val="5940"/>
              </a:lnSpc>
            </a:pPr>
            <a:r>
              <a:rPr lang="en-US" sz="5400" b="true">
                <a:solidFill>
                  <a:srgbClr val="121113"/>
                </a:solidFill>
                <a:latin typeface="Telegraf Bold"/>
                <a:ea typeface="Telegraf Bold"/>
                <a:cs typeface="Telegraf Bold"/>
                <a:sym typeface="Telegraf Bold"/>
              </a:rPr>
              <a:t>Research Gap</a:t>
            </a:r>
          </a:p>
          <a:p>
            <a:pPr algn="ctr">
              <a:lnSpc>
                <a:spcPts val="5940"/>
              </a:lnSpc>
            </a:pPr>
          </a:p>
        </p:txBody>
      </p:sp>
      <p:sp>
        <p:nvSpPr>
          <p:cNvPr name="TextBox 38" id="38"/>
          <p:cNvSpPr txBox="true"/>
          <p:nvPr/>
        </p:nvSpPr>
        <p:spPr>
          <a:xfrm rot="0">
            <a:off x="1304744" y="6305713"/>
            <a:ext cx="3246941" cy="1840502"/>
          </a:xfrm>
          <a:prstGeom prst="rect">
            <a:avLst/>
          </a:prstGeom>
        </p:spPr>
        <p:txBody>
          <a:bodyPr anchor="t" rtlCol="false" tIns="0" lIns="0" bIns="0" rIns="0">
            <a:spAutoFit/>
          </a:bodyPr>
          <a:lstStyle/>
          <a:p>
            <a:pPr algn="ctr">
              <a:lnSpc>
                <a:spcPts val="2976"/>
              </a:lnSpc>
            </a:pPr>
            <a:r>
              <a:rPr lang="en-US" sz="2126">
                <a:solidFill>
                  <a:srgbClr val="545454"/>
                </a:solidFill>
                <a:latin typeface="Open Sans"/>
                <a:ea typeface="Open Sans"/>
                <a:cs typeface="Open Sans"/>
                <a:sym typeface="Open Sans"/>
              </a:rPr>
              <a:t>Current story-generation models cannot convert user Q&amp;A inputs into highly personalized narrative elements.</a:t>
            </a:r>
          </a:p>
        </p:txBody>
      </p:sp>
      <p:sp>
        <p:nvSpPr>
          <p:cNvPr name="TextBox 39" id="39"/>
          <p:cNvSpPr txBox="true"/>
          <p:nvPr/>
        </p:nvSpPr>
        <p:spPr>
          <a:xfrm rot="0">
            <a:off x="5574239" y="6305713"/>
            <a:ext cx="3028914" cy="1833889"/>
          </a:xfrm>
          <a:prstGeom prst="rect">
            <a:avLst/>
          </a:prstGeom>
        </p:spPr>
        <p:txBody>
          <a:bodyPr anchor="t" rtlCol="false" tIns="0" lIns="0" bIns="0" rIns="0">
            <a:spAutoFit/>
          </a:bodyPr>
          <a:lstStyle/>
          <a:p>
            <a:pPr algn="ctr">
              <a:lnSpc>
                <a:spcPts val="2965"/>
              </a:lnSpc>
            </a:pPr>
            <a:r>
              <a:rPr lang="en-US" sz="2118">
                <a:solidFill>
                  <a:srgbClr val="545454"/>
                </a:solidFill>
                <a:latin typeface="Open Sans"/>
                <a:ea typeface="Open Sans"/>
                <a:cs typeface="Open Sans"/>
                <a:sym typeface="Open Sans"/>
              </a:rPr>
              <a:t>LLMs struggle to maintain consistent plot, characters, and themes across multi-step Q&amp;A interactions.</a:t>
            </a:r>
          </a:p>
        </p:txBody>
      </p:sp>
      <p:sp>
        <p:nvSpPr>
          <p:cNvPr name="TextBox 40" id="40"/>
          <p:cNvSpPr txBox="true"/>
          <p:nvPr/>
        </p:nvSpPr>
        <p:spPr>
          <a:xfrm rot="0">
            <a:off x="9718653" y="6305713"/>
            <a:ext cx="3025301" cy="1670061"/>
          </a:xfrm>
          <a:prstGeom prst="rect">
            <a:avLst/>
          </a:prstGeom>
        </p:spPr>
        <p:txBody>
          <a:bodyPr anchor="t" rtlCol="false" tIns="0" lIns="0" bIns="0" rIns="0">
            <a:spAutoFit/>
          </a:bodyPr>
          <a:lstStyle/>
          <a:p>
            <a:pPr algn="ctr">
              <a:lnSpc>
                <a:spcPts val="2695"/>
              </a:lnSpc>
            </a:pPr>
            <a:r>
              <a:rPr lang="en-US" sz="1925">
                <a:solidFill>
                  <a:srgbClr val="545454"/>
                </a:solidFill>
                <a:latin typeface="Open Sans"/>
                <a:ea typeface="Open Sans"/>
                <a:cs typeface="Open Sans"/>
                <a:sym typeface="Open Sans"/>
              </a:rPr>
              <a:t>Existing systems lack mechanisms for users to control story flow, genre, or structure through guided questions.</a:t>
            </a:r>
          </a:p>
        </p:txBody>
      </p:sp>
      <p:sp>
        <p:nvSpPr>
          <p:cNvPr name="TextBox 41" id="41"/>
          <p:cNvSpPr txBox="true"/>
          <p:nvPr/>
        </p:nvSpPr>
        <p:spPr>
          <a:xfrm rot="0">
            <a:off x="13655477" y="6296188"/>
            <a:ext cx="3411958" cy="1713059"/>
          </a:xfrm>
          <a:prstGeom prst="rect">
            <a:avLst/>
          </a:prstGeom>
        </p:spPr>
        <p:txBody>
          <a:bodyPr anchor="t" rtlCol="false" tIns="0" lIns="0" bIns="0" rIns="0">
            <a:spAutoFit/>
          </a:bodyPr>
          <a:lstStyle/>
          <a:p>
            <a:pPr algn="ctr">
              <a:lnSpc>
                <a:spcPts val="2704"/>
              </a:lnSpc>
            </a:pPr>
            <a:r>
              <a:rPr lang="en-US" sz="1931">
                <a:solidFill>
                  <a:srgbClr val="545454"/>
                </a:solidFill>
                <a:latin typeface="Open Sans"/>
                <a:ea typeface="Open Sans"/>
                <a:cs typeface="Open Sans"/>
                <a:sym typeface="Open Sans"/>
              </a:rPr>
              <a:t>There is no standard framework to evaluate Q&amp;A-based interactive stories for quality, relevance, and engagement.</a:t>
            </a:r>
          </a:p>
        </p:txBody>
      </p:sp>
      <p:sp>
        <p:nvSpPr>
          <p:cNvPr name="TextBox 42" id="42"/>
          <p:cNvSpPr txBox="true"/>
          <p:nvPr/>
        </p:nvSpPr>
        <p:spPr>
          <a:xfrm rot="0">
            <a:off x="1251145" y="5563398"/>
            <a:ext cx="3354139" cy="514350"/>
          </a:xfrm>
          <a:prstGeom prst="rect">
            <a:avLst/>
          </a:prstGeom>
        </p:spPr>
        <p:txBody>
          <a:bodyPr anchor="t" rtlCol="false" tIns="0" lIns="0" bIns="0" rIns="0">
            <a:spAutoFit/>
          </a:bodyPr>
          <a:lstStyle/>
          <a:p>
            <a:pPr algn="ctr">
              <a:lnSpc>
                <a:spcPts val="4079"/>
              </a:lnSpc>
            </a:pPr>
            <a:r>
              <a:rPr lang="en-US" sz="3399" b="true">
                <a:solidFill>
                  <a:srgbClr val="7D4C84"/>
                </a:solidFill>
                <a:latin typeface="Open Sans Bold"/>
                <a:ea typeface="Open Sans Bold"/>
                <a:cs typeface="Open Sans Bold"/>
                <a:sym typeface="Open Sans Bold"/>
              </a:rPr>
              <a:t>Personalization</a:t>
            </a:r>
          </a:p>
        </p:txBody>
      </p:sp>
      <p:sp>
        <p:nvSpPr>
          <p:cNvPr name="TextBox 43" id="43"/>
          <p:cNvSpPr txBox="true"/>
          <p:nvPr/>
        </p:nvSpPr>
        <p:spPr>
          <a:xfrm rot="0">
            <a:off x="5925908" y="5563398"/>
            <a:ext cx="2293441" cy="514350"/>
          </a:xfrm>
          <a:prstGeom prst="rect">
            <a:avLst/>
          </a:prstGeom>
        </p:spPr>
        <p:txBody>
          <a:bodyPr anchor="t" rtlCol="false" tIns="0" lIns="0" bIns="0" rIns="0">
            <a:spAutoFit/>
          </a:bodyPr>
          <a:lstStyle/>
          <a:p>
            <a:pPr algn="ctr">
              <a:lnSpc>
                <a:spcPts val="4079"/>
              </a:lnSpc>
            </a:pPr>
            <a:r>
              <a:rPr lang="en-US" sz="3399" b="true">
                <a:solidFill>
                  <a:srgbClr val="8E699B"/>
                </a:solidFill>
                <a:latin typeface="Open Sans Bold"/>
                <a:ea typeface="Open Sans Bold"/>
                <a:cs typeface="Open Sans Bold"/>
                <a:sym typeface="Open Sans Bold"/>
              </a:rPr>
              <a:t>Coherence</a:t>
            </a:r>
          </a:p>
        </p:txBody>
      </p:sp>
      <p:sp>
        <p:nvSpPr>
          <p:cNvPr name="TextBox 44" id="44"/>
          <p:cNvSpPr txBox="true"/>
          <p:nvPr/>
        </p:nvSpPr>
        <p:spPr>
          <a:xfrm rot="0">
            <a:off x="10412626" y="5563398"/>
            <a:ext cx="1608832" cy="514350"/>
          </a:xfrm>
          <a:prstGeom prst="rect">
            <a:avLst/>
          </a:prstGeom>
        </p:spPr>
        <p:txBody>
          <a:bodyPr anchor="t" rtlCol="false" tIns="0" lIns="0" bIns="0" rIns="0">
            <a:spAutoFit/>
          </a:bodyPr>
          <a:lstStyle/>
          <a:p>
            <a:pPr algn="ctr">
              <a:lnSpc>
                <a:spcPts val="4079"/>
              </a:lnSpc>
            </a:pPr>
            <a:r>
              <a:rPr lang="en-US" sz="3399" b="true">
                <a:solidFill>
                  <a:srgbClr val="9F8AB0"/>
                </a:solidFill>
                <a:latin typeface="Open Sans Bold"/>
                <a:ea typeface="Open Sans Bold"/>
                <a:cs typeface="Open Sans Bold"/>
                <a:sym typeface="Open Sans Bold"/>
              </a:rPr>
              <a:t>Control</a:t>
            </a:r>
          </a:p>
        </p:txBody>
      </p:sp>
      <p:sp>
        <p:nvSpPr>
          <p:cNvPr name="TextBox 45" id="45"/>
          <p:cNvSpPr txBox="true"/>
          <p:nvPr/>
        </p:nvSpPr>
        <p:spPr>
          <a:xfrm rot="0">
            <a:off x="13611528" y="5563398"/>
            <a:ext cx="3552618" cy="514350"/>
          </a:xfrm>
          <a:prstGeom prst="rect">
            <a:avLst/>
          </a:prstGeom>
        </p:spPr>
        <p:txBody>
          <a:bodyPr anchor="t" rtlCol="false" tIns="0" lIns="0" bIns="0" rIns="0">
            <a:spAutoFit/>
          </a:bodyPr>
          <a:lstStyle/>
          <a:p>
            <a:pPr algn="ctr">
              <a:lnSpc>
                <a:spcPts val="4079"/>
              </a:lnSpc>
            </a:pPr>
            <a:r>
              <a:rPr lang="en-US" sz="3399" b="true">
                <a:solidFill>
                  <a:srgbClr val="627BA7"/>
                </a:solidFill>
                <a:latin typeface="Open Sans Bold"/>
                <a:ea typeface="Open Sans Bold"/>
                <a:cs typeface="Open Sans Bold"/>
                <a:sym typeface="Open Sans Bold"/>
              </a:rPr>
              <a:t>Evaluation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2010234" y="653892"/>
            <a:ext cx="7638987" cy="3610050"/>
          </a:xfrm>
          <a:prstGeom prst="rect">
            <a:avLst/>
          </a:prstGeom>
        </p:spPr>
        <p:txBody>
          <a:bodyPr anchor="t" rtlCol="false" tIns="0" lIns="0" bIns="0" rIns="0">
            <a:spAutoFit/>
          </a:bodyPr>
          <a:lstStyle/>
          <a:p>
            <a:pPr algn="l">
              <a:lnSpc>
                <a:spcPts val="13065"/>
              </a:lnSpc>
            </a:pPr>
            <a:r>
              <a:rPr lang="en-US" b="true" sz="12325" spc="98">
                <a:solidFill>
                  <a:srgbClr val="7D4C84"/>
                </a:solidFill>
                <a:latin typeface="Futura Bold"/>
                <a:ea typeface="Futura Bold"/>
                <a:cs typeface="Futura Bold"/>
                <a:sym typeface="Futura Bold"/>
              </a:rPr>
              <a:t>problem statement</a:t>
            </a:r>
          </a:p>
        </p:txBody>
      </p:sp>
      <p:sp>
        <p:nvSpPr>
          <p:cNvPr name="TextBox 4" id="4"/>
          <p:cNvSpPr txBox="true"/>
          <p:nvPr/>
        </p:nvSpPr>
        <p:spPr>
          <a:xfrm rot="-5400000">
            <a:off x="11326231" y="3325231"/>
            <a:ext cx="10287000" cy="3636537"/>
          </a:xfrm>
          <a:prstGeom prst="rect">
            <a:avLst/>
          </a:prstGeom>
        </p:spPr>
        <p:txBody>
          <a:bodyPr anchor="t" rtlCol="false" tIns="0" lIns="0" bIns="0" rIns="0">
            <a:spAutoFit/>
          </a:bodyPr>
          <a:lstStyle/>
          <a:p>
            <a:pPr algn="ctr">
              <a:lnSpc>
                <a:spcPts val="12612"/>
              </a:lnSpc>
            </a:pPr>
            <a:r>
              <a:rPr lang="en-US" b="true" sz="14497" spc="2319">
                <a:solidFill>
                  <a:srgbClr val="041226">
                    <a:alpha val="4706"/>
                  </a:srgbClr>
                </a:solidFill>
                <a:latin typeface="Futura Bold"/>
                <a:ea typeface="Futura Bold"/>
                <a:cs typeface="Futura Bold"/>
                <a:sym typeface="Futura Bold"/>
              </a:rPr>
              <a:t>problem statement</a:t>
            </a:r>
          </a:p>
        </p:txBody>
      </p:sp>
      <p:sp>
        <p:nvSpPr>
          <p:cNvPr name="TextBox 5" id="5"/>
          <p:cNvSpPr txBox="true"/>
          <p:nvPr/>
        </p:nvSpPr>
        <p:spPr>
          <a:xfrm rot="0">
            <a:off x="2010234" y="4225842"/>
            <a:ext cx="11780655" cy="3416464"/>
          </a:xfrm>
          <a:prstGeom prst="rect">
            <a:avLst/>
          </a:prstGeom>
        </p:spPr>
        <p:txBody>
          <a:bodyPr anchor="t" rtlCol="false" tIns="0" lIns="0" bIns="0" rIns="0">
            <a:spAutoFit/>
          </a:bodyPr>
          <a:lstStyle/>
          <a:p>
            <a:pPr algn="just">
              <a:lnSpc>
                <a:spcPts val="2780"/>
              </a:lnSpc>
              <a:spcBef>
                <a:spcPct val="0"/>
              </a:spcBef>
            </a:pPr>
            <a:r>
              <a:rPr lang="en-US" sz="1986">
                <a:solidFill>
                  <a:srgbClr val="4D4D4D"/>
                </a:solidFill>
                <a:latin typeface="Montserrat"/>
                <a:ea typeface="Montserrat"/>
                <a:cs typeface="Montserrat"/>
                <a:sym typeface="Montserrat"/>
              </a:rPr>
              <a:t>Despite major progress in generative AI and large language models, current story-generation systems are still mostly prompt based and do not use structured question and answer inputs to build meaningful narratives. Existing models are unable to convert step by step user responses into coherent, personalized and context rich stories. They often lose narrative consistency in plot, characters and emotional flow when multiple user inputs are involved, which results in generic or fragmented storytelling. There is also no clear framework that allows users to control the story’s theme, tone, genre or direction through an interactive question and answer process. These limitations show the need for an intelligent system that can capture user responses in real time and generate high quality personalized stories with strong coherence, better control and improved narrative alignment.</a:t>
            </a:r>
          </a:p>
        </p:txBody>
      </p:sp>
      <p:sp>
        <p:nvSpPr>
          <p:cNvPr name="Freeform 6" id="6"/>
          <p:cNvSpPr/>
          <p:nvPr/>
        </p:nvSpPr>
        <p:spPr>
          <a:xfrm flipH="false" flipV="true" rot="0">
            <a:off x="16499478" y="1028700"/>
            <a:ext cx="759822" cy="750151"/>
          </a:xfrm>
          <a:custGeom>
            <a:avLst/>
            <a:gdLst/>
            <a:ahLst/>
            <a:cxnLst/>
            <a:rect r="r" b="b" t="t" l="l"/>
            <a:pathLst>
              <a:path h="750151" w="759822">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0">
            <a:off x="1028700" y="8891519"/>
            <a:ext cx="371510" cy="366781"/>
          </a:xfrm>
          <a:custGeom>
            <a:avLst/>
            <a:gdLst/>
            <a:ahLst/>
            <a:cxnLst/>
            <a:rect r="r" b="b" t="t" l="l"/>
            <a:pathLst>
              <a:path h="366781" w="371510">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true" rot="2846557">
            <a:off x="11395033" y="4716552"/>
            <a:ext cx="18651033" cy="6178155"/>
          </a:xfrm>
          <a:custGeom>
            <a:avLst/>
            <a:gdLst/>
            <a:ahLst/>
            <a:cxnLst/>
            <a:rect r="r" b="b" t="t" l="l"/>
            <a:pathLst>
              <a:path h="6178155" w="18651033">
                <a:moveTo>
                  <a:pt x="0" y="6178154"/>
                </a:moveTo>
                <a:lnTo>
                  <a:pt x="18651032" y="6178154"/>
                </a:lnTo>
                <a:lnTo>
                  <a:pt x="18651032" y="0"/>
                </a:lnTo>
                <a:lnTo>
                  <a:pt x="0" y="0"/>
                </a:lnTo>
                <a:lnTo>
                  <a:pt x="0" y="6178154"/>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true" rot="3865119">
            <a:off x="10807338" y="4037971"/>
            <a:ext cx="18293405" cy="6059690"/>
          </a:xfrm>
          <a:custGeom>
            <a:avLst/>
            <a:gdLst/>
            <a:ahLst/>
            <a:cxnLst/>
            <a:rect r="r" b="b" t="t" l="l"/>
            <a:pathLst>
              <a:path h="6059690" w="18293405">
                <a:moveTo>
                  <a:pt x="0" y="6059691"/>
                </a:moveTo>
                <a:lnTo>
                  <a:pt x="18293405" y="6059691"/>
                </a:lnTo>
                <a:lnTo>
                  <a:pt x="18293405" y="0"/>
                </a:lnTo>
                <a:lnTo>
                  <a:pt x="0" y="0"/>
                </a:lnTo>
                <a:lnTo>
                  <a:pt x="0" y="6059691"/>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true" flipV="true" rot="3133657">
            <a:off x="-8015692" y="1375496"/>
            <a:ext cx="16356924" cy="5418231"/>
          </a:xfrm>
          <a:custGeom>
            <a:avLst/>
            <a:gdLst/>
            <a:ahLst/>
            <a:cxnLst/>
            <a:rect r="r" b="b" t="t" l="l"/>
            <a:pathLst>
              <a:path h="5418231" w="16356924">
                <a:moveTo>
                  <a:pt x="16356924" y="5418232"/>
                </a:moveTo>
                <a:lnTo>
                  <a:pt x="0" y="5418232"/>
                </a:lnTo>
                <a:lnTo>
                  <a:pt x="0" y="0"/>
                </a:lnTo>
                <a:lnTo>
                  <a:pt x="16356924" y="0"/>
                </a:lnTo>
                <a:lnTo>
                  <a:pt x="16356924" y="5418232"/>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0">
            <a:off x="1456401" y="3515527"/>
            <a:ext cx="3559870" cy="4927918"/>
            <a:chOff x="0" y="0"/>
            <a:chExt cx="937579" cy="1297888"/>
          </a:xfrm>
        </p:grpSpPr>
        <p:sp>
          <p:nvSpPr>
            <p:cNvPr name="Freeform 6" id="6"/>
            <p:cNvSpPr/>
            <p:nvPr/>
          </p:nvSpPr>
          <p:spPr>
            <a:xfrm flipH="false" flipV="false" rot="0">
              <a:off x="0" y="0"/>
              <a:ext cx="937579" cy="1297888"/>
            </a:xfrm>
            <a:custGeom>
              <a:avLst/>
              <a:gdLst/>
              <a:ahLst/>
              <a:cxnLst/>
              <a:rect r="r" b="b" t="t" l="l"/>
              <a:pathLst>
                <a:path h="1297888" w="937579">
                  <a:moveTo>
                    <a:pt x="97865" y="0"/>
                  </a:moveTo>
                  <a:lnTo>
                    <a:pt x="839714" y="0"/>
                  </a:lnTo>
                  <a:cubicBezTo>
                    <a:pt x="893763" y="0"/>
                    <a:pt x="937579" y="43816"/>
                    <a:pt x="937579" y="97865"/>
                  </a:cubicBezTo>
                  <a:lnTo>
                    <a:pt x="937579" y="1200023"/>
                  </a:lnTo>
                  <a:cubicBezTo>
                    <a:pt x="937579" y="1254072"/>
                    <a:pt x="893763" y="1297888"/>
                    <a:pt x="839714" y="1297888"/>
                  </a:cubicBezTo>
                  <a:lnTo>
                    <a:pt x="97865" y="1297888"/>
                  </a:lnTo>
                  <a:cubicBezTo>
                    <a:pt x="43816" y="1297888"/>
                    <a:pt x="0" y="1254072"/>
                    <a:pt x="0" y="1200023"/>
                  </a:cubicBezTo>
                  <a:lnTo>
                    <a:pt x="0" y="97865"/>
                  </a:lnTo>
                  <a:cubicBezTo>
                    <a:pt x="0" y="43816"/>
                    <a:pt x="43816" y="0"/>
                    <a:pt x="97865" y="0"/>
                  </a:cubicBezTo>
                  <a:close/>
                </a:path>
              </a:pathLst>
            </a:custGeom>
            <a:solidFill>
              <a:srgbClr val="FFFFFF"/>
            </a:solidFill>
          </p:spPr>
        </p:sp>
        <p:sp>
          <p:nvSpPr>
            <p:cNvPr name="TextBox 7" id="7"/>
            <p:cNvSpPr txBox="true"/>
            <p:nvPr/>
          </p:nvSpPr>
          <p:spPr>
            <a:xfrm>
              <a:off x="0" y="-38100"/>
              <a:ext cx="937579" cy="1335988"/>
            </a:xfrm>
            <a:prstGeom prst="rect">
              <a:avLst/>
            </a:prstGeom>
          </p:spPr>
          <p:txBody>
            <a:bodyPr anchor="ctr" rtlCol="false" tIns="50800" lIns="50800" bIns="50800" rIns="50800"/>
            <a:lstStyle/>
            <a:p>
              <a:pPr algn="ctr">
                <a:lnSpc>
                  <a:spcPts val="3359"/>
                </a:lnSpc>
              </a:pPr>
            </a:p>
          </p:txBody>
        </p:sp>
      </p:grpSp>
      <p:grpSp>
        <p:nvGrpSpPr>
          <p:cNvPr name="Group 8" id="8"/>
          <p:cNvGrpSpPr/>
          <p:nvPr/>
        </p:nvGrpSpPr>
        <p:grpSpPr>
          <a:xfrm rot="0">
            <a:off x="5394093" y="3515527"/>
            <a:ext cx="3559870" cy="4927918"/>
            <a:chOff x="0" y="0"/>
            <a:chExt cx="937579" cy="1297888"/>
          </a:xfrm>
        </p:grpSpPr>
        <p:sp>
          <p:nvSpPr>
            <p:cNvPr name="Freeform 9" id="9"/>
            <p:cNvSpPr/>
            <p:nvPr/>
          </p:nvSpPr>
          <p:spPr>
            <a:xfrm flipH="false" flipV="false" rot="0">
              <a:off x="0" y="0"/>
              <a:ext cx="937579" cy="1297888"/>
            </a:xfrm>
            <a:custGeom>
              <a:avLst/>
              <a:gdLst/>
              <a:ahLst/>
              <a:cxnLst/>
              <a:rect r="r" b="b" t="t" l="l"/>
              <a:pathLst>
                <a:path h="1297888" w="937579">
                  <a:moveTo>
                    <a:pt x="97865" y="0"/>
                  </a:moveTo>
                  <a:lnTo>
                    <a:pt x="839714" y="0"/>
                  </a:lnTo>
                  <a:cubicBezTo>
                    <a:pt x="893763" y="0"/>
                    <a:pt x="937579" y="43816"/>
                    <a:pt x="937579" y="97865"/>
                  </a:cubicBezTo>
                  <a:lnTo>
                    <a:pt x="937579" y="1200023"/>
                  </a:lnTo>
                  <a:cubicBezTo>
                    <a:pt x="937579" y="1254072"/>
                    <a:pt x="893763" y="1297888"/>
                    <a:pt x="839714" y="1297888"/>
                  </a:cubicBezTo>
                  <a:lnTo>
                    <a:pt x="97865" y="1297888"/>
                  </a:lnTo>
                  <a:cubicBezTo>
                    <a:pt x="43816" y="1297888"/>
                    <a:pt x="0" y="1254072"/>
                    <a:pt x="0" y="1200023"/>
                  </a:cubicBezTo>
                  <a:lnTo>
                    <a:pt x="0" y="97865"/>
                  </a:lnTo>
                  <a:cubicBezTo>
                    <a:pt x="0" y="43816"/>
                    <a:pt x="43816" y="0"/>
                    <a:pt x="97865" y="0"/>
                  </a:cubicBezTo>
                  <a:close/>
                </a:path>
              </a:pathLst>
            </a:custGeom>
            <a:solidFill>
              <a:srgbClr val="FFFFFF"/>
            </a:solidFill>
          </p:spPr>
        </p:sp>
        <p:sp>
          <p:nvSpPr>
            <p:cNvPr name="TextBox 10" id="10"/>
            <p:cNvSpPr txBox="true"/>
            <p:nvPr/>
          </p:nvSpPr>
          <p:spPr>
            <a:xfrm>
              <a:off x="0" y="-38100"/>
              <a:ext cx="937579" cy="1335988"/>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9333012" y="3515527"/>
            <a:ext cx="3559870" cy="4927918"/>
            <a:chOff x="0" y="0"/>
            <a:chExt cx="937579" cy="1297888"/>
          </a:xfrm>
        </p:grpSpPr>
        <p:sp>
          <p:nvSpPr>
            <p:cNvPr name="Freeform 12" id="12"/>
            <p:cNvSpPr/>
            <p:nvPr/>
          </p:nvSpPr>
          <p:spPr>
            <a:xfrm flipH="false" flipV="false" rot="0">
              <a:off x="0" y="0"/>
              <a:ext cx="937579" cy="1297888"/>
            </a:xfrm>
            <a:custGeom>
              <a:avLst/>
              <a:gdLst/>
              <a:ahLst/>
              <a:cxnLst/>
              <a:rect r="r" b="b" t="t" l="l"/>
              <a:pathLst>
                <a:path h="1297888" w="937579">
                  <a:moveTo>
                    <a:pt x="97865" y="0"/>
                  </a:moveTo>
                  <a:lnTo>
                    <a:pt x="839714" y="0"/>
                  </a:lnTo>
                  <a:cubicBezTo>
                    <a:pt x="893763" y="0"/>
                    <a:pt x="937579" y="43816"/>
                    <a:pt x="937579" y="97865"/>
                  </a:cubicBezTo>
                  <a:lnTo>
                    <a:pt x="937579" y="1200023"/>
                  </a:lnTo>
                  <a:cubicBezTo>
                    <a:pt x="937579" y="1254072"/>
                    <a:pt x="893763" y="1297888"/>
                    <a:pt x="839714" y="1297888"/>
                  </a:cubicBezTo>
                  <a:lnTo>
                    <a:pt x="97865" y="1297888"/>
                  </a:lnTo>
                  <a:cubicBezTo>
                    <a:pt x="43816" y="1297888"/>
                    <a:pt x="0" y="1254072"/>
                    <a:pt x="0" y="1200023"/>
                  </a:cubicBezTo>
                  <a:lnTo>
                    <a:pt x="0" y="97865"/>
                  </a:lnTo>
                  <a:cubicBezTo>
                    <a:pt x="0" y="43816"/>
                    <a:pt x="43816" y="0"/>
                    <a:pt x="97865" y="0"/>
                  </a:cubicBezTo>
                  <a:close/>
                </a:path>
              </a:pathLst>
            </a:custGeom>
            <a:solidFill>
              <a:srgbClr val="FFFFFF"/>
            </a:solidFill>
          </p:spPr>
        </p:sp>
        <p:sp>
          <p:nvSpPr>
            <p:cNvPr name="TextBox 13" id="13"/>
            <p:cNvSpPr txBox="true"/>
            <p:nvPr/>
          </p:nvSpPr>
          <p:spPr>
            <a:xfrm>
              <a:off x="0" y="-38100"/>
              <a:ext cx="937579" cy="1335988"/>
            </a:xfrm>
            <a:prstGeom prst="rect">
              <a:avLst/>
            </a:prstGeom>
          </p:spPr>
          <p:txBody>
            <a:bodyPr anchor="ctr" rtlCol="false" tIns="50800" lIns="50800" bIns="50800" rIns="50800"/>
            <a:lstStyle/>
            <a:p>
              <a:pPr algn="ctr">
                <a:lnSpc>
                  <a:spcPts val="3359"/>
                </a:lnSpc>
              </a:pPr>
            </a:p>
          </p:txBody>
        </p:sp>
      </p:grpSp>
      <p:grpSp>
        <p:nvGrpSpPr>
          <p:cNvPr name="Group 14" id="14"/>
          <p:cNvGrpSpPr/>
          <p:nvPr/>
        </p:nvGrpSpPr>
        <p:grpSpPr>
          <a:xfrm rot="0">
            <a:off x="13271729" y="3515527"/>
            <a:ext cx="3559870" cy="4927918"/>
            <a:chOff x="0" y="0"/>
            <a:chExt cx="937579" cy="1297888"/>
          </a:xfrm>
        </p:grpSpPr>
        <p:sp>
          <p:nvSpPr>
            <p:cNvPr name="Freeform 15" id="15"/>
            <p:cNvSpPr/>
            <p:nvPr/>
          </p:nvSpPr>
          <p:spPr>
            <a:xfrm flipH="false" flipV="false" rot="0">
              <a:off x="0" y="0"/>
              <a:ext cx="937579" cy="1297888"/>
            </a:xfrm>
            <a:custGeom>
              <a:avLst/>
              <a:gdLst/>
              <a:ahLst/>
              <a:cxnLst/>
              <a:rect r="r" b="b" t="t" l="l"/>
              <a:pathLst>
                <a:path h="1297888" w="937579">
                  <a:moveTo>
                    <a:pt x="97865" y="0"/>
                  </a:moveTo>
                  <a:lnTo>
                    <a:pt x="839714" y="0"/>
                  </a:lnTo>
                  <a:cubicBezTo>
                    <a:pt x="893763" y="0"/>
                    <a:pt x="937579" y="43816"/>
                    <a:pt x="937579" y="97865"/>
                  </a:cubicBezTo>
                  <a:lnTo>
                    <a:pt x="937579" y="1200023"/>
                  </a:lnTo>
                  <a:cubicBezTo>
                    <a:pt x="937579" y="1254072"/>
                    <a:pt x="893763" y="1297888"/>
                    <a:pt x="839714" y="1297888"/>
                  </a:cubicBezTo>
                  <a:lnTo>
                    <a:pt x="97865" y="1297888"/>
                  </a:lnTo>
                  <a:cubicBezTo>
                    <a:pt x="43816" y="1297888"/>
                    <a:pt x="0" y="1254072"/>
                    <a:pt x="0" y="1200023"/>
                  </a:cubicBezTo>
                  <a:lnTo>
                    <a:pt x="0" y="97865"/>
                  </a:lnTo>
                  <a:cubicBezTo>
                    <a:pt x="0" y="43816"/>
                    <a:pt x="43816" y="0"/>
                    <a:pt x="97865" y="0"/>
                  </a:cubicBezTo>
                  <a:close/>
                </a:path>
              </a:pathLst>
            </a:custGeom>
            <a:solidFill>
              <a:srgbClr val="FFFFFF"/>
            </a:solidFill>
          </p:spPr>
        </p:sp>
        <p:sp>
          <p:nvSpPr>
            <p:cNvPr name="TextBox 16" id="16"/>
            <p:cNvSpPr txBox="true"/>
            <p:nvPr/>
          </p:nvSpPr>
          <p:spPr>
            <a:xfrm>
              <a:off x="0" y="-38100"/>
              <a:ext cx="937579" cy="1335988"/>
            </a:xfrm>
            <a:prstGeom prst="rect">
              <a:avLst/>
            </a:prstGeom>
          </p:spPr>
          <p:txBody>
            <a:bodyPr anchor="ctr" rtlCol="false" tIns="50800" lIns="50800" bIns="50800" rIns="50800"/>
            <a:lstStyle/>
            <a:p>
              <a:pPr algn="ctr">
                <a:lnSpc>
                  <a:spcPts val="3359"/>
                </a:lnSpc>
              </a:pPr>
            </a:p>
          </p:txBody>
        </p:sp>
      </p:grpSp>
      <p:sp>
        <p:nvSpPr>
          <p:cNvPr name="Freeform 17" id="17"/>
          <p:cNvSpPr/>
          <p:nvPr/>
        </p:nvSpPr>
        <p:spPr>
          <a:xfrm flipH="false" flipV="false" rot="0">
            <a:off x="2288182" y="4084612"/>
            <a:ext cx="2499193" cy="2499193"/>
          </a:xfrm>
          <a:custGeom>
            <a:avLst/>
            <a:gdLst/>
            <a:ahLst/>
            <a:cxnLst/>
            <a:rect r="r" b="b" t="t" l="l"/>
            <a:pathLst>
              <a:path h="2499193" w="2499193">
                <a:moveTo>
                  <a:pt x="0" y="0"/>
                </a:moveTo>
                <a:lnTo>
                  <a:pt x="2499192" y="0"/>
                </a:lnTo>
                <a:lnTo>
                  <a:pt x="2499192" y="2499193"/>
                </a:lnTo>
                <a:lnTo>
                  <a:pt x="0" y="2499193"/>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8" id="18"/>
          <p:cNvSpPr/>
          <p:nvPr/>
        </p:nvSpPr>
        <p:spPr>
          <a:xfrm flipH="false" flipV="false" rot="0">
            <a:off x="6210271" y="4084612"/>
            <a:ext cx="2499193" cy="2499193"/>
          </a:xfrm>
          <a:custGeom>
            <a:avLst/>
            <a:gdLst/>
            <a:ahLst/>
            <a:cxnLst/>
            <a:rect r="r" b="b" t="t" l="l"/>
            <a:pathLst>
              <a:path h="2499193" w="2499193">
                <a:moveTo>
                  <a:pt x="0" y="0"/>
                </a:moveTo>
                <a:lnTo>
                  <a:pt x="2499193" y="0"/>
                </a:lnTo>
                <a:lnTo>
                  <a:pt x="2499193" y="2499193"/>
                </a:lnTo>
                <a:lnTo>
                  <a:pt x="0" y="2499193"/>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19" id="19"/>
          <p:cNvGrpSpPr/>
          <p:nvPr/>
        </p:nvGrpSpPr>
        <p:grpSpPr>
          <a:xfrm rot="0">
            <a:off x="2151535" y="3949001"/>
            <a:ext cx="2169603" cy="2169603"/>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14300" cap="sq">
              <a:solidFill>
                <a:srgbClr val="FFFFFF"/>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2" id="22"/>
          <p:cNvGrpSpPr/>
          <p:nvPr/>
        </p:nvGrpSpPr>
        <p:grpSpPr>
          <a:xfrm rot="0">
            <a:off x="6089227" y="3949001"/>
            <a:ext cx="2169603" cy="216960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699B"/>
            </a:solidFill>
            <a:ln w="114300" cap="sq">
              <a:solidFill>
                <a:srgbClr val="FFFFFF"/>
              </a:solidFill>
              <a:prstDash val="solid"/>
              <a:miter/>
            </a:ln>
          </p:spPr>
        </p:sp>
        <p:sp>
          <p:nvSpPr>
            <p:cNvPr name="TextBox 24" id="2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25" id="25"/>
          <p:cNvSpPr/>
          <p:nvPr/>
        </p:nvSpPr>
        <p:spPr>
          <a:xfrm flipH="false" flipV="false" rot="0">
            <a:off x="10132361" y="4084612"/>
            <a:ext cx="2499193" cy="2499193"/>
          </a:xfrm>
          <a:custGeom>
            <a:avLst/>
            <a:gdLst/>
            <a:ahLst/>
            <a:cxnLst/>
            <a:rect r="r" b="b" t="t" l="l"/>
            <a:pathLst>
              <a:path h="2499193" w="2499193">
                <a:moveTo>
                  <a:pt x="0" y="0"/>
                </a:moveTo>
                <a:lnTo>
                  <a:pt x="2499192" y="0"/>
                </a:lnTo>
                <a:lnTo>
                  <a:pt x="2499192" y="2499193"/>
                </a:lnTo>
                <a:lnTo>
                  <a:pt x="0" y="2499193"/>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26" id="26"/>
          <p:cNvGrpSpPr/>
          <p:nvPr/>
        </p:nvGrpSpPr>
        <p:grpSpPr>
          <a:xfrm rot="0">
            <a:off x="10028044" y="3949001"/>
            <a:ext cx="2169603" cy="2169603"/>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8AB0"/>
            </a:solidFill>
            <a:ln w="114300" cap="sq">
              <a:solidFill>
                <a:srgbClr val="FFFFFF"/>
              </a:solidFill>
              <a:prstDash val="solid"/>
              <a:miter/>
            </a:ln>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29" id="29"/>
          <p:cNvSpPr/>
          <p:nvPr/>
        </p:nvSpPr>
        <p:spPr>
          <a:xfrm flipH="false" flipV="false" rot="0">
            <a:off x="14054450" y="4084612"/>
            <a:ext cx="2499193" cy="2499193"/>
          </a:xfrm>
          <a:custGeom>
            <a:avLst/>
            <a:gdLst/>
            <a:ahLst/>
            <a:cxnLst/>
            <a:rect r="r" b="b" t="t" l="l"/>
            <a:pathLst>
              <a:path h="2499193" w="2499193">
                <a:moveTo>
                  <a:pt x="0" y="0"/>
                </a:moveTo>
                <a:lnTo>
                  <a:pt x="2499193" y="0"/>
                </a:lnTo>
                <a:lnTo>
                  <a:pt x="2499193" y="2499193"/>
                </a:lnTo>
                <a:lnTo>
                  <a:pt x="0" y="2499193"/>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30" id="30"/>
          <p:cNvGrpSpPr/>
          <p:nvPr/>
        </p:nvGrpSpPr>
        <p:grpSpPr>
          <a:xfrm rot="0">
            <a:off x="13969207" y="3949001"/>
            <a:ext cx="2169603" cy="2169603"/>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14300" cap="sq">
              <a:solidFill>
                <a:srgbClr val="FFFFFF"/>
              </a:solidFill>
              <a:prstDash val="solid"/>
              <a:miter/>
            </a:ln>
          </p:spPr>
        </p:sp>
        <p:sp>
          <p:nvSpPr>
            <p:cNvPr name="TextBox 32" id="32"/>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33" id="33"/>
          <p:cNvSpPr/>
          <p:nvPr/>
        </p:nvSpPr>
        <p:spPr>
          <a:xfrm flipH="false" flipV="false" rot="0">
            <a:off x="2850229" y="4583532"/>
            <a:ext cx="762000" cy="888630"/>
          </a:xfrm>
          <a:custGeom>
            <a:avLst/>
            <a:gdLst/>
            <a:ahLst/>
            <a:cxnLst/>
            <a:rect r="r" b="b" t="t" l="l"/>
            <a:pathLst>
              <a:path h="888630" w="762000">
                <a:moveTo>
                  <a:pt x="0" y="0"/>
                </a:moveTo>
                <a:lnTo>
                  <a:pt x="762000" y="0"/>
                </a:lnTo>
                <a:lnTo>
                  <a:pt x="762000" y="888629"/>
                </a:lnTo>
                <a:lnTo>
                  <a:pt x="0" y="88862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4" id="34"/>
          <p:cNvSpPr/>
          <p:nvPr/>
        </p:nvSpPr>
        <p:spPr>
          <a:xfrm flipH="false" flipV="false" rot="0">
            <a:off x="6658372" y="4555889"/>
            <a:ext cx="1028700" cy="991410"/>
          </a:xfrm>
          <a:custGeom>
            <a:avLst/>
            <a:gdLst/>
            <a:ahLst/>
            <a:cxnLst/>
            <a:rect r="r" b="b" t="t" l="l"/>
            <a:pathLst>
              <a:path h="991410" w="1028700">
                <a:moveTo>
                  <a:pt x="0" y="0"/>
                </a:moveTo>
                <a:lnTo>
                  <a:pt x="1028700" y="0"/>
                </a:lnTo>
                <a:lnTo>
                  <a:pt x="1028700" y="991409"/>
                </a:lnTo>
                <a:lnTo>
                  <a:pt x="0" y="9914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5" id="35"/>
          <p:cNvSpPr/>
          <p:nvPr/>
        </p:nvSpPr>
        <p:spPr>
          <a:xfrm flipH="false" flipV="false" rot="0">
            <a:off x="10598597" y="4532142"/>
            <a:ext cx="1028700" cy="991410"/>
          </a:xfrm>
          <a:custGeom>
            <a:avLst/>
            <a:gdLst/>
            <a:ahLst/>
            <a:cxnLst/>
            <a:rect r="r" b="b" t="t" l="l"/>
            <a:pathLst>
              <a:path h="991410" w="1028700">
                <a:moveTo>
                  <a:pt x="0" y="0"/>
                </a:moveTo>
                <a:lnTo>
                  <a:pt x="1028700" y="0"/>
                </a:lnTo>
                <a:lnTo>
                  <a:pt x="1028700" y="991409"/>
                </a:lnTo>
                <a:lnTo>
                  <a:pt x="0" y="99140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6" id="36"/>
          <p:cNvSpPr/>
          <p:nvPr/>
        </p:nvSpPr>
        <p:spPr>
          <a:xfrm flipH="false" flipV="false" rot="0">
            <a:off x="14577758" y="4610100"/>
            <a:ext cx="952500" cy="952500"/>
          </a:xfrm>
          <a:custGeom>
            <a:avLst/>
            <a:gdLst/>
            <a:ahLst/>
            <a:cxnLst/>
            <a:rect r="r" b="b" t="t" l="l"/>
            <a:pathLst>
              <a:path h="952500" w="952500">
                <a:moveTo>
                  <a:pt x="0" y="0"/>
                </a:moveTo>
                <a:lnTo>
                  <a:pt x="952500" y="0"/>
                </a:lnTo>
                <a:lnTo>
                  <a:pt x="952500" y="952500"/>
                </a:lnTo>
                <a:lnTo>
                  <a:pt x="0" y="9525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37" id="37"/>
          <p:cNvSpPr txBox="true"/>
          <p:nvPr/>
        </p:nvSpPr>
        <p:spPr>
          <a:xfrm rot="0">
            <a:off x="4321138" y="1667103"/>
            <a:ext cx="9645724" cy="830580"/>
          </a:xfrm>
          <a:prstGeom prst="rect">
            <a:avLst/>
          </a:prstGeom>
        </p:spPr>
        <p:txBody>
          <a:bodyPr anchor="t" rtlCol="false" tIns="0" lIns="0" bIns="0" rIns="0">
            <a:spAutoFit/>
          </a:bodyPr>
          <a:lstStyle/>
          <a:p>
            <a:pPr algn="ctr">
              <a:lnSpc>
                <a:spcPts val="5940"/>
              </a:lnSpc>
            </a:pPr>
            <a:r>
              <a:rPr lang="en-US" sz="5400" b="true">
                <a:solidFill>
                  <a:srgbClr val="000000"/>
                </a:solidFill>
                <a:latin typeface="Telegraf Bold"/>
                <a:ea typeface="Telegraf Bold"/>
                <a:cs typeface="Telegraf Bold"/>
                <a:sym typeface="Telegraf Bold"/>
              </a:rPr>
              <a:t>Research Objec</a:t>
            </a:r>
            <a:r>
              <a:rPr lang="en-US" sz="5400" b="true">
                <a:solidFill>
                  <a:srgbClr val="000000"/>
                </a:solidFill>
                <a:latin typeface="Telegraf Bold"/>
                <a:ea typeface="Telegraf Bold"/>
                <a:cs typeface="Telegraf Bold"/>
                <a:sym typeface="Telegraf Bold"/>
              </a:rPr>
              <a:t>tives</a:t>
            </a:r>
          </a:p>
        </p:txBody>
      </p:sp>
      <p:sp>
        <p:nvSpPr>
          <p:cNvPr name="TextBox 38" id="38"/>
          <p:cNvSpPr txBox="true"/>
          <p:nvPr/>
        </p:nvSpPr>
        <p:spPr>
          <a:xfrm rot="0">
            <a:off x="1783412" y="6545705"/>
            <a:ext cx="2895635" cy="12344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Structured Input Design</a:t>
            </a:r>
          </a:p>
          <a:p>
            <a:pPr algn="ctr">
              <a:lnSpc>
                <a:spcPts val="3359"/>
              </a:lnSpc>
            </a:pPr>
          </a:p>
        </p:txBody>
      </p:sp>
      <p:sp>
        <p:nvSpPr>
          <p:cNvPr name="TextBox 39" id="39"/>
          <p:cNvSpPr txBox="true"/>
          <p:nvPr/>
        </p:nvSpPr>
        <p:spPr>
          <a:xfrm rot="0">
            <a:off x="5726824" y="6545705"/>
            <a:ext cx="2895635"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Personalized Story Generation</a:t>
            </a:r>
          </a:p>
        </p:txBody>
      </p:sp>
      <p:sp>
        <p:nvSpPr>
          <p:cNvPr name="TextBox 40" id="40"/>
          <p:cNvSpPr txBox="true"/>
          <p:nvPr/>
        </p:nvSpPr>
        <p:spPr>
          <a:xfrm rot="0">
            <a:off x="9665029" y="6545705"/>
            <a:ext cx="2895635"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Narrative Coherence Control</a:t>
            </a:r>
          </a:p>
        </p:txBody>
      </p:sp>
      <p:sp>
        <p:nvSpPr>
          <p:cNvPr name="TextBox 41" id="41"/>
          <p:cNvSpPr txBox="true"/>
          <p:nvPr/>
        </p:nvSpPr>
        <p:spPr>
          <a:xfrm rot="0">
            <a:off x="13695602" y="6545705"/>
            <a:ext cx="271212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Story Quality Evaluation</a:t>
            </a:r>
          </a:p>
        </p:txBody>
      </p:sp>
      <p:sp>
        <p:nvSpPr>
          <p:cNvPr name="Freeform 42" id="42"/>
          <p:cNvSpPr/>
          <p:nvPr/>
        </p:nvSpPr>
        <p:spPr>
          <a:xfrm flipH="false" flipV="true" rot="1302736">
            <a:off x="686535" y="-3146902"/>
            <a:ext cx="5775043" cy="4952099"/>
          </a:xfrm>
          <a:custGeom>
            <a:avLst/>
            <a:gdLst/>
            <a:ahLst/>
            <a:cxnLst/>
            <a:rect r="r" b="b" t="t" l="l"/>
            <a:pathLst>
              <a:path h="4952099" w="5775043">
                <a:moveTo>
                  <a:pt x="0" y="4952099"/>
                </a:moveTo>
                <a:lnTo>
                  <a:pt x="5775043" y="4952099"/>
                </a:lnTo>
                <a:lnTo>
                  <a:pt x="5775043" y="0"/>
                </a:lnTo>
                <a:lnTo>
                  <a:pt x="0" y="0"/>
                </a:lnTo>
                <a:lnTo>
                  <a:pt x="0" y="4952099"/>
                </a:lnTo>
                <a:close/>
              </a:path>
            </a:pathLst>
          </a:custGeom>
          <a:blipFill>
            <a:blip r:embed="rId15">
              <a:alphaModFix amt="13000"/>
              <a:extLst>
                <a:ext uri="{96DAC541-7B7A-43D3-8B79-37D633B846F1}">
                  <asvg:svgBlip xmlns:asvg="http://schemas.microsoft.com/office/drawing/2016/SVG/main" r:embed="rId16"/>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true" flipV="true" rot="7670122">
            <a:off x="-9572563" y="-2462152"/>
            <a:ext cx="21076842" cy="6981704"/>
          </a:xfrm>
          <a:custGeom>
            <a:avLst/>
            <a:gdLst/>
            <a:ahLst/>
            <a:cxnLst/>
            <a:rect r="r" b="b" t="t" l="l"/>
            <a:pathLst>
              <a:path h="6981704" w="21076842">
                <a:moveTo>
                  <a:pt x="21076843" y="6981704"/>
                </a:moveTo>
                <a:lnTo>
                  <a:pt x="0" y="6981704"/>
                </a:lnTo>
                <a:lnTo>
                  <a:pt x="0" y="0"/>
                </a:lnTo>
                <a:lnTo>
                  <a:pt x="21076843" y="0"/>
                </a:lnTo>
                <a:lnTo>
                  <a:pt x="21076843" y="6981704"/>
                </a:lnTo>
                <a:close/>
              </a:path>
            </a:pathLst>
          </a:custGeom>
          <a:blipFill>
            <a:blip r:embed="rId3">
              <a:alphaModFix amt="10999"/>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10800000">
            <a:off x="13738656" y="5299061"/>
            <a:ext cx="3042895" cy="3269879"/>
            <a:chOff x="0" y="0"/>
            <a:chExt cx="660400" cy="709662"/>
          </a:xfrm>
        </p:grpSpPr>
        <p:sp>
          <p:nvSpPr>
            <p:cNvPr name="Freeform 5" id="5"/>
            <p:cNvSpPr/>
            <p:nvPr/>
          </p:nvSpPr>
          <p:spPr>
            <a:xfrm flipH="false" flipV="false" rot="0">
              <a:off x="0" y="0"/>
              <a:ext cx="660400" cy="709662"/>
            </a:xfrm>
            <a:custGeom>
              <a:avLst/>
              <a:gdLst/>
              <a:ahLst/>
              <a:cxnLst/>
              <a:rect r="r" b="b" t="t" l="l"/>
              <a:pathLst>
                <a:path h="70966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6211"/>
                  </a:cubicBezTo>
                  <a:lnTo>
                    <a:pt x="660400" y="709662"/>
                  </a:lnTo>
                  <a:lnTo>
                    <a:pt x="0" y="709662"/>
                  </a:lnTo>
                  <a:lnTo>
                    <a:pt x="0" y="326496"/>
                  </a:lnTo>
                  <a:cubicBezTo>
                    <a:pt x="1782" y="185660"/>
                    <a:pt x="93019" y="64045"/>
                    <a:pt x="220252" y="19070"/>
                  </a:cubicBezTo>
                  <a:close/>
                </a:path>
              </a:pathLst>
            </a:custGeom>
            <a:solidFill>
              <a:srgbClr val="FFFFFF"/>
            </a:solidFill>
          </p:spPr>
        </p:sp>
        <p:sp>
          <p:nvSpPr>
            <p:cNvPr name="TextBox 6" id="6"/>
            <p:cNvSpPr txBox="true"/>
            <p:nvPr/>
          </p:nvSpPr>
          <p:spPr>
            <a:xfrm>
              <a:off x="0" y="88900"/>
              <a:ext cx="660400" cy="620762"/>
            </a:xfrm>
            <a:prstGeom prst="rect">
              <a:avLst/>
            </a:prstGeom>
          </p:spPr>
          <p:txBody>
            <a:bodyPr anchor="ctr" rtlCol="false" tIns="50800" lIns="50800" bIns="50800" rIns="50800"/>
            <a:lstStyle/>
            <a:p>
              <a:pPr algn="ctr">
                <a:lnSpc>
                  <a:spcPts val="3359"/>
                </a:lnSpc>
              </a:pPr>
            </a:p>
          </p:txBody>
        </p:sp>
      </p:grpSp>
      <p:sp>
        <p:nvSpPr>
          <p:cNvPr name="Freeform 7" id="7"/>
          <p:cNvSpPr/>
          <p:nvPr/>
        </p:nvSpPr>
        <p:spPr>
          <a:xfrm flipH="false" flipV="false" rot="0">
            <a:off x="14414537" y="6081868"/>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8" id="8"/>
          <p:cNvGrpSpPr/>
          <p:nvPr/>
        </p:nvGrpSpPr>
        <p:grpSpPr>
          <a:xfrm rot="-10800000">
            <a:off x="14073159" y="5841635"/>
            <a:ext cx="2373887" cy="237388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27BA7"/>
            </a:solidFill>
            <a:ln w="152400" cap="sq">
              <a:solidFill>
                <a:srgbClr val="F8F8F5"/>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11" id="11"/>
          <p:cNvGrpSpPr/>
          <p:nvPr/>
        </p:nvGrpSpPr>
        <p:grpSpPr>
          <a:xfrm rot="0">
            <a:off x="9661846" y="3332770"/>
            <a:ext cx="3042895" cy="3269879"/>
            <a:chOff x="0" y="0"/>
            <a:chExt cx="660400" cy="709662"/>
          </a:xfrm>
        </p:grpSpPr>
        <p:sp>
          <p:nvSpPr>
            <p:cNvPr name="Freeform 12" id="12"/>
            <p:cNvSpPr/>
            <p:nvPr/>
          </p:nvSpPr>
          <p:spPr>
            <a:xfrm flipH="false" flipV="false" rot="0">
              <a:off x="0" y="0"/>
              <a:ext cx="660400" cy="709662"/>
            </a:xfrm>
            <a:custGeom>
              <a:avLst/>
              <a:gdLst/>
              <a:ahLst/>
              <a:cxnLst/>
              <a:rect r="r" b="b" t="t" l="l"/>
              <a:pathLst>
                <a:path h="70966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6211"/>
                  </a:cubicBezTo>
                  <a:lnTo>
                    <a:pt x="660400" y="709662"/>
                  </a:lnTo>
                  <a:lnTo>
                    <a:pt x="0" y="709662"/>
                  </a:lnTo>
                  <a:lnTo>
                    <a:pt x="0" y="326496"/>
                  </a:lnTo>
                  <a:cubicBezTo>
                    <a:pt x="1782" y="185660"/>
                    <a:pt x="93019" y="64045"/>
                    <a:pt x="220252" y="19070"/>
                  </a:cubicBezTo>
                  <a:close/>
                </a:path>
              </a:pathLst>
            </a:custGeom>
            <a:solidFill>
              <a:srgbClr val="FFFFFF"/>
            </a:solidFill>
          </p:spPr>
        </p:sp>
        <p:sp>
          <p:nvSpPr>
            <p:cNvPr name="TextBox 13" id="13"/>
            <p:cNvSpPr txBox="true"/>
            <p:nvPr/>
          </p:nvSpPr>
          <p:spPr>
            <a:xfrm>
              <a:off x="0" y="88900"/>
              <a:ext cx="660400" cy="620762"/>
            </a:xfrm>
            <a:prstGeom prst="rect">
              <a:avLst/>
            </a:prstGeom>
          </p:spPr>
          <p:txBody>
            <a:bodyPr anchor="ctr" rtlCol="false" tIns="50800" lIns="50800" bIns="50800" rIns="50800"/>
            <a:lstStyle/>
            <a:p>
              <a:pPr algn="ctr">
                <a:lnSpc>
                  <a:spcPts val="3359"/>
                </a:lnSpc>
              </a:pPr>
            </a:p>
          </p:txBody>
        </p:sp>
      </p:grpSp>
      <p:sp>
        <p:nvSpPr>
          <p:cNvPr name="Freeform 14" id="14"/>
          <p:cNvSpPr/>
          <p:nvPr/>
        </p:nvSpPr>
        <p:spPr>
          <a:xfrm flipH="false" flipV="false" rot="2053962">
            <a:off x="11554288" y="5743829"/>
            <a:ext cx="2540637" cy="327107"/>
          </a:xfrm>
          <a:custGeom>
            <a:avLst/>
            <a:gdLst/>
            <a:ahLst/>
            <a:cxnLst/>
            <a:rect r="r" b="b" t="t" l="l"/>
            <a:pathLst>
              <a:path h="327107" w="2540637">
                <a:moveTo>
                  <a:pt x="0" y="0"/>
                </a:moveTo>
                <a:lnTo>
                  <a:pt x="2540637" y="0"/>
                </a:lnTo>
                <a:lnTo>
                  <a:pt x="2540637" y="327107"/>
                </a:lnTo>
                <a:lnTo>
                  <a:pt x="0" y="3271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5" id="15"/>
          <p:cNvSpPr/>
          <p:nvPr/>
        </p:nvSpPr>
        <p:spPr>
          <a:xfrm flipH="false" flipV="false" rot="0">
            <a:off x="10310888" y="4059474"/>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16" id="16"/>
          <p:cNvGrpSpPr/>
          <p:nvPr/>
        </p:nvGrpSpPr>
        <p:grpSpPr>
          <a:xfrm rot="0">
            <a:off x="9996350" y="3707981"/>
            <a:ext cx="2373887" cy="2373887"/>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9F8AB0"/>
            </a:solidFill>
            <a:ln w="152400" cap="sq">
              <a:solidFill>
                <a:srgbClr val="FFFFFF"/>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19" id="19"/>
          <p:cNvGrpSpPr/>
          <p:nvPr/>
        </p:nvGrpSpPr>
        <p:grpSpPr>
          <a:xfrm rot="-10800000">
            <a:off x="5585037" y="5299061"/>
            <a:ext cx="3042895" cy="3269879"/>
            <a:chOff x="0" y="0"/>
            <a:chExt cx="660400" cy="709662"/>
          </a:xfrm>
        </p:grpSpPr>
        <p:sp>
          <p:nvSpPr>
            <p:cNvPr name="Freeform 20" id="20"/>
            <p:cNvSpPr/>
            <p:nvPr/>
          </p:nvSpPr>
          <p:spPr>
            <a:xfrm flipH="false" flipV="false" rot="0">
              <a:off x="0" y="0"/>
              <a:ext cx="660400" cy="709662"/>
            </a:xfrm>
            <a:custGeom>
              <a:avLst/>
              <a:gdLst/>
              <a:ahLst/>
              <a:cxnLst/>
              <a:rect r="r" b="b" t="t" l="l"/>
              <a:pathLst>
                <a:path h="70966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6211"/>
                  </a:cubicBezTo>
                  <a:lnTo>
                    <a:pt x="660400" y="709662"/>
                  </a:lnTo>
                  <a:lnTo>
                    <a:pt x="0" y="709662"/>
                  </a:lnTo>
                  <a:lnTo>
                    <a:pt x="0" y="326496"/>
                  </a:lnTo>
                  <a:cubicBezTo>
                    <a:pt x="1782" y="185660"/>
                    <a:pt x="93019" y="64045"/>
                    <a:pt x="220252" y="19070"/>
                  </a:cubicBezTo>
                  <a:close/>
                </a:path>
              </a:pathLst>
            </a:custGeom>
            <a:solidFill>
              <a:srgbClr val="FFFFFF"/>
            </a:solidFill>
          </p:spPr>
        </p:sp>
        <p:sp>
          <p:nvSpPr>
            <p:cNvPr name="TextBox 21" id="21"/>
            <p:cNvSpPr txBox="true"/>
            <p:nvPr/>
          </p:nvSpPr>
          <p:spPr>
            <a:xfrm>
              <a:off x="0" y="88900"/>
              <a:ext cx="660400" cy="620762"/>
            </a:xfrm>
            <a:prstGeom prst="rect">
              <a:avLst/>
            </a:prstGeom>
          </p:spPr>
          <p:txBody>
            <a:bodyPr anchor="ctr" rtlCol="false" tIns="50800" lIns="50800" bIns="50800" rIns="50800"/>
            <a:lstStyle/>
            <a:p>
              <a:pPr algn="ctr">
                <a:lnSpc>
                  <a:spcPts val="3359"/>
                </a:lnSpc>
              </a:pPr>
            </a:p>
          </p:txBody>
        </p:sp>
      </p:grpSp>
      <p:sp>
        <p:nvSpPr>
          <p:cNvPr name="Freeform 22" id="22"/>
          <p:cNvSpPr/>
          <p:nvPr/>
        </p:nvSpPr>
        <p:spPr>
          <a:xfrm flipH="false" flipV="false" rot="-2237460">
            <a:off x="7545958" y="5889229"/>
            <a:ext cx="2540637" cy="327107"/>
          </a:xfrm>
          <a:custGeom>
            <a:avLst/>
            <a:gdLst/>
            <a:ahLst/>
            <a:cxnLst/>
            <a:rect r="r" b="b" t="t" l="l"/>
            <a:pathLst>
              <a:path h="327107" w="2540637">
                <a:moveTo>
                  <a:pt x="0" y="0"/>
                </a:moveTo>
                <a:lnTo>
                  <a:pt x="2540637" y="0"/>
                </a:lnTo>
                <a:lnTo>
                  <a:pt x="2540637" y="327107"/>
                </a:lnTo>
                <a:lnTo>
                  <a:pt x="0" y="3271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p:cNvSpPr/>
          <p:nvPr/>
        </p:nvSpPr>
        <p:spPr>
          <a:xfrm flipH="false" flipV="false" rot="0">
            <a:off x="6292151" y="6016240"/>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24" id="24"/>
          <p:cNvGrpSpPr/>
          <p:nvPr/>
        </p:nvGrpSpPr>
        <p:grpSpPr>
          <a:xfrm rot="-10800000">
            <a:off x="5919541" y="5841635"/>
            <a:ext cx="2373887" cy="237388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E699B"/>
            </a:solidFill>
            <a:ln w="152400" cap="sq">
              <a:solidFill>
                <a:srgbClr val="FFFFFF"/>
              </a:solidFill>
              <a:prstDash val="solid"/>
              <a:miter/>
            </a:ln>
          </p:spPr>
        </p:sp>
        <p:sp>
          <p:nvSpPr>
            <p:cNvPr name="TextBox 26" id="26"/>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grpSp>
        <p:nvGrpSpPr>
          <p:cNvPr name="Group 27" id="27"/>
          <p:cNvGrpSpPr/>
          <p:nvPr/>
        </p:nvGrpSpPr>
        <p:grpSpPr>
          <a:xfrm rot="0">
            <a:off x="1496925" y="3332770"/>
            <a:ext cx="3042895" cy="3269879"/>
            <a:chOff x="0" y="0"/>
            <a:chExt cx="660400" cy="709662"/>
          </a:xfrm>
        </p:grpSpPr>
        <p:sp>
          <p:nvSpPr>
            <p:cNvPr name="Freeform 28" id="28"/>
            <p:cNvSpPr/>
            <p:nvPr/>
          </p:nvSpPr>
          <p:spPr>
            <a:xfrm flipH="false" flipV="false" rot="0">
              <a:off x="0" y="0"/>
              <a:ext cx="660400" cy="709662"/>
            </a:xfrm>
            <a:custGeom>
              <a:avLst/>
              <a:gdLst/>
              <a:ahLst/>
              <a:cxnLst/>
              <a:rect r="r" b="b" t="t" l="l"/>
              <a:pathLst>
                <a:path h="709662"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6211"/>
                  </a:cubicBezTo>
                  <a:lnTo>
                    <a:pt x="660400" y="709662"/>
                  </a:lnTo>
                  <a:lnTo>
                    <a:pt x="0" y="709662"/>
                  </a:lnTo>
                  <a:lnTo>
                    <a:pt x="0" y="326496"/>
                  </a:lnTo>
                  <a:cubicBezTo>
                    <a:pt x="1782" y="185660"/>
                    <a:pt x="93019" y="64045"/>
                    <a:pt x="220252" y="19070"/>
                  </a:cubicBezTo>
                  <a:close/>
                </a:path>
              </a:pathLst>
            </a:custGeom>
            <a:solidFill>
              <a:srgbClr val="FFFFFF"/>
            </a:solidFill>
          </p:spPr>
        </p:sp>
        <p:sp>
          <p:nvSpPr>
            <p:cNvPr name="TextBox 29" id="29"/>
            <p:cNvSpPr txBox="true"/>
            <p:nvPr/>
          </p:nvSpPr>
          <p:spPr>
            <a:xfrm>
              <a:off x="0" y="88900"/>
              <a:ext cx="660400" cy="620762"/>
            </a:xfrm>
            <a:prstGeom prst="rect">
              <a:avLst/>
            </a:prstGeom>
          </p:spPr>
          <p:txBody>
            <a:bodyPr anchor="ctr" rtlCol="false" tIns="50800" lIns="50800" bIns="50800" rIns="50800"/>
            <a:lstStyle/>
            <a:p>
              <a:pPr algn="ctr">
                <a:lnSpc>
                  <a:spcPts val="3359"/>
                </a:lnSpc>
              </a:pPr>
            </a:p>
          </p:txBody>
        </p:sp>
      </p:grpSp>
      <p:sp>
        <p:nvSpPr>
          <p:cNvPr name="Freeform 30" id="30"/>
          <p:cNvSpPr/>
          <p:nvPr/>
        </p:nvSpPr>
        <p:spPr>
          <a:xfrm flipH="false" flipV="false" rot="2053962">
            <a:off x="3407081" y="5743829"/>
            <a:ext cx="2540637" cy="327107"/>
          </a:xfrm>
          <a:custGeom>
            <a:avLst/>
            <a:gdLst/>
            <a:ahLst/>
            <a:cxnLst/>
            <a:rect r="r" b="b" t="t" l="l"/>
            <a:pathLst>
              <a:path h="327107" w="2540637">
                <a:moveTo>
                  <a:pt x="0" y="0"/>
                </a:moveTo>
                <a:lnTo>
                  <a:pt x="2540638" y="0"/>
                </a:lnTo>
                <a:lnTo>
                  <a:pt x="2540638" y="327107"/>
                </a:lnTo>
                <a:lnTo>
                  <a:pt x="0" y="3271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31" id="31"/>
          <p:cNvSpPr/>
          <p:nvPr/>
        </p:nvSpPr>
        <p:spPr>
          <a:xfrm flipH="false" flipV="false" rot="0">
            <a:off x="2134225" y="4022711"/>
            <a:ext cx="2571750" cy="2571750"/>
          </a:xfrm>
          <a:custGeom>
            <a:avLst/>
            <a:gdLst/>
            <a:ahLst/>
            <a:cxnLst/>
            <a:rect r="r" b="b" t="t" l="l"/>
            <a:pathLst>
              <a:path h="2571750" w="2571750">
                <a:moveTo>
                  <a:pt x="0" y="0"/>
                </a:moveTo>
                <a:lnTo>
                  <a:pt x="2571750" y="0"/>
                </a:lnTo>
                <a:lnTo>
                  <a:pt x="2571750" y="2571750"/>
                </a:lnTo>
                <a:lnTo>
                  <a:pt x="0" y="2571750"/>
                </a:lnTo>
                <a:lnTo>
                  <a:pt x="0" y="0"/>
                </a:lnTo>
                <a:close/>
              </a:path>
            </a:pathLst>
          </a:custGeom>
          <a:blipFill>
            <a:blip r:embed="rId5">
              <a:alphaModFix amt="35000"/>
              <a:extLst>
                <a:ext uri="{96DAC541-7B7A-43D3-8B79-37D633B846F1}">
                  <asvg:svgBlip xmlns:asvg="http://schemas.microsoft.com/office/drawing/2016/SVG/main" r:embed="rId6"/>
                </a:ext>
              </a:extLst>
            </a:blip>
            <a:stretch>
              <a:fillRect l="0" t="0" r="0" b="0"/>
            </a:stretch>
          </a:blipFill>
          <a:ln cap="sq">
            <a:noFill/>
            <a:prstDash val="solid"/>
            <a:miter/>
          </a:ln>
        </p:spPr>
      </p:sp>
      <p:grpSp>
        <p:nvGrpSpPr>
          <p:cNvPr name="Group 32" id="32"/>
          <p:cNvGrpSpPr/>
          <p:nvPr/>
        </p:nvGrpSpPr>
        <p:grpSpPr>
          <a:xfrm rot="0">
            <a:off x="1840953" y="3707981"/>
            <a:ext cx="2373887" cy="2373887"/>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D4C84"/>
            </a:solidFill>
            <a:ln w="152400" cap="sq">
              <a:solidFill>
                <a:srgbClr val="FFFFFF"/>
              </a:solidFill>
              <a:prstDash val="solid"/>
              <a:miter/>
            </a:ln>
          </p:spPr>
        </p:sp>
        <p:sp>
          <p:nvSpPr>
            <p:cNvPr name="TextBox 34" id="34"/>
            <p:cNvSpPr txBox="true"/>
            <p:nvPr/>
          </p:nvSpPr>
          <p:spPr>
            <a:xfrm>
              <a:off x="76200" y="38100"/>
              <a:ext cx="660400" cy="698500"/>
            </a:xfrm>
            <a:prstGeom prst="rect">
              <a:avLst/>
            </a:prstGeom>
          </p:spPr>
          <p:txBody>
            <a:bodyPr anchor="ctr" rtlCol="false" tIns="50800" lIns="50800" bIns="50800" rIns="50800"/>
            <a:lstStyle/>
            <a:p>
              <a:pPr algn="ctr">
                <a:lnSpc>
                  <a:spcPts val="3359"/>
                </a:lnSpc>
              </a:pPr>
            </a:p>
          </p:txBody>
        </p:sp>
      </p:grpSp>
      <p:sp>
        <p:nvSpPr>
          <p:cNvPr name="Freeform 35" id="35"/>
          <p:cNvSpPr/>
          <p:nvPr/>
        </p:nvSpPr>
        <p:spPr>
          <a:xfrm flipH="false" flipV="false" rot="0">
            <a:off x="2535019" y="4434668"/>
            <a:ext cx="1009650" cy="1010914"/>
          </a:xfrm>
          <a:custGeom>
            <a:avLst/>
            <a:gdLst/>
            <a:ahLst/>
            <a:cxnLst/>
            <a:rect r="r" b="b" t="t" l="l"/>
            <a:pathLst>
              <a:path h="1010914" w="1009650">
                <a:moveTo>
                  <a:pt x="0" y="0"/>
                </a:moveTo>
                <a:lnTo>
                  <a:pt x="1009650" y="0"/>
                </a:lnTo>
                <a:lnTo>
                  <a:pt x="1009650" y="1010913"/>
                </a:lnTo>
                <a:lnTo>
                  <a:pt x="0" y="101091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36" id="36"/>
          <p:cNvSpPr/>
          <p:nvPr/>
        </p:nvSpPr>
        <p:spPr>
          <a:xfrm flipH="false" flipV="false" rot="0">
            <a:off x="6534985" y="6457079"/>
            <a:ext cx="1143000" cy="1143000"/>
          </a:xfrm>
          <a:custGeom>
            <a:avLst/>
            <a:gdLst/>
            <a:ahLst/>
            <a:cxnLst/>
            <a:rect r="r" b="b" t="t" l="l"/>
            <a:pathLst>
              <a:path h="1143000" w="1143000">
                <a:moveTo>
                  <a:pt x="0" y="0"/>
                </a:moveTo>
                <a:lnTo>
                  <a:pt x="1143000" y="0"/>
                </a:lnTo>
                <a:lnTo>
                  <a:pt x="1143000" y="1143000"/>
                </a:lnTo>
                <a:lnTo>
                  <a:pt x="0" y="11430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7" id="37"/>
          <p:cNvSpPr/>
          <p:nvPr/>
        </p:nvSpPr>
        <p:spPr>
          <a:xfrm flipH="false" flipV="false" rot="0">
            <a:off x="14755278" y="6447419"/>
            <a:ext cx="1009650" cy="1068413"/>
          </a:xfrm>
          <a:custGeom>
            <a:avLst/>
            <a:gdLst/>
            <a:ahLst/>
            <a:cxnLst/>
            <a:rect r="r" b="b" t="t" l="l"/>
            <a:pathLst>
              <a:path h="1068413" w="1009650">
                <a:moveTo>
                  <a:pt x="0" y="0"/>
                </a:moveTo>
                <a:lnTo>
                  <a:pt x="1009650" y="0"/>
                </a:lnTo>
                <a:lnTo>
                  <a:pt x="1009650" y="1068413"/>
                </a:lnTo>
                <a:lnTo>
                  <a:pt x="0" y="106841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8" id="38"/>
          <p:cNvSpPr/>
          <p:nvPr/>
        </p:nvSpPr>
        <p:spPr>
          <a:xfrm flipH="false" flipV="false" rot="0">
            <a:off x="10648608" y="4434668"/>
            <a:ext cx="1009650" cy="945285"/>
          </a:xfrm>
          <a:custGeom>
            <a:avLst/>
            <a:gdLst/>
            <a:ahLst/>
            <a:cxnLst/>
            <a:rect r="r" b="b" t="t" l="l"/>
            <a:pathLst>
              <a:path h="945285" w="1009650">
                <a:moveTo>
                  <a:pt x="0" y="0"/>
                </a:moveTo>
                <a:lnTo>
                  <a:pt x="1009650" y="0"/>
                </a:lnTo>
                <a:lnTo>
                  <a:pt x="1009650" y="945285"/>
                </a:lnTo>
                <a:lnTo>
                  <a:pt x="0" y="94528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9" id="39"/>
          <p:cNvSpPr txBox="true"/>
          <p:nvPr/>
        </p:nvSpPr>
        <p:spPr>
          <a:xfrm rot="0">
            <a:off x="4321138" y="1351752"/>
            <a:ext cx="9645724" cy="830580"/>
          </a:xfrm>
          <a:prstGeom prst="rect">
            <a:avLst/>
          </a:prstGeom>
        </p:spPr>
        <p:txBody>
          <a:bodyPr anchor="t" rtlCol="false" tIns="0" lIns="0" bIns="0" rIns="0">
            <a:spAutoFit/>
          </a:bodyPr>
          <a:lstStyle/>
          <a:p>
            <a:pPr algn="ctr">
              <a:lnSpc>
                <a:spcPts val="5940"/>
              </a:lnSpc>
            </a:pPr>
            <a:r>
              <a:rPr lang="en-US" sz="5400" b="true">
                <a:solidFill>
                  <a:srgbClr val="121113"/>
                </a:solidFill>
                <a:latin typeface="Telegraf Bold"/>
                <a:ea typeface="Telegraf Bold"/>
                <a:cs typeface="Telegraf Bold"/>
                <a:sym typeface="Telegraf Bold"/>
              </a:rPr>
              <a:t>Proposed System</a:t>
            </a:r>
          </a:p>
        </p:txBody>
      </p:sp>
      <p:sp>
        <p:nvSpPr>
          <p:cNvPr name="TextBox 40" id="40"/>
          <p:cNvSpPr txBox="true"/>
          <p:nvPr/>
        </p:nvSpPr>
        <p:spPr>
          <a:xfrm rot="0">
            <a:off x="1680471" y="7066679"/>
            <a:ext cx="269485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User Input Acquisition</a:t>
            </a:r>
          </a:p>
        </p:txBody>
      </p:sp>
      <p:sp>
        <p:nvSpPr>
          <p:cNvPr name="TextBox 41" id="41"/>
          <p:cNvSpPr txBox="true"/>
          <p:nvPr/>
        </p:nvSpPr>
        <p:spPr>
          <a:xfrm rot="0">
            <a:off x="5759058" y="3574759"/>
            <a:ext cx="269485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Context Extraction Engine</a:t>
            </a:r>
          </a:p>
        </p:txBody>
      </p:sp>
      <p:sp>
        <p:nvSpPr>
          <p:cNvPr name="TextBox 42" id="42"/>
          <p:cNvSpPr txBox="true"/>
          <p:nvPr/>
        </p:nvSpPr>
        <p:spPr>
          <a:xfrm rot="0">
            <a:off x="9940642" y="7095254"/>
            <a:ext cx="269485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LLM-Based Story Generator</a:t>
            </a:r>
          </a:p>
        </p:txBody>
      </p:sp>
      <p:sp>
        <p:nvSpPr>
          <p:cNvPr name="TextBox 43" id="43"/>
          <p:cNvSpPr txBox="true"/>
          <p:nvPr/>
        </p:nvSpPr>
        <p:spPr>
          <a:xfrm rot="0">
            <a:off x="13912676" y="3898609"/>
            <a:ext cx="2694853" cy="815340"/>
          </a:xfrm>
          <a:prstGeom prst="rect">
            <a:avLst/>
          </a:prstGeom>
        </p:spPr>
        <p:txBody>
          <a:bodyPr anchor="t" rtlCol="false" tIns="0" lIns="0" bIns="0" rIns="0">
            <a:spAutoFit/>
          </a:bodyPr>
          <a:lstStyle/>
          <a:p>
            <a:pPr algn="ctr">
              <a:lnSpc>
                <a:spcPts val="3359"/>
              </a:lnSpc>
            </a:pPr>
            <a:r>
              <a:rPr lang="en-US" sz="2400">
                <a:solidFill>
                  <a:srgbClr val="545454"/>
                </a:solidFill>
                <a:latin typeface="Open Sans"/>
                <a:ea typeface="Open Sans"/>
                <a:cs typeface="Open Sans"/>
                <a:sym typeface="Open Sans"/>
              </a:rPr>
              <a:t>Output Delivery &amp; Integration</a:t>
            </a:r>
          </a:p>
        </p:txBody>
      </p:sp>
      <p:sp>
        <p:nvSpPr>
          <p:cNvPr name="Freeform 44" id="44"/>
          <p:cNvSpPr/>
          <p:nvPr/>
        </p:nvSpPr>
        <p:spPr>
          <a:xfrm flipH="false" flipV="false" rot="-1879609">
            <a:off x="14335459" y="-2639664"/>
            <a:ext cx="6705817" cy="5750238"/>
          </a:xfrm>
          <a:custGeom>
            <a:avLst/>
            <a:gdLst/>
            <a:ahLst/>
            <a:cxnLst/>
            <a:rect r="r" b="b" t="t" l="l"/>
            <a:pathLst>
              <a:path h="5750238" w="6705817">
                <a:moveTo>
                  <a:pt x="0" y="0"/>
                </a:moveTo>
                <a:lnTo>
                  <a:pt x="6705817" y="0"/>
                </a:lnTo>
                <a:lnTo>
                  <a:pt x="6705817" y="5750238"/>
                </a:lnTo>
                <a:lnTo>
                  <a:pt x="0" y="5750238"/>
                </a:lnTo>
                <a:lnTo>
                  <a:pt x="0" y="0"/>
                </a:lnTo>
                <a:close/>
              </a:path>
            </a:pathLst>
          </a:custGeom>
          <a:blipFill>
            <a:blip r:embed="rId17">
              <a:alphaModFix amt="13000"/>
              <a:extLst>
                <a:ext uri="{96DAC541-7B7A-43D3-8B79-37D633B846F1}">
                  <asvg:svgBlip xmlns:asvg="http://schemas.microsoft.com/office/drawing/2016/SVG/main" r:embed="rId18"/>
                </a:ext>
              </a:extLst>
            </a:blip>
            <a:stretch>
              <a:fillRect l="0" t="0" r="0" b="0"/>
            </a:stretch>
          </a:blipFill>
        </p:spPr>
      </p:sp>
      <p:sp>
        <p:nvSpPr>
          <p:cNvPr name="Freeform 45" id="45"/>
          <p:cNvSpPr/>
          <p:nvPr/>
        </p:nvSpPr>
        <p:spPr>
          <a:xfrm flipH="false" flipV="false" rot="7093762">
            <a:off x="13094138" y="8467516"/>
            <a:ext cx="6705817" cy="5750238"/>
          </a:xfrm>
          <a:custGeom>
            <a:avLst/>
            <a:gdLst/>
            <a:ahLst/>
            <a:cxnLst/>
            <a:rect r="r" b="b" t="t" l="l"/>
            <a:pathLst>
              <a:path h="5750238" w="6705817">
                <a:moveTo>
                  <a:pt x="0" y="0"/>
                </a:moveTo>
                <a:lnTo>
                  <a:pt x="6705817" y="0"/>
                </a:lnTo>
                <a:lnTo>
                  <a:pt x="6705817" y="5750238"/>
                </a:lnTo>
                <a:lnTo>
                  <a:pt x="0" y="5750238"/>
                </a:lnTo>
                <a:lnTo>
                  <a:pt x="0" y="0"/>
                </a:lnTo>
                <a:close/>
              </a:path>
            </a:pathLst>
          </a:custGeom>
          <a:blipFill>
            <a:blip r:embed="rId17">
              <a:alphaModFix amt="13000"/>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402985" y="2173756"/>
            <a:ext cx="13537477" cy="1636935"/>
            <a:chOff x="0" y="0"/>
            <a:chExt cx="3565426" cy="431127"/>
          </a:xfrm>
        </p:grpSpPr>
        <p:sp>
          <p:nvSpPr>
            <p:cNvPr name="Freeform 4" id="4"/>
            <p:cNvSpPr/>
            <p:nvPr/>
          </p:nvSpPr>
          <p:spPr>
            <a:xfrm flipH="false" flipV="false" rot="0">
              <a:off x="0" y="0"/>
              <a:ext cx="3565426" cy="431127"/>
            </a:xfrm>
            <a:custGeom>
              <a:avLst/>
              <a:gdLst/>
              <a:ahLst/>
              <a:cxnLst/>
              <a:rect r="r" b="b" t="t" l="l"/>
              <a:pathLst>
                <a:path h="431127" w="3565426">
                  <a:moveTo>
                    <a:pt x="20016" y="0"/>
                  </a:moveTo>
                  <a:lnTo>
                    <a:pt x="3545410" y="0"/>
                  </a:lnTo>
                  <a:cubicBezTo>
                    <a:pt x="3550719" y="0"/>
                    <a:pt x="3555810" y="2109"/>
                    <a:pt x="3559564" y="5863"/>
                  </a:cubicBezTo>
                  <a:cubicBezTo>
                    <a:pt x="3563317" y="9616"/>
                    <a:pt x="3565426" y="14707"/>
                    <a:pt x="3565426" y="20016"/>
                  </a:cubicBezTo>
                  <a:lnTo>
                    <a:pt x="3565426" y="411111"/>
                  </a:lnTo>
                  <a:cubicBezTo>
                    <a:pt x="3565426" y="422165"/>
                    <a:pt x="3556465" y="431127"/>
                    <a:pt x="3545410" y="431127"/>
                  </a:cubicBezTo>
                  <a:lnTo>
                    <a:pt x="20016" y="431127"/>
                  </a:lnTo>
                  <a:cubicBezTo>
                    <a:pt x="8962" y="431127"/>
                    <a:pt x="0" y="422165"/>
                    <a:pt x="0" y="411111"/>
                  </a:cubicBezTo>
                  <a:lnTo>
                    <a:pt x="0" y="20016"/>
                  </a:lnTo>
                  <a:cubicBezTo>
                    <a:pt x="0" y="8962"/>
                    <a:pt x="8962" y="0"/>
                    <a:pt x="20016" y="0"/>
                  </a:cubicBezTo>
                  <a:close/>
                </a:path>
              </a:pathLst>
            </a:custGeom>
            <a:solidFill>
              <a:srgbClr val="7D4C84"/>
            </a:solidFill>
          </p:spPr>
        </p:sp>
        <p:sp>
          <p:nvSpPr>
            <p:cNvPr name="TextBox 5" id="5"/>
            <p:cNvSpPr txBox="true"/>
            <p:nvPr/>
          </p:nvSpPr>
          <p:spPr>
            <a:xfrm>
              <a:off x="0" y="-38100"/>
              <a:ext cx="3565426" cy="469227"/>
            </a:xfrm>
            <a:prstGeom prst="rect">
              <a:avLst/>
            </a:prstGeom>
          </p:spPr>
          <p:txBody>
            <a:bodyPr anchor="ctr" rtlCol="false" tIns="50800" lIns="50800" bIns="50800" rIns="50800"/>
            <a:lstStyle/>
            <a:p>
              <a:pPr algn="ctr">
                <a:lnSpc>
                  <a:spcPts val="3359"/>
                </a:lnSpc>
              </a:pPr>
            </a:p>
          </p:txBody>
        </p:sp>
      </p:grpSp>
      <p:grpSp>
        <p:nvGrpSpPr>
          <p:cNvPr name="Group 6" id="6"/>
          <p:cNvGrpSpPr/>
          <p:nvPr/>
        </p:nvGrpSpPr>
        <p:grpSpPr>
          <a:xfrm rot="0">
            <a:off x="1402985" y="4021226"/>
            <a:ext cx="11331385" cy="1636935"/>
            <a:chOff x="0" y="0"/>
            <a:chExt cx="2984398" cy="431127"/>
          </a:xfrm>
        </p:grpSpPr>
        <p:sp>
          <p:nvSpPr>
            <p:cNvPr name="Freeform 7" id="7"/>
            <p:cNvSpPr/>
            <p:nvPr/>
          </p:nvSpPr>
          <p:spPr>
            <a:xfrm flipH="false" flipV="false" rot="0">
              <a:off x="0" y="0"/>
              <a:ext cx="2984398" cy="431127"/>
            </a:xfrm>
            <a:custGeom>
              <a:avLst/>
              <a:gdLst/>
              <a:ahLst/>
              <a:cxnLst/>
              <a:rect r="r" b="b" t="t" l="l"/>
              <a:pathLst>
                <a:path h="431127" w="2984398">
                  <a:moveTo>
                    <a:pt x="23913" y="0"/>
                  </a:moveTo>
                  <a:lnTo>
                    <a:pt x="2960485" y="0"/>
                  </a:lnTo>
                  <a:cubicBezTo>
                    <a:pt x="2973692" y="0"/>
                    <a:pt x="2984398" y="10706"/>
                    <a:pt x="2984398" y="23913"/>
                  </a:cubicBezTo>
                  <a:lnTo>
                    <a:pt x="2984398" y="407214"/>
                  </a:lnTo>
                  <a:cubicBezTo>
                    <a:pt x="2984398" y="420421"/>
                    <a:pt x="2973692" y="431127"/>
                    <a:pt x="2960485" y="431127"/>
                  </a:cubicBezTo>
                  <a:lnTo>
                    <a:pt x="23913" y="431127"/>
                  </a:lnTo>
                  <a:cubicBezTo>
                    <a:pt x="10706" y="431127"/>
                    <a:pt x="0" y="420421"/>
                    <a:pt x="0" y="407214"/>
                  </a:cubicBezTo>
                  <a:lnTo>
                    <a:pt x="0" y="23913"/>
                  </a:lnTo>
                  <a:cubicBezTo>
                    <a:pt x="0" y="10706"/>
                    <a:pt x="10706" y="0"/>
                    <a:pt x="23913" y="0"/>
                  </a:cubicBezTo>
                  <a:close/>
                </a:path>
              </a:pathLst>
            </a:custGeom>
            <a:solidFill>
              <a:srgbClr val="8E699B"/>
            </a:solidFill>
          </p:spPr>
        </p:sp>
        <p:sp>
          <p:nvSpPr>
            <p:cNvPr name="TextBox 8" id="8"/>
            <p:cNvSpPr txBox="true"/>
            <p:nvPr/>
          </p:nvSpPr>
          <p:spPr>
            <a:xfrm>
              <a:off x="0" y="-38100"/>
              <a:ext cx="2984398" cy="469227"/>
            </a:xfrm>
            <a:prstGeom prst="rect">
              <a:avLst/>
            </a:prstGeom>
          </p:spPr>
          <p:txBody>
            <a:bodyPr anchor="ctr" rtlCol="false" tIns="50800" lIns="50800" bIns="50800" rIns="50800"/>
            <a:lstStyle/>
            <a:p>
              <a:pPr algn="ctr">
                <a:lnSpc>
                  <a:spcPts val="3359"/>
                </a:lnSpc>
              </a:pPr>
            </a:p>
          </p:txBody>
        </p:sp>
      </p:grpSp>
      <p:grpSp>
        <p:nvGrpSpPr>
          <p:cNvPr name="Group 9" id="9"/>
          <p:cNvGrpSpPr/>
          <p:nvPr/>
        </p:nvGrpSpPr>
        <p:grpSpPr>
          <a:xfrm rot="0">
            <a:off x="1402985" y="5871641"/>
            <a:ext cx="10467366" cy="1636935"/>
            <a:chOff x="0" y="0"/>
            <a:chExt cx="2756837" cy="431127"/>
          </a:xfrm>
        </p:grpSpPr>
        <p:sp>
          <p:nvSpPr>
            <p:cNvPr name="Freeform 10" id="10"/>
            <p:cNvSpPr/>
            <p:nvPr/>
          </p:nvSpPr>
          <p:spPr>
            <a:xfrm flipH="false" flipV="false" rot="0">
              <a:off x="0" y="0"/>
              <a:ext cx="2756837" cy="431127"/>
            </a:xfrm>
            <a:custGeom>
              <a:avLst/>
              <a:gdLst/>
              <a:ahLst/>
              <a:cxnLst/>
              <a:rect r="r" b="b" t="t" l="l"/>
              <a:pathLst>
                <a:path h="431127" w="2756837">
                  <a:moveTo>
                    <a:pt x="25887" y="0"/>
                  </a:moveTo>
                  <a:lnTo>
                    <a:pt x="2730950" y="0"/>
                  </a:lnTo>
                  <a:cubicBezTo>
                    <a:pt x="2737816" y="0"/>
                    <a:pt x="2744400" y="2727"/>
                    <a:pt x="2749255" y="7582"/>
                  </a:cubicBezTo>
                  <a:cubicBezTo>
                    <a:pt x="2754110" y="12437"/>
                    <a:pt x="2756837" y="19021"/>
                    <a:pt x="2756837" y="25887"/>
                  </a:cubicBezTo>
                  <a:lnTo>
                    <a:pt x="2756837" y="405240"/>
                  </a:lnTo>
                  <a:cubicBezTo>
                    <a:pt x="2756837" y="412106"/>
                    <a:pt x="2754110" y="418690"/>
                    <a:pt x="2749255" y="423545"/>
                  </a:cubicBezTo>
                  <a:cubicBezTo>
                    <a:pt x="2744400" y="428400"/>
                    <a:pt x="2737816" y="431127"/>
                    <a:pt x="2730950" y="431127"/>
                  </a:cubicBezTo>
                  <a:lnTo>
                    <a:pt x="25887" y="431127"/>
                  </a:lnTo>
                  <a:cubicBezTo>
                    <a:pt x="19021" y="431127"/>
                    <a:pt x="12437" y="428400"/>
                    <a:pt x="7582" y="423545"/>
                  </a:cubicBezTo>
                  <a:cubicBezTo>
                    <a:pt x="2727" y="418690"/>
                    <a:pt x="0" y="412106"/>
                    <a:pt x="0" y="405240"/>
                  </a:cubicBezTo>
                  <a:lnTo>
                    <a:pt x="0" y="25887"/>
                  </a:lnTo>
                  <a:cubicBezTo>
                    <a:pt x="0" y="19021"/>
                    <a:pt x="2727" y="12437"/>
                    <a:pt x="7582" y="7582"/>
                  </a:cubicBezTo>
                  <a:cubicBezTo>
                    <a:pt x="12437" y="2727"/>
                    <a:pt x="19021" y="0"/>
                    <a:pt x="25887" y="0"/>
                  </a:cubicBezTo>
                  <a:close/>
                </a:path>
              </a:pathLst>
            </a:custGeom>
            <a:solidFill>
              <a:srgbClr val="9F8AB0"/>
            </a:solidFill>
          </p:spPr>
        </p:sp>
        <p:sp>
          <p:nvSpPr>
            <p:cNvPr name="TextBox 11" id="11"/>
            <p:cNvSpPr txBox="true"/>
            <p:nvPr/>
          </p:nvSpPr>
          <p:spPr>
            <a:xfrm>
              <a:off x="0" y="-38100"/>
              <a:ext cx="2756837" cy="469227"/>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1402985" y="7722056"/>
            <a:ext cx="8833474" cy="1636935"/>
            <a:chOff x="0" y="0"/>
            <a:chExt cx="2326512" cy="431127"/>
          </a:xfrm>
        </p:grpSpPr>
        <p:sp>
          <p:nvSpPr>
            <p:cNvPr name="Freeform 13" id="13"/>
            <p:cNvSpPr/>
            <p:nvPr/>
          </p:nvSpPr>
          <p:spPr>
            <a:xfrm flipH="false" flipV="false" rot="0">
              <a:off x="0" y="0"/>
              <a:ext cx="2326512" cy="431127"/>
            </a:xfrm>
            <a:custGeom>
              <a:avLst/>
              <a:gdLst/>
              <a:ahLst/>
              <a:cxnLst/>
              <a:rect r="r" b="b" t="t" l="l"/>
              <a:pathLst>
                <a:path h="431127" w="2326512">
                  <a:moveTo>
                    <a:pt x="30675" y="0"/>
                  </a:moveTo>
                  <a:lnTo>
                    <a:pt x="2295837" y="0"/>
                  </a:lnTo>
                  <a:cubicBezTo>
                    <a:pt x="2303972" y="0"/>
                    <a:pt x="2311774" y="3232"/>
                    <a:pt x="2317527" y="8985"/>
                  </a:cubicBezTo>
                  <a:cubicBezTo>
                    <a:pt x="2323280" y="14737"/>
                    <a:pt x="2326512" y="22540"/>
                    <a:pt x="2326512" y="30675"/>
                  </a:cubicBezTo>
                  <a:lnTo>
                    <a:pt x="2326512" y="400452"/>
                  </a:lnTo>
                  <a:cubicBezTo>
                    <a:pt x="2326512" y="408587"/>
                    <a:pt x="2323280" y="416390"/>
                    <a:pt x="2317527" y="422142"/>
                  </a:cubicBezTo>
                  <a:cubicBezTo>
                    <a:pt x="2311774" y="427895"/>
                    <a:pt x="2303972" y="431127"/>
                    <a:pt x="2295837" y="431127"/>
                  </a:cubicBezTo>
                  <a:lnTo>
                    <a:pt x="30675" y="431127"/>
                  </a:lnTo>
                  <a:cubicBezTo>
                    <a:pt x="22540" y="431127"/>
                    <a:pt x="14737" y="427895"/>
                    <a:pt x="8985" y="422142"/>
                  </a:cubicBezTo>
                  <a:cubicBezTo>
                    <a:pt x="3232" y="416390"/>
                    <a:pt x="0" y="408587"/>
                    <a:pt x="0" y="400452"/>
                  </a:cubicBezTo>
                  <a:lnTo>
                    <a:pt x="0" y="30675"/>
                  </a:lnTo>
                  <a:cubicBezTo>
                    <a:pt x="0" y="22540"/>
                    <a:pt x="3232" y="14737"/>
                    <a:pt x="8985" y="8985"/>
                  </a:cubicBezTo>
                  <a:cubicBezTo>
                    <a:pt x="14737" y="3232"/>
                    <a:pt x="22540" y="0"/>
                    <a:pt x="30675" y="0"/>
                  </a:cubicBezTo>
                  <a:close/>
                </a:path>
              </a:pathLst>
            </a:custGeom>
            <a:solidFill>
              <a:srgbClr val="627BA7"/>
            </a:solidFill>
          </p:spPr>
        </p:sp>
        <p:sp>
          <p:nvSpPr>
            <p:cNvPr name="TextBox 14" id="14"/>
            <p:cNvSpPr txBox="true"/>
            <p:nvPr/>
          </p:nvSpPr>
          <p:spPr>
            <a:xfrm>
              <a:off x="0" y="-38100"/>
              <a:ext cx="2326512" cy="469227"/>
            </a:xfrm>
            <a:prstGeom prst="rect">
              <a:avLst/>
            </a:prstGeom>
          </p:spPr>
          <p:txBody>
            <a:bodyPr anchor="ctr" rtlCol="false" tIns="50800" lIns="50800" bIns="50800" rIns="50800"/>
            <a:lstStyle/>
            <a:p>
              <a:pPr algn="ctr">
                <a:lnSpc>
                  <a:spcPts val="3359"/>
                </a:lnSpc>
              </a:pPr>
            </a:p>
          </p:txBody>
        </p:sp>
      </p:grpSp>
      <p:sp>
        <p:nvSpPr>
          <p:cNvPr name="Freeform 15" id="15"/>
          <p:cNvSpPr/>
          <p:nvPr/>
        </p:nvSpPr>
        <p:spPr>
          <a:xfrm flipH="false" flipV="false" rot="0">
            <a:off x="1766591" y="4393619"/>
            <a:ext cx="809625" cy="892149"/>
          </a:xfrm>
          <a:custGeom>
            <a:avLst/>
            <a:gdLst/>
            <a:ahLst/>
            <a:cxnLst/>
            <a:rect r="r" b="b" t="t" l="l"/>
            <a:pathLst>
              <a:path h="892149" w="809625">
                <a:moveTo>
                  <a:pt x="0" y="0"/>
                </a:moveTo>
                <a:lnTo>
                  <a:pt x="809625" y="0"/>
                </a:lnTo>
                <a:lnTo>
                  <a:pt x="809625" y="892149"/>
                </a:lnTo>
                <a:lnTo>
                  <a:pt x="0" y="89214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1766591" y="2571635"/>
            <a:ext cx="857250" cy="841177"/>
          </a:xfrm>
          <a:custGeom>
            <a:avLst/>
            <a:gdLst/>
            <a:ahLst/>
            <a:cxnLst/>
            <a:rect r="r" b="b" t="t" l="l"/>
            <a:pathLst>
              <a:path h="841177" w="857250">
                <a:moveTo>
                  <a:pt x="0" y="0"/>
                </a:moveTo>
                <a:lnTo>
                  <a:pt x="857250" y="0"/>
                </a:lnTo>
                <a:lnTo>
                  <a:pt x="857250" y="841177"/>
                </a:lnTo>
                <a:lnTo>
                  <a:pt x="0" y="8411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718966" y="6278238"/>
            <a:ext cx="857250" cy="857250"/>
          </a:xfrm>
          <a:custGeom>
            <a:avLst/>
            <a:gdLst/>
            <a:ahLst/>
            <a:cxnLst/>
            <a:rect r="r" b="b" t="t" l="l"/>
            <a:pathLst>
              <a:path h="857250" w="857250">
                <a:moveTo>
                  <a:pt x="0" y="0"/>
                </a:moveTo>
                <a:lnTo>
                  <a:pt x="857250" y="0"/>
                </a:lnTo>
                <a:lnTo>
                  <a:pt x="857250" y="857250"/>
                </a:lnTo>
                <a:lnTo>
                  <a:pt x="0" y="8572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742779" y="8127701"/>
            <a:ext cx="857250" cy="829389"/>
          </a:xfrm>
          <a:custGeom>
            <a:avLst/>
            <a:gdLst/>
            <a:ahLst/>
            <a:cxnLst/>
            <a:rect r="r" b="b" t="t" l="l"/>
            <a:pathLst>
              <a:path h="829389" w="857250">
                <a:moveTo>
                  <a:pt x="0" y="0"/>
                </a:moveTo>
                <a:lnTo>
                  <a:pt x="857250" y="0"/>
                </a:lnTo>
                <a:lnTo>
                  <a:pt x="857250" y="829389"/>
                </a:lnTo>
                <a:lnTo>
                  <a:pt x="0" y="8293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1402985" y="942975"/>
            <a:ext cx="9645724" cy="1583055"/>
          </a:xfrm>
          <a:prstGeom prst="rect">
            <a:avLst/>
          </a:prstGeom>
        </p:spPr>
        <p:txBody>
          <a:bodyPr anchor="t" rtlCol="false" tIns="0" lIns="0" bIns="0" rIns="0">
            <a:spAutoFit/>
          </a:bodyPr>
          <a:lstStyle/>
          <a:p>
            <a:pPr algn="l">
              <a:lnSpc>
                <a:spcPts val="5940"/>
              </a:lnSpc>
            </a:pPr>
            <a:r>
              <a:rPr lang="en-US" sz="5400" b="true">
                <a:solidFill>
                  <a:srgbClr val="121113"/>
                </a:solidFill>
                <a:latin typeface="Telegraf Bold"/>
                <a:ea typeface="Telegraf Bold"/>
                <a:cs typeface="Telegraf Bold"/>
                <a:sym typeface="Telegraf Bold"/>
              </a:rPr>
              <a:t>Motivation</a:t>
            </a:r>
          </a:p>
          <a:p>
            <a:pPr algn="l">
              <a:lnSpc>
                <a:spcPts val="5940"/>
              </a:lnSpc>
            </a:pPr>
          </a:p>
        </p:txBody>
      </p:sp>
      <p:sp>
        <p:nvSpPr>
          <p:cNvPr name="TextBox 20" id="20"/>
          <p:cNvSpPr txBox="true"/>
          <p:nvPr/>
        </p:nvSpPr>
        <p:spPr>
          <a:xfrm rot="0">
            <a:off x="2918644" y="2362032"/>
            <a:ext cx="11585584" cy="1284509"/>
          </a:xfrm>
          <a:prstGeom prst="rect">
            <a:avLst/>
          </a:prstGeom>
        </p:spPr>
        <p:txBody>
          <a:bodyPr anchor="t" rtlCol="false" tIns="0" lIns="0" bIns="0" rIns="0">
            <a:spAutoFit/>
          </a:bodyPr>
          <a:lstStyle/>
          <a:p>
            <a:pPr algn="l">
              <a:lnSpc>
                <a:spcPts val="3473"/>
              </a:lnSpc>
            </a:pPr>
            <a:r>
              <a:rPr lang="en-US" sz="2481" b="true">
                <a:solidFill>
                  <a:srgbClr val="FFFFFF"/>
                </a:solidFill>
                <a:latin typeface="Open Sans Bold"/>
                <a:ea typeface="Open Sans Bold"/>
                <a:cs typeface="Open Sans Bold"/>
                <a:sym typeface="Open Sans Bold"/>
              </a:rPr>
              <a:t>Addresses Unexplored Research Gap: Literature review of 30+ papers reveals no existing work on Q&amp;A-driven narrative generation, presenting a novel research opportunity.</a:t>
            </a:r>
          </a:p>
        </p:txBody>
      </p:sp>
      <p:sp>
        <p:nvSpPr>
          <p:cNvPr name="Freeform 21" id="21"/>
          <p:cNvSpPr/>
          <p:nvPr/>
        </p:nvSpPr>
        <p:spPr>
          <a:xfrm flipH="false" flipV="true" rot="7304419">
            <a:off x="4511258" y="10153489"/>
            <a:ext cx="18293405" cy="6059690"/>
          </a:xfrm>
          <a:custGeom>
            <a:avLst/>
            <a:gdLst/>
            <a:ahLst/>
            <a:cxnLst/>
            <a:rect r="r" b="b" t="t" l="l"/>
            <a:pathLst>
              <a:path h="6059690" w="18293405">
                <a:moveTo>
                  <a:pt x="0" y="6059690"/>
                </a:moveTo>
                <a:lnTo>
                  <a:pt x="18293405" y="6059690"/>
                </a:lnTo>
                <a:lnTo>
                  <a:pt x="18293405" y="0"/>
                </a:lnTo>
                <a:lnTo>
                  <a:pt x="0" y="0"/>
                </a:lnTo>
                <a:lnTo>
                  <a:pt x="0" y="6059690"/>
                </a:lnTo>
                <a:close/>
              </a:path>
            </a:pathLst>
          </a:custGeom>
          <a:blipFill>
            <a:blip r:embed="rId11">
              <a:alphaModFix amt="10999"/>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true" rot="-1243366">
            <a:off x="11986614" y="150864"/>
            <a:ext cx="10545372" cy="3493155"/>
          </a:xfrm>
          <a:custGeom>
            <a:avLst/>
            <a:gdLst/>
            <a:ahLst/>
            <a:cxnLst/>
            <a:rect r="r" b="b" t="t" l="l"/>
            <a:pathLst>
              <a:path h="3493155" w="10545372">
                <a:moveTo>
                  <a:pt x="0" y="3493155"/>
                </a:moveTo>
                <a:lnTo>
                  <a:pt x="10545372" y="3493155"/>
                </a:lnTo>
                <a:lnTo>
                  <a:pt x="10545372" y="0"/>
                </a:lnTo>
                <a:lnTo>
                  <a:pt x="0" y="0"/>
                </a:lnTo>
                <a:lnTo>
                  <a:pt x="0" y="3493155"/>
                </a:lnTo>
                <a:close/>
              </a:path>
            </a:pathLst>
          </a:custGeom>
          <a:blipFill>
            <a:blip r:embed="rId11">
              <a:alphaModFix amt="10999"/>
              <a:extLst>
                <a:ext uri="{96DAC541-7B7A-43D3-8B79-37D633B846F1}">
                  <asvg:svgBlip xmlns:asvg="http://schemas.microsoft.com/office/drawing/2016/SVG/main" r:embed="rId12"/>
                </a:ext>
              </a:extLst>
            </a:blip>
            <a:stretch>
              <a:fillRect l="0" t="0" r="0" b="0"/>
            </a:stretch>
          </a:blipFill>
        </p:spPr>
      </p:sp>
      <p:sp>
        <p:nvSpPr>
          <p:cNvPr name="TextBox 23" id="23"/>
          <p:cNvSpPr txBox="true"/>
          <p:nvPr/>
        </p:nvSpPr>
        <p:spPr>
          <a:xfrm rot="0">
            <a:off x="2918644" y="4235017"/>
            <a:ext cx="9550123" cy="1161727"/>
          </a:xfrm>
          <a:prstGeom prst="rect">
            <a:avLst/>
          </a:prstGeom>
        </p:spPr>
        <p:txBody>
          <a:bodyPr anchor="t" rtlCol="false" tIns="0" lIns="0" bIns="0" rIns="0">
            <a:spAutoFit/>
          </a:bodyPr>
          <a:lstStyle/>
          <a:p>
            <a:pPr algn="l">
              <a:lnSpc>
                <a:spcPts val="3129"/>
              </a:lnSpc>
            </a:pPr>
            <a:r>
              <a:rPr lang="en-US" sz="2235" b="true">
                <a:solidFill>
                  <a:srgbClr val="FFFFFF"/>
                </a:solidFill>
                <a:latin typeface="Open Sans Bold"/>
                <a:ea typeface="Open Sans Bold"/>
                <a:cs typeface="Open Sans Bold"/>
                <a:sym typeface="Open Sans Bold"/>
              </a:rPr>
              <a:t>Enables User-Driven Story Creation: Structured questioning framework allows users to actively shape narratives through conversational interaction rather than passive prompting.</a:t>
            </a:r>
          </a:p>
        </p:txBody>
      </p:sp>
      <p:sp>
        <p:nvSpPr>
          <p:cNvPr name="TextBox 24" id="24"/>
          <p:cNvSpPr txBox="true"/>
          <p:nvPr/>
        </p:nvSpPr>
        <p:spPr>
          <a:xfrm rot="0">
            <a:off x="2918644" y="6170546"/>
            <a:ext cx="7598867" cy="1034535"/>
          </a:xfrm>
          <a:prstGeom prst="rect">
            <a:avLst/>
          </a:prstGeom>
        </p:spPr>
        <p:txBody>
          <a:bodyPr anchor="t" rtlCol="false" tIns="0" lIns="0" bIns="0" rIns="0">
            <a:spAutoFit/>
          </a:bodyPr>
          <a:lstStyle/>
          <a:p>
            <a:pPr algn="l">
              <a:lnSpc>
                <a:spcPts val="2798"/>
              </a:lnSpc>
            </a:pPr>
            <a:r>
              <a:rPr lang="en-US" sz="1998" b="true">
                <a:solidFill>
                  <a:srgbClr val="FFFFFF"/>
                </a:solidFill>
                <a:latin typeface="Open Sans Bold"/>
                <a:ea typeface="Open Sans Bold"/>
                <a:cs typeface="Open Sans Bold"/>
                <a:sym typeface="Open Sans Bold"/>
              </a:rPr>
              <a:t>Technical Innovation: Integrates adaptive question generation, context-aware dialogue management, and LLM-based narrative synthesis into unified framework.</a:t>
            </a:r>
          </a:p>
        </p:txBody>
      </p:sp>
      <p:sp>
        <p:nvSpPr>
          <p:cNvPr name="TextBox 25" id="25"/>
          <p:cNvSpPr txBox="true"/>
          <p:nvPr/>
        </p:nvSpPr>
        <p:spPr>
          <a:xfrm rot="0">
            <a:off x="2918644" y="8099126"/>
            <a:ext cx="6512820" cy="898052"/>
          </a:xfrm>
          <a:prstGeom prst="rect">
            <a:avLst/>
          </a:prstGeom>
        </p:spPr>
        <p:txBody>
          <a:bodyPr anchor="t" rtlCol="false" tIns="0" lIns="0" bIns="0" rIns="0">
            <a:spAutoFit/>
          </a:bodyPr>
          <a:lstStyle/>
          <a:p>
            <a:pPr algn="l">
              <a:lnSpc>
                <a:spcPts val="2441"/>
              </a:lnSpc>
            </a:pPr>
            <a:r>
              <a:rPr lang="en-US" sz="1744" b="true">
                <a:solidFill>
                  <a:srgbClr val="FFFFFF"/>
                </a:solidFill>
                <a:latin typeface="Open Sans Bold"/>
                <a:ea typeface="Open Sans Bold"/>
                <a:cs typeface="Open Sans Bold"/>
                <a:sym typeface="Open Sans Bold"/>
              </a:rPr>
              <a:t>Broad Application Potential: Proposed system has applications across education, interactive entertainment, therapeutic storytelling, and content creation domains.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505013" y="1327576"/>
            <a:ext cx="7638987" cy="1952700"/>
          </a:xfrm>
          <a:prstGeom prst="rect">
            <a:avLst/>
          </a:prstGeom>
        </p:spPr>
        <p:txBody>
          <a:bodyPr anchor="t" rtlCol="false" tIns="0" lIns="0" bIns="0" rIns="0">
            <a:spAutoFit/>
          </a:bodyPr>
          <a:lstStyle/>
          <a:p>
            <a:pPr algn="l">
              <a:lnSpc>
                <a:spcPts val="13065"/>
              </a:lnSpc>
            </a:pPr>
            <a:r>
              <a:rPr lang="en-US" b="true" sz="12325" spc="98">
                <a:solidFill>
                  <a:srgbClr val="7D4C84"/>
                </a:solidFill>
                <a:latin typeface="Futura Bold"/>
                <a:ea typeface="Futura Bold"/>
                <a:cs typeface="Futura Bold"/>
                <a:sym typeface="Futura Bold"/>
              </a:rPr>
              <a:t>Conclusion</a:t>
            </a:r>
          </a:p>
        </p:txBody>
      </p:sp>
      <p:sp>
        <p:nvSpPr>
          <p:cNvPr name="TextBox 4" id="4"/>
          <p:cNvSpPr txBox="true"/>
          <p:nvPr/>
        </p:nvSpPr>
        <p:spPr>
          <a:xfrm rot="-5400000">
            <a:off x="12982605" y="4981605"/>
            <a:ext cx="6974252" cy="3636537"/>
          </a:xfrm>
          <a:prstGeom prst="rect">
            <a:avLst/>
          </a:prstGeom>
        </p:spPr>
        <p:txBody>
          <a:bodyPr anchor="t" rtlCol="false" tIns="0" lIns="0" bIns="0" rIns="0">
            <a:spAutoFit/>
          </a:bodyPr>
          <a:lstStyle/>
          <a:p>
            <a:pPr algn="ctr">
              <a:lnSpc>
                <a:spcPts val="12612"/>
              </a:lnSpc>
            </a:pPr>
            <a:r>
              <a:rPr lang="en-US" b="true" sz="14497" spc="2319">
                <a:solidFill>
                  <a:srgbClr val="041226">
                    <a:alpha val="4706"/>
                  </a:srgbClr>
                </a:solidFill>
                <a:latin typeface="Futura Bold"/>
                <a:ea typeface="Futura Bold"/>
                <a:cs typeface="Futura Bold"/>
                <a:sym typeface="Futura Bold"/>
              </a:rPr>
              <a:t>Conclusion</a:t>
            </a:r>
          </a:p>
        </p:txBody>
      </p:sp>
      <p:sp>
        <p:nvSpPr>
          <p:cNvPr name="TextBox 5" id="5"/>
          <p:cNvSpPr txBox="true"/>
          <p:nvPr/>
        </p:nvSpPr>
        <p:spPr>
          <a:xfrm rot="0">
            <a:off x="1505013" y="3441117"/>
            <a:ext cx="12246118" cy="2640781"/>
          </a:xfrm>
          <a:prstGeom prst="rect">
            <a:avLst/>
          </a:prstGeom>
        </p:spPr>
        <p:txBody>
          <a:bodyPr anchor="t" rtlCol="false" tIns="0" lIns="0" bIns="0" rIns="0">
            <a:spAutoFit/>
          </a:bodyPr>
          <a:lstStyle/>
          <a:p>
            <a:pPr algn="just">
              <a:lnSpc>
                <a:spcPts val="2687"/>
              </a:lnSpc>
              <a:spcBef>
                <a:spcPct val="0"/>
              </a:spcBef>
            </a:pPr>
            <a:r>
              <a:rPr lang="en-US" sz="1919">
                <a:solidFill>
                  <a:srgbClr val="4D4D4D"/>
                </a:solidFill>
                <a:latin typeface="Montserrat"/>
                <a:ea typeface="Montserrat"/>
                <a:cs typeface="Montserrat"/>
                <a:sym typeface="Montserrat"/>
              </a:rPr>
              <a:t>This project presents an interactive question-and-answer-based story generation system that uses the capabilities of large language models to create coherent, personalized, and context-rich narratives. By capturing structured user inputs and converting them into meaningful story attributes, the system demonstrates how generative AI can enhance creativity, engagement, and customization in textual storytelling. The proposed framework improves narrative coherence, strengthens personalization, and enables controlled story generation, addressing key limitations found in traditional prompt-based systems. Overall, the work highlights the potential of LLMs to transform user-driven inputs into high-quality stories with improved consistency and relevance.</a:t>
            </a:r>
          </a:p>
        </p:txBody>
      </p:sp>
      <p:sp>
        <p:nvSpPr>
          <p:cNvPr name="Freeform 6" id="6"/>
          <p:cNvSpPr/>
          <p:nvPr/>
        </p:nvSpPr>
        <p:spPr>
          <a:xfrm flipH="false" flipV="true" rot="0">
            <a:off x="16499478" y="1028700"/>
            <a:ext cx="759822" cy="750151"/>
          </a:xfrm>
          <a:custGeom>
            <a:avLst/>
            <a:gdLst/>
            <a:ahLst/>
            <a:cxnLst/>
            <a:rect r="r" b="b" t="t" l="l"/>
            <a:pathLst>
              <a:path h="750151" w="759822">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0">
            <a:off x="1028700" y="8891519"/>
            <a:ext cx="371510" cy="366781"/>
          </a:xfrm>
          <a:custGeom>
            <a:avLst/>
            <a:gdLst/>
            <a:ahLst/>
            <a:cxnLst/>
            <a:rect r="r" b="b" t="t" l="l"/>
            <a:pathLst>
              <a:path h="366781" w="371510">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true" rot="2846557">
            <a:off x="-5634820" y="7879476"/>
            <a:ext cx="18651033" cy="6178155"/>
          </a:xfrm>
          <a:custGeom>
            <a:avLst/>
            <a:gdLst/>
            <a:ahLst/>
            <a:cxnLst/>
            <a:rect r="r" b="b" t="t" l="l"/>
            <a:pathLst>
              <a:path h="6178155" w="18651033">
                <a:moveTo>
                  <a:pt x="0" y="6178155"/>
                </a:moveTo>
                <a:lnTo>
                  <a:pt x="18651032" y="6178155"/>
                </a:lnTo>
                <a:lnTo>
                  <a:pt x="18651032" y="0"/>
                </a:lnTo>
                <a:lnTo>
                  <a:pt x="0" y="0"/>
                </a:lnTo>
                <a:lnTo>
                  <a:pt x="0" y="6178155"/>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true" rot="2846557">
            <a:off x="7173962" y="191198"/>
            <a:ext cx="18651033" cy="6178155"/>
          </a:xfrm>
          <a:custGeom>
            <a:avLst/>
            <a:gdLst/>
            <a:ahLst/>
            <a:cxnLst/>
            <a:rect r="r" b="b" t="t" l="l"/>
            <a:pathLst>
              <a:path h="6178155" w="18651033">
                <a:moveTo>
                  <a:pt x="0" y="6178155"/>
                </a:moveTo>
                <a:lnTo>
                  <a:pt x="18651033" y="6178155"/>
                </a:lnTo>
                <a:lnTo>
                  <a:pt x="18651033" y="0"/>
                </a:lnTo>
                <a:lnTo>
                  <a:pt x="0" y="0"/>
                </a:lnTo>
                <a:lnTo>
                  <a:pt x="0" y="6178155"/>
                </a:lnTo>
                <a:close/>
              </a:path>
            </a:pathLst>
          </a:custGeom>
          <a:blipFill>
            <a:blip r:embed="rId5">
              <a:alphaModFix amt="10999"/>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EFEF"/>
        </a:solidFill>
      </p:bgPr>
    </p:bg>
    <p:spTree>
      <p:nvGrpSpPr>
        <p:cNvPr id="1" name=""/>
        <p:cNvGrpSpPr/>
        <p:nvPr/>
      </p:nvGrpSpPr>
      <p:grpSpPr>
        <a:xfrm>
          <a:off x="0" y="0"/>
          <a:ext cx="0" cy="0"/>
          <a:chOff x="0" y="0"/>
          <a:chExt cx="0" cy="0"/>
        </a:xfrm>
      </p:grpSpPr>
      <p:sp>
        <p:nvSpPr>
          <p:cNvPr name="Freeform 2" id="2"/>
          <p:cNvSpPr/>
          <p:nvPr/>
        </p:nvSpPr>
        <p:spPr>
          <a:xfrm flipH="false" flipV="false" rot="0">
            <a:off x="-3430063" y="1936909"/>
            <a:ext cx="11221859" cy="11221859"/>
          </a:xfrm>
          <a:custGeom>
            <a:avLst/>
            <a:gdLst/>
            <a:ahLst/>
            <a:cxnLst/>
            <a:rect r="r" b="b" t="t" l="l"/>
            <a:pathLst>
              <a:path h="11221859" w="11221859">
                <a:moveTo>
                  <a:pt x="0" y="0"/>
                </a:moveTo>
                <a:lnTo>
                  <a:pt x="11221858" y="0"/>
                </a:lnTo>
                <a:lnTo>
                  <a:pt x="11221858" y="11221858"/>
                </a:lnTo>
                <a:lnTo>
                  <a:pt x="0" y="11221858"/>
                </a:lnTo>
                <a:lnTo>
                  <a:pt x="0" y="0"/>
                </a:lnTo>
                <a:close/>
              </a:path>
            </a:pathLst>
          </a:custGeom>
          <a:blipFill>
            <a:blip r:embed="rId2">
              <a:alphaModFix amt="52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96258" y="-450527"/>
            <a:ext cx="19680517" cy="1704491"/>
            <a:chOff x="0" y="0"/>
            <a:chExt cx="5183346" cy="448919"/>
          </a:xfrm>
        </p:grpSpPr>
        <p:sp>
          <p:nvSpPr>
            <p:cNvPr name="Freeform 4" id="4"/>
            <p:cNvSpPr/>
            <p:nvPr/>
          </p:nvSpPr>
          <p:spPr>
            <a:xfrm flipH="false" flipV="false" rot="0">
              <a:off x="0" y="0"/>
              <a:ext cx="5183346" cy="448919"/>
            </a:xfrm>
            <a:custGeom>
              <a:avLst/>
              <a:gdLst/>
              <a:ahLst/>
              <a:cxnLst/>
              <a:rect r="r" b="b" t="t" l="l"/>
              <a:pathLst>
                <a:path h="448919" w="5183346">
                  <a:moveTo>
                    <a:pt x="0" y="0"/>
                  </a:moveTo>
                  <a:lnTo>
                    <a:pt x="5183346" y="0"/>
                  </a:lnTo>
                  <a:lnTo>
                    <a:pt x="5183346" y="448919"/>
                  </a:lnTo>
                  <a:lnTo>
                    <a:pt x="0" y="448919"/>
                  </a:lnTo>
                  <a:close/>
                </a:path>
              </a:pathLst>
            </a:custGeom>
            <a:solidFill>
              <a:srgbClr val="7D4C84"/>
            </a:solidFill>
          </p:spPr>
        </p:sp>
        <p:sp>
          <p:nvSpPr>
            <p:cNvPr name="TextBox 5" id="5"/>
            <p:cNvSpPr txBox="true"/>
            <p:nvPr/>
          </p:nvSpPr>
          <p:spPr>
            <a:xfrm>
              <a:off x="0" y="-57150"/>
              <a:ext cx="5183346" cy="506069"/>
            </a:xfrm>
            <a:prstGeom prst="rect">
              <a:avLst/>
            </a:prstGeom>
          </p:spPr>
          <p:txBody>
            <a:bodyPr anchor="ctr" rtlCol="false" tIns="50800" lIns="50800" bIns="50800" rIns="50800"/>
            <a:lstStyle/>
            <a:p>
              <a:pPr algn="ctr">
                <a:lnSpc>
                  <a:spcPts val="3639"/>
                </a:lnSpc>
              </a:pPr>
            </a:p>
          </p:txBody>
        </p:sp>
      </p:grpSp>
      <p:sp>
        <p:nvSpPr>
          <p:cNvPr name="TextBox 6" id="6"/>
          <p:cNvSpPr txBox="true"/>
          <p:nvPr/>
        </p:nvSpPr>
        <p:spPr>
          <a:xfrm rot="0">
            <a:off x="6660790" y="2862623"/>
            <a:ext cx="10598510" cy="2084673"/>
          </a:xfrm>
          <a:prstGeom prst="rect">
            <a:avLst/>
          </a:prstGeom>
        </p:spPr>
        <p:txBody>
          <a:bodyPr anchor="t" rtlCol="false" tIns="0" lIns="0" bIns="0" rIns="0">
            <a:spAutoFit/>
          </a:bodyPr>
          <a:lstStyle/>
          <a:p>
            <a:pPr algn="r">
              <a:lnSpc>
                <a:spcPts val="15418"/>
              </a:lnSpc>
            </a:pPr>
            <a:r>
              <a:rPr lang="en-US" b="true" sz="16402" spc="-803">
                <a:solidFill>
                  <a:srgbClr val="343434"/>
                </a:solidFill>
                <a:latin typeface="TT Hoves Bold"/>
                <a:ea typeface="TT Hoves Bold"/>
                <a:cs typeface="TT Hoves Bold"/>
                <a:sym typeface="TT Hoves Bold"/>
              </a:rPr>
              <a:t>Thank You</a:t>
            </a:r>
          </a:p>
        </p:txBody>
      </p:sp>
      <p:grpSp>
        <p:nvGrpSpPr>
          <p:cNvPr name="Group 7" id="7"/>
          <p:cNvGrpSpPr/>
          <p:nvPr/>
        </p:nvGrpSpPr>
        <p:grpSpPr>
          <a:xfrm rot="0">
            <a:off x="12617823" y="4947296"/>
            <a:ext cx="4641477" cy="1015029"/>
            <a:chOff x="0" y="0"/>
            <a:chExt cx="1222447" cy="267333"/>
          </a:xfrm>
        </p:grpSpPr>
        <p:sp>
          <p:nvSpPr>
            <p:cNvPr name="Freeform 8" id="8"/>
            <p:cNvSpPr/>
            <p:nvPr/>
          </p:nvSpPr>
          <p:spPr>
            <a:xfrm flipH="false" flipV="false" rot="0">
              <a:off x="0" y="0"/>
              <a:ext cx="1222447" cy="267333"/>
            </a:xfrm>
            <a:custGeom>
              <a:avLst/>
              <a:gdLst/>
              <a:ahLst/>
              <a:cxnLst/>
              <a:rect r="r" b="b" t="t" l="l"/>
              <a:pathLst>
                <a:path h="267333" w="1222447">
                  <a:moveTo>
                    <a:pt x="133666" y="0"/>
                  </a:moveTo>
                  <a:lnTo>
                    <a:pt x="1088780" y="0"/>
                  </a:lnTo>
                  <a:cubicBezTo>
                    <a:pt x="1124231" y="0"/>
                    <a:pt x="1158229" y="14083"/>
                    <a:pt x="1183297" y="39150"/>
                  </a:cubicBezTo>
                  <a:cubicBezTo>
                    <a:pt x="1208364" y="64217"/>
                    <a:pt x="1222447" y="98216"/>
                    <a:pt x="1222447" y="133666"/>
                  </a:cubicBezTo>
                  <a:lnTo>
                    <a:pt x="1222447" y="133666"/>
                  </a:lnTo>
                  <a:cubicBezTo>
                    <a:pt x="1222447" y="169117"/>
                    <a:pt x="1208364" y="203115"/>
                    <a:pt x="1183297" y="228183"/>
                  </a:cubicBezTo>
                  <a:cubicBezTo>
                    <a:pt x="1158229" y="253250"/>
                    <a:pt x="1124231" y="267333"/>
                    <a:pt x="1088780" y="267333"/>
                  </a:cubicBezTo>
                  <a:lnTo>
                    <a:pt x="133666" y="267333"/>
                  </a:lnTo>
                  <a:cubicBezTo>
                    <a:pt x="98216" y="267333"/>
                    <a:pt x="64217" y="253250"/>
                    <a:pt x="39150" y="228183"/>
                  </a:cubicBezTo>
                  <a:cubicBezTo>
                    <a:pt x="14083" y="203115"/>
                    <a:pt x="0" y="169117"/>
                    <a:pt x="0" y="133666"/>
                  </a:cubicBezTo>
                  <a:lnTo>
                    <a:pt x="0" y="133666"/>
                  </a:lnTo>
                  <a:cubicBezTo>
                    <a:pt x="0" y="98216"/>
                    <a:pt x="14083" y="64217"/>
                    <a:pt x="39150" y="39150"/>
                  </a:cubicBezTo>
                  <a:cubicBezTo>
                    <a:pt x="64217" y="14083"/>
                    <a:pt x="98216" y="0"/>
                    <a:pt x="133666" y="0"/>
                  </a:cubicBezTo>
                  <a:close/>
                </a:path>
              </a:pathLst>
            </a:custGeom>
            <a:solidFill>
              <a:srgbClr val="FFFFFF"/>
            </a:solidFill>
            <a:ln w="19050" cap="rnd">
              <a:solidFill>
                <a:srgbClr val="7D4C84"/>
              </a:solidFill>
              <a:prstDash val="solid"/>
              <a:round/>
            </a:ln>
          </p:spPr>
        </p:sp>
        <p:sp>
          <p:nvSpPr>
            <p:cNvPr name="TextBox 9" id="9"/>
            <p:cNvSpPr txBox="true"/>
            <p:nvPr/>
          </p:nvSpPr>
          <p:spPr>
            <a:xfrm>
              <a:off x="0" y="-66675"/>
              <a:ext cx="1222447" cy="334008"/>
            </a:xfrm>
            <a:prstGeom prst="rect">
              <a:avLst/>
            </a:prstGeom>
          </p:spPr>
          <p:txBody>
            <a:bodyPr anchor="ctr" rtlCol="false" tIns="50800" lIns="50800" bIns="50800" rIns="50800"/>
            <a:lstStyle/>
            <a:p>
              <a:pPr algn="ctr">
                <a:lnSpc>
                  <a:spcPts val="4059"/>
                </a:lnSpc>
              </a:pPr>
              <a:r>
                <a:rPr lang="en-US" b="true" sz="2899">
                  <a:solidFill>
                    <a:srgbClr val="464646"/>
                  </a:solidFill>
                  <a:latin typeface="Open Sauce Bold"/>
                  <a:ea typeface="Open Sauce Bold"/>
                  <a:cs typeface="Open Sauce Bold"/>
                  <a:sym typeface="Open Sauce Bold"/>
                </a:rPr>
                <a:t>Anjali Madan Jha</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sp>
        <p:nvSpPr>
          <p:cNvPr name="Freeform 2" id="2"/>
          <p:cNvSpPr/>
          <p:nvPr/>
        </p:nvSpPr>
        <p:spPr>
          <a:xfrm flipH="false" flipV="false" rot="0">
            <a:off x="3528807" y="3704306"/>
            <a:ext cx="10440475" cy="1312603"/>
          </a:xfrm>
          <a:custGeom>
            <a:avLst/>
            <a:gdLst/>
            <a:ahLst/>
            <a:cxnLst/>
            <a:rect r="r" b="b" t="t" l="l"/>
            <a:pathLst>
              <a:path h="1312603" w="10440475">
                <a:moveTo>
                  <a:pt x="0" y="0"/>
                </a:moveTo>
                <a:lnTo>
                  <a:pt x="10440475" y="0"/>
                </a:lnTo>
                <a:lnTo>
                  <a:pt x="10440475" y="1312603"/>
                </a:lnTo>
                <a:lnTo>
                  <a:pt x="0" y="1312603"/>
                </a:lnTo>
                <a:lnTo>
                  <a:pt x="0" y="0"/>
                </a:lnTo>
                <a:close/>
              </a:path>
            </a:pathLst>
          </a:custGeom>
          <a:blipFill>
            <a:blip r:embed="rId2"/>
            <a:stretch>
              <a:fillRect l="0" t="0" r="0" b="-347745"/>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DAG6ooCfdlo</dc:identifier>
  <dcterms:modified xsi:type="dcterms:W3CDTF">2011-08-01T06:04:30Z</dcterms:modified>
  <cp:revision>1</cp:revision>
  <dc:title>Anjali Madan</dc:title>
</cp:coreProperties>
</file>